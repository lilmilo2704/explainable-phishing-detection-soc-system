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4"/>
  </p:sldMasterIdLst>
  <p:notesMasterIdLst>
    <p:notesMasterId r:id="rId35"/>
  </p:notesMasterIdLst>
  <p:sldIdLst>
    <p:sldId id="256" r:id="rId5"/>
    <p:sldId id="297" r:id="rId6"/>
    <p:sldId id="302" r:id="rId7"/>
    <p:sldId id="257" r:id="rId8"/>
    <p:sldId id="299" r:id="rId9"/>
    <p:sldId id="301" r:id="rId10"/>
    <p:sldId id="300" r:id="rId11"/>
    <p:sldId id="261" r:id="rId12"/>
    <p:sldId id="304" r:id="rId13"/>
    <p:sldId id="303" r:id="rId14"/>
    <p:sldId id="305" r:id="rId15"/>
    <p:sldId id="308" r:id="rId16"/>
    <p:sldId id="307" r:id="rId17"/>
    <p:sldId id="265" r:id="rId18"/>
    <p:sldId id="309" r:id="rId19"/>
    <p:sldId id="270" r:id="rId20"/>
    <p:sldId id="318" r:id="rId21"/>
    <p:sldId id="319" r:id="rId22"/>
    <p:sldId id="321" r:id="rId23"/>
    <p:sldId id="322" r:id="rId24"/>
    <p:sldId id="323" r:id="rId25"/>
    <p:sldId id="306" r:id="rId26"/>
    <p:sldId id="312" r:id="rId27"/>
    <p:sldId id="311" r:id="rId28"/>
    <p:sldId id="314" r:id="rId29"/>
    <p:sldId id="315" r:id="rId30"/>
    <p:sldId id="317" r:id="rId31"/>
    <p:sldId id="316" r:id="rId32"/>
    <p:sldId id="320" r:id="rId33"/>
    <p:sldId id="275" r:id="rId34"/>
  </p:sldIdLst>
  <p:sldSz cx="9144000" cy="5143500" type="screen16x9"/>
  <p:notesSz cx="6858000" cy="9144000"/>
  <p:embeddedFontLst>
    <p:embeddedFont>
      <p:font typeface="Anaheim" panose="020B0604020202020204" charset="0"/>
      <p:regular r:id="rId36"/>
      <p:bold r:id="rId37"/>
    </p:embeddedFont>
    <p:embeddedFont>
      <p:font typeface="Hanken Grotesk" panose="020B0604020202020204" charset="0"/>
      <p:regular r:id="rId38"/>
      <p:bold r:id="rId39"/>
      <p:italic r:id="rId40"/>
      <p:boldItalic r:id="rId41"/>
    </p:embeddedFont>
    <p:embeddedFont>
      <p:font typeface="Raleway Black" pitchFamily="2" charset="0"/>
      <p:bold r:id="rId42"/>
      <p:boldItalic r:id="rId43"/>
    </p:embeddedFont>
    <p:embeddedFont>
      <p:font typeface="Raleway ExtraBold" pitchFamily="2" charset="0"/>
      <p:bold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D01172-A512-BFBE-F400-50B40D1F9338}" v="2" dt="2026-03-11T03:59:19.651"/>
  </p1510:revLst>
</p1510:revInfo>
</file>

<file path=ppt/tableStyles.xml><?xml version="1.0" encoding="utf-8"?>
<a:tblStyleLst xmlns:a="http://schemas.openxmlformats.org/drawingml/2006/main" def="{277C646A-9E43-4021-A620-957DBF18076D}">
  <a:tblStyle styleId="{277C646A-9E43-4021-A620-957DBF18076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AF44C74-6847-4FBE-B185-C6BFBAF9DA1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7.fntdata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1.fntdata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3.fntdata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0CAAEA-AF57-4464-A931-0CAAA2FEDF2E}" type="doc">
      <dgm:prSet loTypeId="urn:microsoft.com/office/officeart/2005/8/layout/hList1" loCatId="list" qsTypeId="urn:microsoft.com/office/officeart/2005/8/quickstyle/3d4" qsCatId="3D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E866C1C7-1309-4072-8140-97EA8AB34656}">
      <dgm:prSet/>
      <dgm:spPr/>
      <dgm:t>
        <a:bodyPr/>
        <a:lstStyle/>
        <a:p>
          <a:r>
            <a:rPr lang="en-US" b="1" i="1"/>
            <a:t>Size</a:t>
          </a:r>
          <a:endParaRPr lang="en-US"/>
        </a:p>
      </dgm:t>
    </dgm:pt>
    <dgm:pt modelId="{9DCEB985-9F0C-44CB-ADE0-A5F9983B0682}" type="parTrans" cxnId="{10748B1A-64B8-408F-98E8-328C9735670D}">
      <dgm:prSet/>
      <dgm:spPr/>
      <dgm:t>
        <a:bodyPr/>
        <a:lstStyle/>
        <a:p>
          <a:endParaRPr lang="en-US"/>
        </a:p>
      </dgm:t>
    </dgm:pt>
    <dgm:pt modelId="{41A96342-D0E3-4830-8D5F-978FC96287A2}" type="sibTrans" cxnId="{10748B1A-64B8-408F-98E8-328C9735670D}">
      <dgm:prSet/>
      <dgm:spPr/>
      <dgm:t>
        <a:bodyPr/>
        <a:lstStyle/>
        <a:p>
          <a:endParaRPr lang="en-US"/>
        </a:p>
      </dgm:t>
    </dgm:pt>
    <dgm:pt modelId="{D9D2762B-754D-4F12-A58F-3A48EBB6D1FA}">
      <dgm:prSet/>
      <dgm:spPr/>
      <dgm:t>
        <a:bodyPr/>
        <a:lstStyle/>
        <a:p>
          <a:r>
            <a:rPr lang="en-US" b="1" i="1"/>
            <a:t>Balanced distribution</a:t>
          </a:r>
          <a:endParaRPr lang="en-US"/>
        </a:p>
      </dgm:t>
    </dgm:pt>
    <dgm:pt modelId="{38FCA547-1B87-4A48-BBBD-90965F99EDA9}" type="parTrans" cxnId="{CA2185EF-97F1-42E4-9926-56DE5FD9C069}">
      <dgm:prSet/>
      <dgm:spPr/>
      <dgm:t>
        <a:bodyPr/>
        <a:lstStyle/>
        <a:p>
          <a:endParaRPr lang="en-US"/>
        </a:p>
      </dgm:t>
    </dgm:pt>
    <dgm:pt modelId="{739FB733-E7BE-4014-9DFA-FF611796A981}" type="sibTrans" cxnId="{CA2185EF-97F1-42E4-9926-56DE5FD9C069}">
      <dgm:prSet/>
      <dgm:spPr/>
      <dgm:t>
        <a:bodyPr/>
        <a:lstStyle/>
        <a:p>
          <a:endParaRPr lang="en-US"/>
        </a:p>
      </dgm:t>
    </dgm:pt>
    <dgm:pt modelId="{D4E67AE4-BFD9-433F-91E6-CA26BCC9ACF7}">
      <dgm:prSet/>
      <dgm:spPr/>
      <dgm:t>
        <a:bodyPr/>
        <a:lstStyle/>
        <a:p>
          <a:r>
            <a:rPr lang="en-US" b="1" i="1"/>
            <a:t>Phishing</a:t>
          </a:r>
          <a:endParaRPr lang="en-US"/>
        </a:p>
      </dgm:t>
    </dgm:pt>
    <dgm:pt modelId="{791A7F3E-B911-4C7F-A9C0-43C3CBA2D67C}" type="parTrans" cxnId="{9FE6EAF2-48A7-46F9-8BE1-952F70E65F83}">
      <dgm:prSet/>
      <dgm:spPr/>
      <dgm:t>
        <a:bodyPr/>
        <a:lstStyle/>
        <a:p>
          <a:endParaRPr lang="en-US"/>
        </a:p>
      </dgm:t>
    </dgm:pt>
    <dgm:pt modelId="{405F55F2-FC33-4427-87A6-5F0E9A5D6A5E}" type="sibTrans" cxnId="{9FE6EAF2-48A7-46F9-8BE1-952F70E65F83}">
      <dgm:prSet/>
      <dgm:spPr/>
      <dgm:t>
        <a:bodyPr/>
        <a:lstStyle/>
        <a:p>
          <a:endParaRPr lang="en-US"/>
        </a:p>
      </dgm:t>
    </dgm:pt>
    <dgm:pt modelId="{DF9BDE64-45A3-4AE9-B6B7-E0E265B409EB}">
      <dgm:prSet/>
      <dgm:spPr/>
      <dgm:t>
        <a:bodyPr/>
        <a:lstStyle/>
        <a:p>
          <a:r>
            <a:rPr lang="en-US" b="1" i="1"/>
            <a:t>Type of dataset</a:t>
          </a:r>
          <a:endParaRPr lang="en-US"/>
        </a:p>
      </dgm:t>
    </dgm:pt>
    <dgm:pt modelId="{901EB617-6AEE-41A0-917C-D9FEC32E3F43}" type="parTrans" cxnId="{E921C41B-2FF6-4FB3-B968-30AF7260AB23}">
      <dgm:prSet/>
      <dgm:spPr/>
      <dgm:t>
        <a:bodyPr/>
        <a:lstStyle/>
        <a:p>
          <a:endParaRPr lang="en-US"/>
        </a:p>
      </dgm:t>
    </dgm:pt>
    <dgm:pt modelId="{4807CB39-F82A-4F11-8558-12F033CC1284}" type="sibTrans" cxnId="{E921C41B-2FF6-4FB3-B968-30AF7260AB23}">
      <dgm:prSet/>
      <dgm:spPr/>
      <dgm:t>
        <a:bodyPr/>
        <a:lstStyle/>
        <a:p>
          <a:endParaRPr lang="en-US"/>
        </a:p>
      </dgm:t>
    </dgm:pt>
    <dgm:pt modelId="{93F72FCA-B27B-44B6-BF31-86497B3CEDFD}">
      <dgm:prSet/>
      <dgm:spPr/>
      <dgm:t>
        <a:bodyPr/>
        <a:lstStyle/>
        <a:p>
          <a:r>
            <a:rPr lang="en-US" b="1" i="1"/>
            <a:t>Focus</a:t>
          </a:r>
          <a:endParaRPr lang="en-US"/>
        </a:p>
      </dgm:t>
    </dgm:pt>
    <dgm:pt modelId="{BF2602B8-8EC4-483F-8AAD-FBFC395181F2}" type="parTrans" cxnId="{21EFCA3B-1797-4577-A1AA-739DFA103D7E}">
      <dgm:prSet/>
      <dgm:spPr/>
      <dgm:t>
        <a:bodyPr/>
        <a:lstStyle/>
        <a:p>
          <a:endParaRPr lang="en-US"/>
        </a:p>
      </dgm:t>
    </dgm:pt>
    <dgm:pt modelId="{FB17E593-3F77-4F8F-B0E5-9264B1C3EE08}" type="sibTrans" cxnId="{21EFCA3B-1797-4577-A1AA-739DFA103D7E}">
      <dgm:prSet/>
      <dgm:spPr/>
      <dgm:t>
        <a:bodyPr/>
        <a:lstStyle/>
        <a:p>
          <a:endParaRPr lang="en-US"/>
        </a:p>
      </dgm:t>
    </dgm:pt>
    <dgm:pt modelId="{EEDEEF79-5BCB-4B77-A49B-722D142C1248}">
      <dgm:prSet/>
      <dgm:spPr/>
      <dgm:t>
        <a:bodyPr/>
        <a:lstStyle/>
        <a:p>
          <a:pPr algn="ctr">
            <a:buNone/>
          </a:pPr>
          <a:r>
            <a:rPr lang="en-US" b="1"/>
            <a:t>40,000 – 80,000</a:t>
          </a:r>
        </a:p>
      </dgm:t>
    </dgm:pt>
    <dgm:pt modelId="{DF425413-6E41-4C62-9439-898F6114E157}" type="parTrans" cxnId="{D4A06F9D-A628-4F8A-8A19-4D97C69BC39D}">
      <dgm:prSet/>
      <dgm:spPr/>
      <dgm:t>
        <a:bodyPr/>
        <a:lstStyle/>
        <a:p>
          <a:endParaRPr lang="en-US"/>
        </a:p>
      </dgm:t>
    </dgm:pt>
    <dgm:pt modelId="{CE7DEA13-4BDF-48BB-9084-6EA259EA8211}" type="sibTrans" cxnId="{D4A06F9D-A628-4F8A-8A19-4D97C69BC39D}">
      <dgm:prSet/>
      <dgm:spPr/>
      <dgm:t>
        <a:bodyPr/>
        <a:lstStyle/>
        <a:p>
          <a:endParaRPr lang="en-US"/>
        </a:p>
      </dgm:t>
    </dgm:pt>
    <dgm:pt modelId="{06ABB917-16C6-4646-9315-9EB814906D9F}">
      <dgm:prSet/>
      <dgm:spPr/>
      <dgm:t>
        <a:bodyPr/>
        <a:lstStyle/>
        <a:p>
          <a:pPr algn="ctr">
            <a:buNone/>
          </a:pPr>
          <a:r>
            <a:rPr lang="en-US" b="1" i="1"/>
            <a:t>Cross -sectional</a:t>
          </a:r>
          <a:endParaRPr lang="en-US"/>
        </a:p>
      </dgm:t>
    </dgm:pt>
    <dgm:pt modelId="{A63B86EF-FA5C-42E2-8ED6-492F914A8D5D}" type="parTrans" cxnId="{1D7662F9-D1D2-435D-A340-361BCAAA9187}">
      <dgm:prSet/>
      <dgm:spPr/>
      <dgm:t>
        <a:bodyPr/>
        <a:lstStyle/>
        <a:p>
          <a:endParaRPr lang="en-US"/>
        </a:p>
      </dgm:t>
    </dgm:pt>
    <dgm:pt modelId="{CBA210BC-1EE1-4E9F-A428-C4CBDAA3EAE3}" type="sibTrans" cxnId="{1D7662F9-D1D2-435D-A340-361BCAAA9187}">
      <dgm:prSet/>
      <dgm:spPr/>
      <dgm:t>
        <a:bodyPr/>
        <a:lstStyle/>
        <a:p>
          <a:endParaRPr lang="en-US"/>
        </a:p>
      </dgm:t>
    </dgm:pt>
    <dgm:pt modelId="{765A34B2-B63C-4962-8466-D81F16AAE455}">
      <dgm:prSet/>
      <dgm:spPr/>
      <dgm:t>
        <a:bodyPr/>
        <a:lstStyle/>
        <a:p>
          <a:pPr algn="ctr">
            <a:buNone/>
          </a:pPr>
          <a:r>
            <a:rPr lang="en-US" b="1" i="1"/>
            <a:t>Email classification</a:t>
          </a:r>
          <a:endParaRPr lang="en-US"/>
        </a:p>
      </dgm:t>
    </dgm:pt>
    <dgm:pt modelId="{B3096B55-5C13-4012-AEB9-70D37C364807}" type="parTrans" cxnId="{8AE9FB61-EA46-4289-976F-BAC92FB183E9}">
      <dgm:prSet/>
      <dgm:spPr/>
      <dgm:t>
        <a:bodyPr/>
        <a:lstStyle/>
        <a:p>
          <a:endParaRPr lang="en-US"/>
        </a:p>
      </dgm:t>
    </dgm:pt>
    <dgm:pt modelId="{9615E1E0-FC46-4554-BA95-1CB9885E27E5}" type="sibTrans" cxnId="{8AE9FB61-EA46-4289-976F-BAC92FB183E9}">
      <dgm:prSet/>
      <dgm:spPr/>
      <dgm:t>
        <a:bodyPr/>
        <a:lstStyle/>
        <a:p>
          <a:endParaRPr lang="en-US"/>
        </a:p>
      </dgm:t>
    </dgm:pt>
    <dgm:pt modelId="{DEF06ADF-99A5-412F-98EF-07B50508A1DC}">
      <dgm:prSet/>
      <dgm:spPr/>
      <dgm:t>
        <a:bodyPr/>
        <a:lstStyle/>
        <a:p>
          <a:r>
            <a:rPr lang="en-US" b="1" i="1"/>
            <a:t>Legitimate</a:t>
          </a:r>
          <a:endParaRPr lang="en-US"/>
        </a:p>
      </dgm:t>
    </dgm:pt>
    <dgm:pt modelId="{9CB0A08D-F586-4886-AEC2-16DB66FC4218}" type="parTrans" cxnId="{AA6C48FD-F4C0-41D9-87CF-4CEC7D3DC0D6}">
      <dgm:prSet/>
      <dgm:spPr/>
      <dgm:t>
        <a:bodyPr/>
        <a:lstStyle/>
        <a:p>
          <a:endParaRPr lang="en-US"/>
        </a:p>
      </dgm:t>
    </dgm:pt>
    <dgm:pt modelId="{0EDAC2F8-BF3D-40AD-A280-D7093BB9C5B5}" type="sibTrans" cxnId="{AA6C48FD-F4C0-41D9-87CF-4CEC7D3DC0D6}">
      <dgm:prSet/>
      <dgm:spPr/>
      <dgm:t>
        <a:bodyPr/>
        <a:lstStyle/>
        <a:p>
          <a:endParaRPr lang="en-US"/>
        </a:p>
      </dgm:t>
    </dgm:pt>
    <dgm:pt modelId="{5DF41760-691A-4703-B5C1-35FC38D5F8E7}" type="pres">
      <dgm:prSet presAssocID="{A10CAAEA-AF57-4464-A931-0CAAA2FEDF2E}" presName="Name0" presStyleCnt="0">
        <dgm:presLayoutVars>
          <dgm:dir/>
          <dgm:animLvl val="lvl"/>
          <dgm:resizeHandles val="exact"/>
        </dgm:presLayoutVars>
      </dgm:prSet>
      <dgm:spPr/>
    </dgm:pt>
    <dgm:pt modelId="{72DAB19A-F43E-4342-80C5-C8B311541356}" type="pres">
      <dgm:prSet presAssocID="{E866C1C7-1309-4072-8140-97EA8AB34656}" presName="composite" presStyleCnt="0"/>
      <dgm:spPr/>
    </dgm:pt>
    <dgm:pt modelId="{EA919C62-45F1-4DC9-8D3D-E4574B98F1A0}" type="pres">
      <dgm:prSet presAssocID="{E866C1C7-1309-4072-8140-97EA8AB34656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9C137590-ED89-4270-813F-41AD72AFCC61}" type="pres">
      <dgm:prSet presAssocID="{E866C1C7-1309-4072-8140-97EA8AB34656}" presName="desTx" presStyleLbl="alignAccFollowNode1" presStyleIdx="0" presStyleCnt="4">
        <dgm:presLayoutVars>
          <dgm:bulletEnabled val="1"/>
        </dgm:presLayoutVars>
      </dgm:prSet>
      <dgm:spPr/>
    </dgm:pt>
    <dgm:pt modelId="{442B0D3D-F114-40E5-A26D-991A9732475E}" type="pres">
      <dgm:prSet presAssocID="{41A96342-D0E3-4830-8D5F-978FC96287A2}" presName="space" presStyleCnt="0"/>
      <dgm:spPr/>
    </dgm:pt>
    <dgm:pt modelId="{E63B7BA3-D63D-438F-9807-D1DD23512A29}" type="pres">
      <dgm:prSet presAssocID="{D9D2762B-754D-4F12-A58F-3A48EBB6D1FA}" presName="composite" presStyleCnt="0"/>
      <dgm:spPr/>
    </dgm:pt>
    <dgm:pt modelId="{9DCEA0A4-D0F5-467A-97B3-9A81C7E548AB}" type="pres">
      <dgm:prSet presAssocID="{D9D2762B-754D-4F12-A58F-3A48EBB6D1FA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E888F736-FBDA-4823-B51C-0C2D41AE491C}" type="pres">
      <dgm:prSet presAssocID="{D9D2762B-754D-4F12-A58F-3A48EBB6D1FA}" presName="desTx" presStyleLbl="alignAccFollowNode1" presStyleIdx="1" presStyleCnt="4">
        <dgm:presLayoutVars>
          <dgm:bulletEnabled val="1"/>
        </dgm:presLayoutVars>
      </dgm:prSet>
      <dgm:spPr/>
    </dgm:pt>
    <dgm:pt modelId="{53298E35-C462-4F4C-890C-7D344FF2D1E8}" type="pres">
      <dgm:prSet presAssocID="{739FB733-E7BE-4014-9DFA-FF611796A981}" presName="space" presStyleCnt="0"/>
      <dgm:spPr/>
    </dgm:pt>
    <dgm:pt modelId="{5F4EC9B4-8660-4D7C-AD67-D3E795388514}" type="pres">
      <dgm:prSet presAssocID="{DF9BDE64-45A3-4AE9-B6B7-E0E265B409EB}" presName="composite" presStyleCnt="0"/>
      <dgm:spPr/>
    </dgm:pt>
    <dgm:pt modelId="{F4F825FF-1904-4494-8D01-DF01EBC504D6}" type="pres">
      <dgm:prSet presAssocID="{DF9BDE64-45A3-4AE9-B6B7-E0E265B409EB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97F23FE6-46A4-4A2B-A504-82DA9C95B321}" type="pres">
      <dgm:prSet presAssocID="{DF9BDE64-45A3-4AE9-B6B7-E0E265B409EB}" presName="desTx" presStyleLbl="alignAccFollowNode1" presStyleIdx="2" presStyleCnt="4">
        <dgm:presLayoutVars>
          <dgm:bulletEnabled val="1"/>
        </dgm:presLayoutVars>
      </dgm:prSet>
      <dgm:spPr/>
    </dgm:pt>
    <dgm:pt modelId="{C44978F7-CA3F-4706-97CD-6FAC9561DC10}" type="pres">
      <dgm:prSet presAssocID="{4807CB39-F82A-4F11-8558-12F033CC1284}" presName="space" presStyleCnt="0"/>
      <dgm:spPr/>
    </dgm:pt>
    <dgm:pt modelId="{43947FA8-0471-42F6-97AC-23C4C509A2A4}" type="pres">
      <dgm:prSet presAssocID="{93F72FCA-B27B-44B6-BF31-86497B3CEDFD}" presName="composite" presStyleCnt="0"/>
      <dgm:spPr/>
    </dgm:pt>
    <dgm:pt modelId="{D33D0125-16EF-40FB-BBBC-CD858C127C3B}" type="pres">
      <dgm:prSet presAssocID="{93F72FCA-B27B-44B6-BF31-86497B3CEDFD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2F021238-6CA9-4B41-A042-C013D1F3B9F6}" type="pres">
      <dgm:prSet presAssocID="{93F72FCA-B27B-44B6-BF31-86497B3CEDFD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A5BB1E0F-0BBE-4733-AFF7-DA0B2EEACE68}" type="presOf" srcId="{A10CAAEA-AF57-4464-A931-0CAAA2FEDF2E}" destId="{5DF41760-691A-4703-B5C1-35FC38D5F8E7}" srcOrd="0" destOrd="0" presId="urn:microsoft.com/office/officeart/2005/8/layout/hList1"/>
    <dgm:cxn modelId="{829ED616-6BFF-433B-8A96-439756A98F21}" type="presOf" srcId="{D4E67AE4-BFD9-433F-91E6-CA26BCC9ACF7}" destId="{E888F736-FBDA-4823-B51C-0C2D41AE491C}" srcOrd="0" destOrd="0" presId="urn:microsoft.com/office/officeart/2005/8/layout/hList1"/>
    <dgm:cxn modelId="{10748B1A-64B8-408F-98E8-328C9735670D}" srcId="{A10CAAEA-AF57-4464-A931-0CAAA2FEDF2E}" destId="{E866C1C7-1309-4072-8140-97EA8AB34656}" srcOrd="0" destOrd="0" parTransId="{9DCEB985-9F0C-44CB-ADE0-A5F9983B0682}" sibTransId="{41A96342-D0E3-4830-8D5F-978FC96287A2}"/>
    <dgm:cxn modelId="{E921C41B-2FF6-4FB3-B968-30AF7260AB23}" srcId="{A10CAAEA-AF57-4464-A931-0CAAA2FEDF2E}" destId="{DF9BDE64-45A3-4AE9-B6B7-E0E265B409EB}" srcOrd="2" destOrd="0" parTransId="{901EB617-6AEE-41A0-917C-D9FEC32E3F43}" sibTransId="{4807CB39-F82A-4F11-8558-12F033CC1284}"/>
    <dgm:cxn modelId="{C02F622E-5786-4256-AAA7-2F483C4E6DF8}" type="presOf" srcId="{DEF06ADF-99A5-412F-98EF-07B50508A1DC}" destId="{E888F736-FBDA-4823-B51C-0C2D41AE491C}" srcOrd="0" destOrd="1" presId="urn:microsoft.com/office/officeart/2005/8/layout/hList1"/>
    <dgm:cxn modelId="{8DB7532E-5153-4C3D-B243-865C567A4E32}" type="presOf" srcId="{DF9BDE64-45A3-4AE9-B6B7-E0E265B409EB}" destId="{F4F825FF-1904-4494-8D01-DF01EBC504D6}" srcOrd="0" destOrd="0" presId="urn:microsoft.com/office/officeart/2005/8/layout/hList1"/>
    <dgm:cxn modelId="{21EFCA3B-1797-4577-A1AA-739DFA103D7E}" srcId="{A10CAAEA-AF57-4464-A931-0CAAA2FEDF2E}" destId="{93F72FCA-B27B-44B6-BF31-86497B3CEDFD}" srcOrd="3" destOrd="0" parTransId="{BF2602B8-8EC4-483F-8AAD-FBFC395181F2}" sibTransId="{FB17E593-3F77-4F8F-B0E5-9264B1C3EE08}"/>
    <dgm:cxn modelId="{5962725D-A1E8-4D87-812B-C6687652BD24}" type="presOf" srcId="{E866C1C7-1309-4072-8140-97EA8AB34656}" destId="{EA919C62-45F1-4DC9-8D3D-E4574B98F1A0}" srcOrd="0" destOrd="0" presId="urn:microsoft.com/office/officeart/2005/8/layout/hList1"/>
    <dgm:cxn modelId="{2027495E-6D04-47C4-990A-DF5B0E45E369}" type="presOf" srcId="{EEDEEF79-5BCB-4B77-A49B-722D142C1248}" destId="{9C137590-ED89-4270-813F-41AD72AFCC61}" srcOrd="0" destOrd="0" presId="urn:microsoft.com/office/officeart/2005/8/layout/hList1"/>
    <dgm:cxn modelId="{8AE9FB61-EA46-4289-976F-BAC92FB183E9}" srcId="{93F72FCA-B27B-44B6-BF31-86497B3CEDFD}" destId="{765A34B2-B63C-4962-8466-D81F16AAE455}" srcOrd="0" destOrd="0" parTransId="{B3096B55-5C13-4012-AEB9-70D37C364807}" sibTransId="{9615E1E0-FC46-4554-BA95-1CB9885E27E5}"/>
    <dgm:cxn modelId="{8AF81045-1D6A-4F44-B471-5DB2E4CC9079}" type="presOf" srcId="{765A34B2-B63C-4962-8466-D81F16AAE455}" destId="{2F021238-6CA9-4B41-A042-C013D1F3B9F6}" srcOrd="0" destOrd="0" presId="urn:microsoft.com/office/officeart/2005/8/layout/hList1"/>
    <dgm:cxn modelId="{C0BFB64A-6AFC-4DF8-BFB3-E1CB67954795}" type="presOf" srcId="{D9D2762B-754D-4F12-A58F-3A48EBB6D1FA}" destId="{9DCEA0A4-D0F5-467A-97B3-9A81C7E548AB}" srcOrd="0" destOrd="0" presId="urn:microsoft.com/office/officeart/2005/8/layout/hList1"/>
    <dgm:cxn modelId="{E088EF76-8F50-4E9C-9E14-EFD2F75A9680}" type="presOf" srcId="{93F72FCA-B27B-44B6-BF31-86497B3CEDFD}" destId="{D33D0125-16EF-40FB-BBBC-CD858C127C3B}" srcOrd="0" destOrd="0" presId="urn:microsoft.com/office/officeart/2005/8/layout/hList1"/>
    <dgm:cxn modelId="{D4A06F9D-A628-4F8A-8A19-4D97C69BC39D}" srcId="{E866C1C7-1309-4072-8140-97EA8AB34656}" destId="{EEDEEF79-5BCB-4B77-A49B-722D142C1248}" srcOrd="0" destOrd="0" parTransId="{DF425413-6E41-4C62-9439-898F6114E157}" sibTransId="{CE7DEA13-4BDF-48BB-9084-6EA259EA8211}"/>
    <dgm:cxn modelId="{CA2185EF-97F1-42E4-9926-56DE5FD9C069}" srcId="{A10CAAEA-AF57-4464-A931-0CAAA2FEDF2E}" destId="{D9D2762B-754D-4F12-A58F-3A48EBB6D1FA}" srcOrd="1" destOrd="0" parTransId="{38FCA547-1B87-4A48-BBBD-90965F99EDA9}" sibTransId="{739FB733-E7BE-4014-9DFA-FF611796A981}"/>
    <dgm:cxn modelId="{F960EAF0-2DD2-4124-91DE-0D55A1F119BC}" type="presOf" srcId="{06ABB917-16C6-4646-9315-9EB814906D9F}" destId="{97F23FE6-46A4-4A2B-A504-82DA9C95B321}" srcOrd="0" destOrd="0" presId="urn:microsoft.com/office/officeart/2005/8/layout/hList1"/>
    <dgm:cxn modelId="{9FE6EAF2-48A7-46F9-8BE1-952F70E65F83}" srcId="{D9D2762B-754D-4F12-A58F-3A48EBB6D1FA}" destId="{D4E67AE4-BFD9-433F-91E6-CA26BCC9ACF7}" srcOrd="0" destOrd="0" parTransId="{791A7F3E-B911-4C7F-A9C0-43C3CBA2D67C}" sibTransId="{405F55F2-FC33-4427-87A6-5F0E9A5D6A5E}"/>
    <dgm:cxn modelId="{1D7662F9-D1D2-435D-A340-361BCAAA9187}" srcId="{DF9BDE64-45A3-4AE9-B6B7-E0E265B409EB}" destId="{06ABB917-16C6-4646-9315-9EB814906D9F}" srcOrd="0" destOrd="0" parTransId="{A63B86EF-FA5C-42E2-8ED6-492F914A8D5D}" sibTransId="{CBA210BC-1EE1-4E9F-A428-C4CBDAA3EAE3}"/>
    <dgm:cxn modelId="{AA6C48FD-F4C0-41D9-87CF-4CEC7D3DC0D6}" srcId="{D9D2762B-754D-4F12-A58F-3A48EBB6D1FA}" destId="{DEF06ADF-99A5-412F-98EF-07B50508A1DC}" srcOrd="1" destOrd="0" parTransId="{9CB0A08D-F586-4886-AEC2-16DB66FC4218}" sibTransId="{0EDAC2F8-BF3D-40AD-A280-D7093BB9C5B5}"/>
    <dgm:cxn modelId="{3418649C-7D16-43B9-93EB-25C0E5CDB474}" type="presParOf" srcId="{5DF41760-691A-4703-B5C1-35FC38D5F8E7}" destId="{72DAB19A-F43E-4342-80C5-C8B311541356}" srcOrd="0" destOrd="0" presId="urn:microsoft.com/office/officeart/2005/8/layout/hList1"/>
    <dgm:cxn modelId="{198A27C8-8DC7-4C16-A4D8-958C8D5FAEAF}" type="presParOf" srcId="{72DAB19A-F43E-4342-80C5-C8B311541356}" destId="{EA919C62-45F1-4DC9-8D3D-E4574B98F1A0}" srcOrd="0" destOrd="0" presId="urn:microsoft.com/office/officeart/2005/8/layout/hList1"/>
    <dgm:cxn modelId="{B263A661-9886-489C-94C1-5E0A19719D51}" type="presParOf" srcId="{72DAB19A-F43E-4342-80C5-C8B311541356}" destId="{9C137590-ED89-4270-813F-41AD72AFCC61}" srcOrd="1" destOrd="0" presId="urn:microsoft.com/office/officeart/2005/8/layout/hList1"/>
    <dgm:cxn modelId="{6E58C59E-D52D-4E9D-A64E-822BC6D74767}" type="presParOf" srcId="{5DF41760-691A-4703-B5C1-35FC38D5F8E7}" destId="{442B0D3D-F114-40E5-A26D-991A9732475E}" srcOrd="1" destOrd="0" presId="urn:microsoft.com/office/officeart/2005/8/layout/hList1"/>
    <dgm:cxn modelId="{031638E8-93C9-4130-8AED-06AF5EE86017}" type="presParOf" srcId="{5DF41760-691A-4703-B5C1-35FC38D5F8E7}" destId="{E63B7BA3-D63D-438F-9807-D1DD23512A29}" srcOrd="2" destOrd="0" presId="urn:microsoft.com/office/officeart/2005/8/layout/hList1"/>
    <dgm:cxn modelId="{245021AA-4F30-4FEB-A942-73C3AD85E642}" type="presParOf" srcId="{E63B7BA3-D63D-438F-9807-D1DD23512A29}" destId="{9DCEA0A4-D0F5-467A-97B3-9A81C7E548AB}" srcOrd="0" destOrd="0" presId="urn:microsoft.com/office/officeart/2005/8/layout/hList1"/>
    <dgm:cxn modelId="{83EB4934-613A-4E4B-ACB6-963E7DDF45E3}" type="presParOf" srcId="{E63B7BA3-D63D-438F-9807-D1DD23512A29}" destId="{E888F736-FBDA-4823-B51C-0C2D41AE491C}" srcOrd="1" destOrd="0" presId="urn:microsoft.com/office/officeart/2005/8/layout/hList1"/>
    <dgm:cxn modelId="{0C1DBA74-82F4-45B5-881D-61B86020472A}" type="presParOf" srcId="{5DF41760-691A-4703-B5C1-35FC38D5F8E7}" destId="{53298E35-C462-4F4C-890C-7D344FF2D1E8}" srcOrd="3" destOrd="0" presId="urn:microsoft.com/office/officeart/2005/8/layout/hList1"/>
    <dgm:cxn modelId="{84AA4E1B-A174-4B44-8342-C57B060942E7}" type="presParOf" srcId="{5DF41760-691A-4703-B5C1-35FC38D5F8E7}" destId="{5F4EC9B4-8660-4D7C-AD67-D3E795388514}" srcOrd="4" destOrd="0" presId="urn:microsoft.com/office/officeart/2005/8/layout/hList1"/>
    <dgm:cxn modelId="{23253487-70A5-4917-BCD4-32ECFDEB6C15}" type="presParOf" srcId="{5F4EC9B4-8660-4D7C-AD67-D3E795388514}" destId="{F4F825FF-1904-4494-8D01-DF01EBC504D6}" srcOrd="0" destOrd="0" presId="urn:microsoft.com/office/officeart/2005/8/layout/hList1"/>
    <dgm:cxn modelId="{A70F62DC-2FD1-43B2-9440-37A3071FC651}" type="presParOf" srcId="{5F4EC9B4-8660-4D7C-AD67-D3E795388514}" destId="{97F23FE6-46A4-4A2B-A504-82DA9C95B321}" srcOrd="1" destOrd="0" presId="urn:microsoft.com/office/officeart/2005/8/layout/hList1"/>
    <dgm:cxn modelId="{A775ACBD-74DD-434D-AB7F-ACD19F58AB65}" type="presParOf" srcId="{5DF41760-691A-4703-B5C1-35FC38D5F8E7}" destId="{C44978F7-CA3F-4706-97CD-6FAC9561DC10}" srcOrd="5" destOrd="0" presId="urn:microsoft.com/office/officeart/2005/8/layout/hList1"/>
    <dgm:cxn modelId="{1041A91B-CD02-4AE9-B329-8D68F7351CDB}" type="presParOf" srcId="{5DF41760-691A-4703-B5C1-35FC38D5F8E7}" destId="{43947FA8-0471-42F6-97AC-23C4C509A2A4}" srcOrd="6" destOrd="0" presId="urn:microsoft.com/office/officeart/2005/8/layout/hList1"/>
    <dgm:cxn modelId="{606C8664-2441-487F-9EB4-4BB2FE96D06B}" type="presParOf" srcId="{43947FA8-0471-42F6-97AC-23C4C509A2A4}" destId="{D33D0125-16EF-40FB-BBBC-CD858C127C3B}" srcOrd="0" destOrd="0" presId="urn:microsoft.com/office/officeart/2005/8/layout/hList1"/>
    <dgm:cxn modelId="{4C8528A9-D5EF-4F4A-9DC5-2E7EB4D2F0B8}" type="presParOf" srcId="{43947FA8-0471-42F6-97AC-23C4C509A2A4}" destId="{2F021238-6CA9-4B41-A042-C013D1F3B9F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F03678-1F73-456E-A7C5-575F9A322FAE}" type="doc">
      <dgm:prSet loTypeId="urn:microsoft.com/office/officeart/2005/8/layout/hierarchy3" loCatId="hierarchy" qsTypeId="urn:microsoft.com/office/officeart/2005/8/quickstyle/3d5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F5E8851-69D9-4F33-AA83-11110D7CC2AC}">
      <dgm:prSet custT="1"/>
      <dgm:spPr/>
      <dgm:t>
        <a:bodyPr/>
        <a:lstStyle/>
        <a:p>
          <a:r>
            <a:rPr lang="en-US" sz="1200" b="1"/>
            <a:t>1) Incoming emails</a:t>
          </a:r>
        </a:p>
      </dgm:t>
    </dgm:pt>
    <dgm:pt modelId="{71F7343E-3E5A-4295-B455-91D37B2A93F4}" type="parTrans" cxnId="{DCFBA7B8-F671-4B03-8F7A-57A58F74E144}">
      <dgm:prSet/>
      <dgm:spPr/>
      <dgm:t>
        <a:bodyPr/>
        <a:lstStyle/>
        <a:p>
          <a:endParaRPr lang="en-US" sz="2000"/>
        </a:p>
      </dgm:t>
    </dgm:pt>
    <dgm:pt modelId="{2477CD4F-35CE-48D9-9EC1-8BC20518349F}" type="sibTrans" cxnId="{DCFBA7B8-F671-4B03-8F7A-57A58F74E144}">
      <dgm:prSet/>
      <dgm:spPr/>
      <dgm:t>
        <a:bodyPr/>
        <a:lstStyle/>
        <a:p>
          <a:endParaRPr lang="en-US" sz="2000"/>
        </a:p>
      </dgm:t>
    </dgm:pt>
    <dgm:pt modelId="{FCB8E8F3-2E4B-43C7-8AFE-3DBB8162D886}">
      <dgm:prSet custT="1"/>
      <dgm:spPr/>
      <dgm:t>
        <a:bodyPr/>
        <a:lstStyle/>
        <a:p>
          <a:r>
            <a:rPr lang="en-US" sz="1000" b="1"/>
            <a:t>Customers</a:t>
          </a:r>
        </a:p>
      </dgm:t>
    </dgm:pt>
    <dgm:pt modelId="{FC05C497-8FC8-40FC-A5C6-4D430272783B}" type="parTrans" cxnId="{91AB4B38-EBB4-43B6-95E0-6C735F92C665}">
      <dgm:prSet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endParaRPr lang="en-US" sz="2000" b="1"/>
        </a:p>
      </dgm:t>
    </dgm:pt>
    <dgm:pt modelId="{9BC8C802-A798-4225-868C-8CF5BF267CBE}" type="sibTrans" cxnId="{91AB4B38-EBB4-43B6-95E0-6C735F92C665}">
      <dgm:prSet/>
      <dgm:spPr/>
      <dgm:t>
        <a:bodyPr/>
        <a:lstStyle/>
        <a:p>
          <a:endParaRPr lang="en-US" sz="2000"/>
        </a:p>
      </dgm:t>
    </dgm:pt>
    <dgm:pt modelId="{AE8EC26F-6AF3-47C3-9EF9-93245BC0080A}">
      <dgm:prSet custT="1"/>
      <dgm:spPr/>
      <dgm:t>
        <a:bodyPr/>
        <a:lstStyle/>
        <a:p>
          <a:r>
            <a:rPr lang="en-US" sz="1200" b="1"/>
            <a:t>2) Mail server</a:t>
          </a:r>
        </a:p>
      </dgm:t>
    </dgm:pt>
    <dgm:pt modelId="{62EB0368-7F95-429A-925B-DDFF43303C80}" type="parTrans" cxnId="{112B0231-8F90-4C36-95CB-CD423D496F16}">
      <dgm:prSet/>
      <dgm:spPr/>
      <dgm:t>
        <a:bodyPr/>
        <a:lstStyle/>
        <a:p>
          <a:endParaRPr lang="en-US" sz="2000"/>
        </a:p>
      </dgm:t>
    </dgm:pt>
    <dgm:pt modelId="{3E9BBC43-9936-486D-8C1F-9C8C0203F815}" type="sibTrans" cxnId="{112B0231-8F90-4C36-95CB-CD423D496F16}">
      <dgm:prSet/>
      <dgm:spPr/>
      <dgm:t>
        <a:bodyPr/>
        <a:lstStyle/>
        <a:p>
          <a:endParaRPr lang="en-US" sz="2000"/>
        </a:p>
      </dgm:t>
    </dgm:pt>
    <dgm:pt modelId="{827EBC2F-E605-4CBC-A415-7B383872F375}">
      <dgm:prSet custT="1"/>
      <dgm:spPr/>
      <dgm:t>
        <a:bodyPr/>
        <a:lstStyle/>
        <a:p>
          <a:r>
            <a:rPr lang="en-US" sz="1000" b="1"/>
            <a:t>Email gateway</a:t>
          </a:r>
        </a:p>
      </dgm:t>
    </dgm:pt>
    <dgm:pt modelId="{CA0636D3-9558-4CDE-AD9A-C2588ECF5989}" type="parTrans" cxnId="{A06B5A3A-98E9-4F95-980D-7D72A591EA16}">
      <dgm:prSet/>
      <dgm:spPr>
        <a:ln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endParaRPr lang="en-US" sz="2000" b="1"/>
        </a:p>
      </dgm:t>
    </dgm:pt>
    <dgm:pt modelId="{A91F0CD8-71F5-4B0F-BB2A-C42BF72015F4}" type="sibTrans" cxnId="{A06B5A3A-98E9-4F95-980D-7D72A591EA16}">
      <dgm:prSet/>
      <dgm:spPr/>
      <dgm:t>
        <a:bodyPr/>
        <a:lstStyle/>
        <a:p>
          <a:endParaRPr lang="en-US" sz="2000"/>
        </a:p>
      </dgm:t>
    </dgm:pt>
    <dgm:pt modelId="{689F25E4-DFCB-4F77-81F9-8AE45BDC6BDA}">
      <dgm:prSet custT="1"/>
      <dgm:spPr/>
      <dgm:t>
        <a:bodyPr/>
        <a:lstStyle/>
        <a:p>
          <a:r>
            <a:rPr lang="en-US" sz="1000" b="1"/>
            <a:t>Email traffic monitoring</a:t>
          </a:r>
        </a:p>
      </dgm:t>
    </dgm:pt>
    <dgm:pt modelId="{A1ED898E-D8E6-4ECB-ABE1-DCF2921F1DDC}" type="parTrans" cxnId="{C1DDE068-60EA-4F92-A111-12DA124E1FA5}">
      <dgm:prSet/>
      <dgm:spPr>
        <a:ln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endParaRPr lang="en-US" sz="2000" b="1"/>
        </a:p>
      </dgm:t>
    </dgm:pt>
    <dgm:pt modelId="{B0589DDF-B84C-4FCC-85C7-4A8C1B7ADD47}" type="sibTrans" cxnId="{C1DDE068-60EA-4F92-A111-12DA124E1FA5}">
      <dgm:prSet/>
      <dgm:spPr/>
      <dgm:t>
        <a:bodyPr/>
        <a:lstStyle/>
        <a:p>
          <a:endParaRPr lang="en-US" sz="2000"/>
        </a:p>
      </dgm:t>
    </dgm:pt>
    <dgm:pt modelId="{52343E4B-5FBF-4A73-93CB-7D8109FCA1E1}">
      <dgm:prSet custT="1"/>
      <dgm:spPr/>
      <dgm:t>
        <a:bodyPr/>
        <a:lstStyle/>
        <a:p>
          <a:r>
            <a:rPr lang="en-US" sz="1200" b="1"/>
            <a:t>3) Phishing Detection Model</a:t>
          </a:r>
        </a:p>
      </dgm:t>
    </dgm:pt>
    <dgm:pt modelId="{8AD1A24A-F597-4CD4-B57C-BD6E63F4799B}" type="parTrans" cxnId="{224B9C83-AC91-4E77-B4CF-81C4AAA08F1B}">
      <dgm:prSet/>
      <dgm:spPr/>
      <dgm:t>
        <a:bodyPr/>
        <a:lstStyle/>
        <a:p>
          <a:endParaRPr lang="en-US" sz="2000"/>
        </a:p>
      </dgm:t>
    </dgm:pt>
    <dgm:pt modelId="{8CB6ECF9-4AAA-4CA0-A3BB-947E79C4D3F8}" type="sibTrans" cxnId="{224B9C83-AC91-4E77-B4CF-81C4AAA08F1B}">
      <dgm:prSet/>
      <dgm:spPr/>
      <dgm:t>
        <a:bodyPr/>
        <a:lstStyle/>
        <a:p>
          <a:endParaRPr lang="en-US" sz="2000"/>
        </a:p>
      </dgm:t>
    </dgm:pt>
    <dgm:pt modelId="{7857FCBB-3BD6-463D-AE97-33D109653B93}">
      <dgm:prSet custT="1"/>
      <dgm:spPr/>
      <dgm:t>
        <a:bodyPr/>
        <a:lstStyle/>
        <a:p>
          <a:r>
            <a:rPr lang="en-US" sz="1000" b="1"/>
            <a:t>Classifies phishing vs legitimate</a:t>
          </a:r>
        </a:p>
      </dgm:t>
    </dgm:pt>
    <dgm:pt modelId="{29012389-4699-414A-A8E6-50B6BF0B8782}" type="parTrans" cxnId="{FA433087-200A-4785-9EA9-C60CE54F4E80}">
      <dgm:prSet/>
      <dgm:spPr>
        <a:ln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endParaRPr lang="en-US" sz="2000" b="1"/>
        </a:p>
      </dgm:t>
    </dgm:pt>
    <dgm:pt modelId="{951B94F5-0F18-4F67-ACDB-089099FA3228}" type="sibTrans" cxnId="{FA433087-200A-4785-9EA9-C60CE54F4E80}">
      <dgm:prSet/>
      <dgm:spPr/>
      <dgm:t>
        <a:bodyPr/>
        <a:lstStyle/>
        <a:p>
          <a:endParaRPr lang="en-US" sz="2000"/>
        </a:p>
      </dgm:t>
    </dgm:pt>
    <dgm:pt modelId="{C85B5B89-9963-4FB1-BF97-0AA3CC9CD884}">
      <dgm:prSet custT="1"/>
      <dgm:spPr/>
      <dgm:t>
        <a:bodyPr/>
        <a:lstStyle/>
        <a:p>
          <a:r>
            <a:rPr lang="en-US" sz="1200" b="1"/>
            <a:t>4) Surrogate Model</a:t>
          </a:r>
        </a:p>
      </dgm:t>
    </dgm:pt>
    <dgm:pt modelId="{567ECC1C-4DE5-4FB6-9091-7C46A64674B2}" type="parTrans" cxnId="{C8BC96D6-8397-469C-BC4D-847DD82DE6D4}">
      <dgm:prSet/>
      <dgm:spPr/>
      <dgm:t>
        <a:bodyPr/>
        <a:lstStyle/>
        <a:p>
          <a:endParaRPr lang="en-US" sz="2000"/>
        </a:p>
      </dgm:t>
    </dgm:pt>
    <dgm:pt modelId="{CF5EC01E-609A-41D1-A2B5-F4199BE824D8}" type="sibTrans" cxnId="{C8BC96D6-8397-469C-BC4D-847DD82DE6D4}">
      <dgm:prSet/>
      <dgm:spPr/>
      <dgm:t>
        <a:bodyPr/>
        <a:lstStyle/>
        <a:p>
          <a:endParaRPr lang="en-US" sz="2000"/>
        </a:p>
      </dgm:t>
    </dgm:pt>
    <dgm:pt modelId="{55D81C9B-10A4-4AE7-A1A1-84FDEA6B527E}">
      <dgm:prSet custT="1"/>
      <dgm:spPr/>
      <dgm:t>
        <a:bodyPr/>
        <a:lstStyle/>
        <a:p>
          <a:r>
            <a:rPr lang="en-US" sz="1000" b="1"/>
            <a:t>Generate explanation</a:t>
          </a:r>
        </a:p>
      </dgm:t>
    </dgm:pt>
    <dgm:pt modelId="{4F331024-5EFE-46B7-815D-596CDC0D2B51}" type="parTrans" cxnId="{1B03410A-B948-4CFF-9AFA-B9C6A871A3C4}">
      <dgm:prSet/>
      <dgm:spPr>
        <a:ln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endParaRPr lang="en-US" sz="2000" b="1"/>
        </a:p>
      </dgm:t>
    </dgm:pt>
    <dgm:pt modelId="{DF2F8301-6BEB-4CAE-85AD-CF9CDA23E821}" type="sibTrans" cxnId="{1B03410A-B948-4CFF-9AFA-B9C6A871A3C4}">
      <dgm:prSet/>
      <dgm:spPr/>
      <dgm:t>
        <a:bodyPr/>
        <a:lstStyle/>
        <a:p>
          <a:endParaRPr lang="en-US" sz="2000"/>
        </a:p>
      </dgm:t>
    </dgm:pt>
    <dgm:pt modelId="{EA21E6BA-C823-483B-9BE0-BC14C27B5C85}">
      <dgm:prSet custT="1"/>
      <dgm:spPr/>
      <dgm:t>
        <a:bodyPr/>
        <a:lstStyle/>
        <a:p>
          <a:r>
            <a:rPr lang="en-US" sz="1000" b="1"/>
            <a:t>Identifies important features</a:t>
          </a:r>
        </a:p>
      </dgm:t>
    </dgm:pt>
    <dgm:pt modelId="{06CCD5F2-5302-4FB3-90A0-D4778B85228C}" type="parTrans" cxnId="{9C067030-F2BF-4C01-9863-41FA41827B19}">
      <dgm:prSet/>
      <dgm:spPr>
        <a:ln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endParaRPr lang="en-US" sz="2000" b="1"/>
        </a:p>
      </dgm:t>
    </dgm:pt>
    <dgm:pt modelId="{A9C7A1E1-7B6F-4E36-B4A3-0B925E800D27}" type="sibTrans" cxnId="{9C067030-F2BF-4C01-9863-41FA41827B19}">
      <dgm:prSet/>
      <dgm:spPr/>
      <dgm:t>
        <a:bodyPr/>
        <a:lstStyle/>
        <a:p>
          <a:endParaRPr lang="en-US" sz="2000"/>
        </a:p>
      </dgm:t>
    </dgm:pt>
    <dgm:pt modelId="{C691F29B-7793-4BD8-AC35-A1EFA5D82491}">
      <dgm:prSet custT="1"/>
      <dgm:spPr/>
      <dgm:t>
        <a:bodyPr/>
        <a:lstStyle/>
        <a:p>
          <a:r>
            <a:rPr lang="en-US" sz="1200" b="1"/>
            <a:t>5) Security Dashboard</a:t>
          </a:r>
        </a:p>
      </dgm:t>
    </dgm:pt>
    <dgm:pt modelId="{791B7B34-0FB8-44B4-B102-42497A76207C}" type="parTrans" cxnId="{62C08343-8C7A-4F13-B02C-A3CF1CE1B918}">
      <dgm:prSet/>
      <dgm:spPr/>
      <dgm:t>
        <a:bodyPr/>
        <a:lstStyle/>
        <a:p>
          <a:endParaRPr lang="en-US" sz="2000"/>
        </a:p>
      </dgm:t>
    </dgm:pt>
    <dgm:pt modelId="{6A7D0D18-9B76-46A2-A848-BC555CEEE765}" type="sibTrans" cxnId="{62C08343-8C7A-4F13-B02C-A3CF1CE1B918}">
      <dgm:prSet/>
      <dgm:spPr/>
      <dgm:t>
        <a:bodyPr/>
        <a:lstStyle/>
        <a:p>
          <a:endParaRPr lang="en-US" sz="2000"/>
        </a:p>
      </dgm:t>
    </dgm:pt>
    <dgm:pt modelId="{BEA070A7-C138-4C29-86EA-C6C18264DBEB}">
      <dgm:prSet custT="1"/>
      <dgm:spPr/>
      <dgm:t>
        <a:bodyPr/>
        <a:lstStyle/>
        <a:p>
          <a:r>
            <a:rPr lang="en-US" sz="1000" b="1"/>
            <a:t>Classification result</a:t>
          </a:r>
        </a:p>
      </dgm:t>
    </dgm:pt>
    <dgm:pt modelId="{2B98CA0B-1C55-4B03-9B31-5E76CC8A1FF2}" type="parTrans" cxnId="{C655BD77-BFEF-4062-AC6D-6F0EBD1F29B8}">
      <dgm:prSet/>
      <dgm:spPr>
        <a:ln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endParaRPr lang="en-US" sz="2000" b="1"/>
        </a:p>
      </dgm:t>
    </dgm:pt>
    <dgm:pt modelId="{0D4A3477-D4D8-4FAA-A6AF-B46EE53B02C3}" type="sibTrans" cxnId="{C655BD77-BFEF-4062-AC6D-6F0EBD1F29B8}">
      <dgm:prSet/>
      <dgm:spPr/>
      <dgm:t>
        <a:bodyPr/>
        <a:lstStyle/>
        <a:p>
          <a:endParaRPr lang="en-US" sz="2000"/>
        </a:p>
      </dgm:t>
    </dgm:pt>
    <dgm:pt modelId="{FC9C962F-846A-4FEA-9AD1-F4E8B0EA7972}">
      <dgm:prSet custT="1"/>
      <dgm:spPr/>
      <dgm:t>
        <a:bodyPr/>
        <a:lstStyle/>
        <a:p>
          <a:r>
            <a:rPr lang="en-US" sz="1000" b="1"/>
            <a:t>Risk indicators</a:t>
          </a:r>
        </a:p>
      </dgm:t>
    </dgm:pt>
    <dgm:pt modelId="{3886EAAB-2EAA-47AB-930B-E0ED36A6E141}" type="parTrans" cxnId="{BAF9293A-9675-49C7-9429-C77B2E4C4899}">
      <dgm:prSet/>
      <dgm:spPr>
        <a:ln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endParaRPr lang="en-US" sz="2000" b="1"/>
        </a:p>
      </dgm:t>
    </dgm:pt>
    <dgm:pt modelId="{7DA83958-1AE8-405D-98A7-0F158247423B}" type="sibTrans" cxnId="{BAF9293A-9675-49C7-9429-C77B2E4C4899}">
      <dgm:prSet/>
      <dgm:spPr/>
      <dgm:t>
        <a:bodyPr/>
        <a:lstStyle/>
        <a:p>
          <a:endParaRPr lang="en-US" sz="2000"/>
        </a:p>
      </dgm:t>
    </dgm:pt>
    <dgm:pt modelId="{3AA0AFCB-C48D-4C3A-B75C-62E3FF16558C}">
      <dgm:prSet custT="1"/>
      <dgm:spPr/>
      <dgm:t>
        <a:bodyPr/>
        <a:lstStyle/>
        <a:p>
          <a:r>
            <a:rPr lang="en-US" sz="1000" b="1"/>
            <a:t>Explanation of prediction</a:t>
          </a:r>
        </a:p>
      </dgm:t>
    </dgm:pt>
    <dgm:pt modelId="{E9F2D753-5D99-4A97-92FC-A4DE18D913BE}" type="parTrans" cxnId="{D994D4F9-474F-4C5E-B11B-46242953D508}">
      <dgm:prSet/>
      <dgm:spPr>
        <a:ln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endParaRPr lang="en-US" sz="2000" b="1"/>
        </a:p>
      </dgm:t>
    </dgm:pt>
    <dgm:pt modelId="{609D5BE2-66DC-4121-9D6D-1D9EE077D728}" type="sibTrans" cxnId="{D994D4F9-474F-4C5E-B11B-46242953D508}">
      <dgm:prSet/>
      <dgm:spPr/>
      <dgm:t>
        <a:bodyPr/>
        <a:lstStyle/>
        <a:p>
          <a:endParaRPr lang="en-US" sz="2000"/>
        </a:p>
      </dgm:t>
    </dgm:pt>
    <dgm:pt modelId="{3493D087-A598-4608-BCAD-FFBE24AAF3FA}">
      <dgm:prSet custT="1"/>
      <dgm:spPr/>
      <dgm:t>
        <a:bodyPr/>
        <a:lstStyle/>
        <a:p>
          <a:r>
            <a:rPr lang="en-US" sz="1200" b="1"/>
            <a:t>6) Threat Intelligence Team</a:t>
          </a:r>
        </a:p>
      </dgm:t>
    </dgm:pt>
    <dgm:pt modelId="{57654699-D9B5-4E94-9174-3036DA3D8C8F}" type="parTrans" cxnId="{871200F1-109B-4616-88F7-C40DF792382F}">
      <dgm:prSet/>
      <dgm:spPr/>
      <dgm:t>
        <a:bodyPr/>
        <a:lstStyle/>
        <a:p>
          <a:endParaRPr lang="en-US" sz="2000"/>
        </a:p>
      </dgm:t>
    </dgm:pt>
    <dgm:pt modelId="{692E6E10-C62B-4D14-A8C3-EC3A986E24C2}" type="sibTrans" cxnId="{871200F1-109B-4616-88F7-C40DF792382F}">
      <dgm:prSet/>
      <dgm:spPr/>
      <dgm:t>
        <a:bodyPr/>
        <a:lstStyle/>
        <a:p>
          <a:endParaRPr lang="en-US" sz="2000"/>
        </a:p>
      </dgm:t>
    </dgm:pt>
    <dgm:pt modelId="{FD663092-A5EC-4930-8FA6-17E152BCFB01}">
      <dgm:prSet custT="1"/>
      <dgm:spPr/>
      <dgm:t>
        <a:bodyPr/>
        <a:lstStyle/>
        <a:p>
          <a:r>
            <a:rPr lang="en-US" sz="1000" b="1"/>
            <a:t>Review alerts</a:t>
          </a:r>
        </a:p>
      </dgm:t>
    </dgm:pt>
    <dgm:pt modelId="{EC7C0FEF-FB22-420B-8C41-AAB71980C69D}" type="parTrans" cxnId="{28D36056-1987-446E-AB0D-88D5F8F3065D}">
      <dgm:prSet/>
      <dgm:spPr>
        <a:ln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endParaRPr lang="en-US" sz="2000" b="1"/>
        </a:p>
      </dgm:t>
    </dgm:pt>
    <dgm:pt modelId="{08D6A8F1-5356-4125-AE7C-D4FA23030A2C}" type="sibTrans" cxnId="{28D36056-1987-446E-AB0D-88D5F8F3065D}">
      <dgm:prSet/>
      <dgm:spPr/>
      <dgm:t>
        <a:bodyPr/>
        <a:lstStyle/>
        <a:p>
          <a:endParaRPr lang="en-US" sz="2000"/>
        </a:p>
      </dgm:t>
    </dgm:pt>
    <dgm:pt modelId="{BCAAC812-9489-443E-99BF-7980C6A1BF5F}">
      <dgm:prSet custT="1"/>
      <dgm:spPr/>
      <dgm:t>
        <a:bodyPr/>
        <a:lstStyle/>
        <a:p>
          <a:r>
            <a:rPr lang="en-US" sz="1000" b="1"/>
            <a:t>Investigate suspicious emails</a:t>
          </a:r>
        </a:p>
      </dgm:t>
    </dgm:pt>
    <dgm:pt modelId="{86D68112-71A2-4E4F-BE5E-15C6D1B604F6}" type="parTrans" cxnId="{2D113CB2-284B-432D-865E-05A4F4799661}">
      <dgm:prSet/>
      <dgm:spPr>
        <a:ln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endParaRPr lang="en-US" sz="2000" b="1"/>
        </a:p>
      </dgm:t>
    </dgm:pt>
    <dgm:pt modelId="{6FE50A96-BA39-4EDB-A197-63952478A33C}" type="sibTrans" cxnId="{2D113CB2-284B-432D-865E-05A4F4799661}">
      <dgm:prSet/>
      <dgm:spPr/>
      <dgm:t>
        <a:bodyPr/>
        <a:lstStyle/>
        <a:p>
          <a:endParaRPr lang="en-US" sz="2000"/>
        </a:p>
      </dgm:t>
    </dgm:pt>
    <dgm:pt modelId="{9AB62408-FF18-4163-B57A-96E900C7B1DF}">
      <dgm:prSet custT="1"/>
      <dgm:spPr/>
      <dgm:t>
        <a:bodyPr/>
        <a:lstStyle/>
        <a:p>
          <a:r>
            <a:rPr lang="en-US" sz="1000" b="1"/>
            <a:t>Deciding security actions</a:t>
          </a:r>
        </a:p>
      </dgm:t>
    </dgm:pt>
    <dgm:pt modelId="{B7AE4476-6C30-47EC-B284-3617F7AB06BD}" type="parTrans" cxnId="{F78DAE7D-7773-4299-B3DB-5C1997378722}">
      <dgm:prSet/>
      <dgm:spPr>
        <a:ln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endParaRPr lang="en-US" sz="2000" b="1"/>
        </a:p>
      </dgm:t>
    </dgm:pt>
    <dgm:pt modelId="{6433A32F-6B47-4556-BC90-945A0B749500}" type="sibTrans" cxnId="{F78DAE7D-7773-4299-B3DB-5C1997378722}">
      <dgm:prSet/>
      <dgm:spPr/>
      <dgm:t>
        <a:bodyPr/>
        <a:lstStyle/>
        <a:p>
          <a:endParaRPr lang="en-US" sz="2000"/>
        </a:p>
      </dgm:t>
    </dgm:pt>
    <dgm:pt modelId="{142A05BE-C842-40C1-B9B0-8DD96764FB1B}">
      <dgm:prSet custT="1"/>
      <dgm:spPr/>
      <dgm:t>
        <a:bodyPr/>
        <a:lstStyle/>
        <a:p>
          <a:r>
            <a:rPr lang="en-US" sz="1000" b="1"/>
            <a:t>Partners</a:t>
          </a:r>
        </a:p>
      </dgm:t>
    </dgm:pt>
    <dgm:pt modelId="{43AE3B3B-9B75-40D7-976B-25240EA8A320}" type="parTrans" cxnId="{389C859F-9FF9-4D27-A9AC-3A37953DB8FD}">
      <dgm:prSet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endParaRPr lang="en-US" sz="2000" b="1"/>
        </a:p>
      </dgm:t>
    </dgm:pt>
    <dgm:pt modelId="{39DA8D4F-5C96-4221-9526-8CDE1B72E52C}" type="sibTrans" cxnId="{389C859F-9FF9-4D27-A9AC-3A37953DB8FD}">
      <dgm:prSet/>
      <dgm:spPr/>
      <dgm:t>
        <a:bodyPr/>
        <a:lstStyle/>
        <a:p>
          <a:endParaRPr lang="en-US" sz="2000"/>
        </a:p>
      </dgm:t>
    </dgm:pt>
    <dgm:pt modelId="{37B062CD-C837-455D-9426-39782057B9A6}">
      <dgm:prSet custT="1"/>
      <dgm:spPr/>
      <dgm:t>
        <a:bodyPr/>
        <a:lstStyle/>
        <a:p>
          <a:r>
            <a:rPr lang="en-US" sz="1000" b="1"/>
            <a:t>Externals</a:t>
          </a:r>
        </a:p>
      </dgm:t>
    </dgm:pt>
    <dgm:pt modelId="{DB20BABF-F938-40B7-B14D-6AFB41B70A05}" type="parTrans" cxnId="{3A9CB78F-FCCC-4E1D-82A0-DC91DF7B8E61}">
      <dgm:prSet/>
      <dgm:spPr>
        <a:ln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endParaRPr lang="en-US" sz="2000" b="1"/>
        </a:p>
      </dgm:t>
    </dgm:pt>
    <dgm:pt modelId="{5402019F-E4E4-4925-9F51-75C6DA3550D0}" type="sibTrans" cxnId="{3A9CB78F-FCCC-4E1D-82A0-DC91DF7B8E61}">
      <dgm:prSet/>
      <dgm:spPr/>
      <dgm:t>
        <a:bodyPr/>
        <a:lstStyle/>
        <a:p>
          <a:endParaRPr lang="en-US" sz="2000"/>
        </a:p>
      </dgm:t>
    </dgm:pt>
    <dgm:pt modelId="{E5FFB249-6867-45AC-86B5-EA9507BFC89E}" type="pres">
      <dgm:prSet presAssocID="{47F03678-1F73-456E-A7C5-575F9A322FA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9CF7F98-7D93-4985-9F47-E2D27D3D9153}" type="pres">
      <dgm:prSet presAssocID="{0F5E8851-69D9-4F33-AA83-11110D7CC2AC}" presName="root" presStyleCnt="0"/>
      <dgm:spPr/>
    </dgm:pt>
    <dgm:pt modelId="{BC166AFD-F9AD-490B-9A6D-5DE091E440C3}" type="pres">
      <dgm:prSet presAssocID="{0F5E8851-69D9-4F33-AA83-11110D7CC2AC}" presName="rootComposite" presStyleCnt="0"/>
      <dgm:spPr/>
    </dgm:pt>
    <dgm:pt modelId="{38CEF8C0-CCCD-4740-A1B1-83BFD1043FE2}" type="pres">
      <dgm:prSet presAssocID="{0F5E8851-69D9-4F33-AA83-11110D7CC2AC}" presName="rootText" presStyleLbl="node1" presStyleIdx="0" presStyleCnt="6"/>
      <dgm:spPr/>
    </dgm:pt>
    <dgm:pt modelId="{0C5D9BA1-D82A-41D3-90D3-F55FD48DE2C1}" type="pres">
      <dgm:prSet presAssocID="{0F5E8851-69D9-4F33-AA83-11110D7CC2AC}" presName="rootConnector" presStyleLbl="node1" presStyleIdx="0" presStyleCnt="6"/>
      <dgm:spPr/>
    </dgm:pt>
    <dgm:pt modelId="{EEA9FFCA-4E2F-4527-86B7-5437D88CE642}" type="pres">
      <dgm:prSet presAssocID="{0F5E8851-69D9-4F33-AA83-11110D7CC2AC}" presName="childShape" presStyleCnt="0"/>
      <dgm:spPr/>
    </dgm:pt>
    <dgm:pt modelId="{C4DC4DA8-9528-45D9-8C60-DDFC4209D534}" type="pres">
      <dgm:prSet presAssocID="{FC05C497-8FC8-40FC-A5C6-4D430272783B}" presName="Name13" presStyleLbl="parChTrans1D2" presStyleIdx="0" presStyleCnt="14"/>
      <dgm:spPr/>
    </dgm:pt>
    <dgm:pt modelId="{E3A6CBCB-12B6-42B6-93C5-B7DF446F626C}" type="pres">
      <dgm:prSet presAssocID="{FCB8E8F3-2E4B-43C7-8AFE-3DBB8162D886}" presName="childText" presStyleLbl="bgAcc1" presStyleIdx="0" presStyleCnt="14">
        <dgm:presLayoutVars>
          <dgm:bulletEnabled val="1"/>
        </dgm:presLayoutVars>
      </dgm:prSet>
      <dgm:spPr/>
    </dgm:pt>
    <dgm:pt modelId="{CBEAB52E-BBD8-4103-A180-BFDA24CAFAB0}" type="pres">
      <dgm:prSet presAssocID="{43AE3B3B-9B75-40D7-976B-25240EA8A320}" presName="Name13" presStyleLbl="parChTrans1D2" presStyleIdx="1" presStyleCnt="14"/>
      <dgm:spPr/>
    </dgm:pt>
    <dgm:pt modelId="{2F242671-C90C-4CB0-90F0-F27EFA3EB881}" type="pres">
      <dgm:prSet presAssocID="{142A05BE-C842-40C1-B9B0-8DD96764FB1B}" presName="childText" presStyleLbl="bgAcc1" presStyleIdx="1" presStyleCnt="14">
        <dgm:presLayoutVars>
          <dgm:bulletEnabled val="1"/>
        </dgm:presLayoutVars>
      </dgm:prSet>
      <dgm:spPr/>
    </dgm:pt>
    <dgm:pt modelId="{8B4DECF4-9EEE-4645-9DA0-4AFD0EA74515}" type="pres">
      <dgm:prSet presAssocID="{DB20BABF-F938-40B7-B14D-6AFB41B70A05}" presName="Name13" presStyleLbl="parChTrans1D2" presStyleIdx="2" presStyleCnt="14"/>
      <dgm:spPr/>
    </dgm:pt>
    <dgm:pt modelId="{B7D9266B-E215-48B5-8EB6-F385B986D5A4}" type="pres">
      <dgm:prSet presAssocID="{37B062CD-C837-455D-9426-39782057B9A6}" presName="childText" presStyleLbl="bgAcc1" presStyleIdx="2" presStyleCnt="14">
        <dgm:presLayoutVars>
          <dgm:bulletEnabled val="1"/>
        </dgm:presLayoutVars>
      </dgm:prSet>
      <dgm:spPr/>
    </dgm:pt>
    <dgm:pt modelId="{C3ABB016-2F7E-4035-9FD0-30B6C1A5D7EB}" type="pres">
      <dgm:prSet presAssocID="{AE8EC26F-6AF3-47C3-9EF9-93245BC0080A}" presName="root" presStyleCnt="0"/>
      <dgm:spPr/>
    </dgm:pt>
    <dgm:pt modelId="{2E6C63D1-BF1F-4AD1-A8D6-0044F4FF5ADE}" type="pres">
      <dgm:prSet presAssocID="{AE8EC26F-6AF3-47C3-9EF9-93245BC0080A}" presName="rootComposite" presStyleCnt="0"/>
      <dgm:spPr/>
    </dgm:pt>
    <dgm:pt modelId="{44F734CB-583A-422A-8955-E023DB79F120}" type="pres">
      <dgm:prSet presAssocID="{AE8EC26F-6AF3-47C3-9EF9-93245BC0080A}" presName="rootText" presStyleLbl="node1" presStyleIdx="1" presStyleCnt="6"/>
      <dgm:spPr/>
    </dgm:pt>
    <dgm:pt modelId="{52C239F3-8505-403C-B25F-A94F145A7BAE}" type="pres">
      <dgm:prSet presAssocID="{AE8EC26F-6AF3-47C3-9EF9-93245BC0080A}" presName="rootConnector" presStyleLbl="node1" presStyleIdx="1" presStyleCnt="6"/>
      <dgm:spPr/>
    </dgm:pt>
    <dgm:pt modelId="{9A75F1B8-806B-42EF-B140-B161209B28D7}" type="pres">
      <dgm:prSet presAssocID="{AE8EC26F-6AF3-47C3-9EF9-93245BC0080A}" presName="childShape" presStyleCnt="0"/>
      <dgm:spPr/>
    </dgm:pt>
    <dgm:pt modelId="{1687454A-C765-4DD6-8C6F-AE3C32BABFA7}" type="pres">
      <dgm:prSet presAssocID="{CA0636D3-9558-4CDE-AD9A-C2588ECF5989}" presName="Name13" presStyleLbl="parChTrans1D2" presStyleIdx="3" presStyleCnt="14"/>
      <dgm:spPr/>
    </dgm:pt>
    <dgm:pt modelId="{4AB953DD-9255-4CBB-8D40-F31F8AF3B37F}" type="pres">
      <dgm:prSet presAssocID="{827EBC2F-E605-4CBC-A415-7B383872F375}" presName="childText" presStyleLbl="bgAcc1" presStyleIdx="3" presStyleCnt="14">
        <dgm:presLayoutVars>
          <dgm:bulletEnabled val="1"/>
        </dgm:presLayoutVars>
      </dgm:prSet>
      <dgm:spPr/>
    </dgm:pt>
    <dgm:pt modelId="{BD5AC325-B142-405C-A441-35DB37EF3366}" type="pres">
      <dgm:prSet presAssocID="{A1ED898E-D8E6-4ECB-ABE1-DCF2921F1DDC}" presName="Name13" presStyleLbl="parChTrans1D2" presStyleIdx="4" presStyleCnt="14"/>
      <dgm:spPr/>
    </dgm:pt>
    <dgm:pt modelId="{6BC297E6-32FF-43FE-9484-11C068631C8E}" type="pres">
      <dgm:prSet presAssocID="{689F25E4-DFCB-4F77-81F9-8AE45BDC6BDA}" presName="childText" presStyleLbl="bgAcc1" presStyleIdx="4" presStyleCnt="14">
        <dgm:presLayoutVars>
          <dgm:bulletEnabled val="1"/>
        </dgm:presLayoutVars>
      </dgm:prSet>
      <dgm:spPr/>
    </dgm:pt>
    <dgm:pt modelId="{E1DCAE9E-B9B8-4624-8ECD-2C7EA8E80706}" type="pres">
      <dgm:prSet presAssocID="{52343E4B-5FBF-4A73-93CB-7D8109FCA1E1}" presName="root" presStyleCnt="0"/>
      <dgm:spPr/>
    </dgm:pt>
    <dgm:pt modelId="{3C329755-4CE6-4383-AC21-1B569728ADD9}" type="pres">
      <dgm:prSet presAssocID="{52343E4B-5FBF-4A73-93CB-7D8109FCA1E1}" presName="rootComposite" presStyleCnt="0"/>
      <dgm:spPr/>
    </dgm:pt>
    <dgm:pt modelId="{EA5B50D5-6004-4645-8BD8-4C24F113EE0E}" type="pres">
      <dgm:prSet presAssocID="{52343E4B-5FBF-4A73-93CB-7D8109FCA1E1}" presName="rootText" presStyleLbl="node1" presStyleIdx="2" presStyleCnt="6"/>
      <dgm:spPr/>
    </dgm:pt>
    <dgm:pt modelId="{CBBBF01D-9BFF-4FFC-BBCF-9642B46C7E5F}" type="pres">
      <dgm:prSet presAssocID="{52343E4B-5FBF-4A73-93CB-7D8109FCA1E1}" presName="rootConnector" presStyleLbl="node1" presStyleIdx="2" presStyleCnt="6"/>
      <dgm:spPr/>
    </dgm:pt>
    <dgm:pt modelId="{17B81F54-D4A4-462D-9525-69AB1CD41A18}" type="pres">
      <dgm:prSet presAssocID="{52343E4B-5FBF-4A73-93CB-7D8109FCA1E1}" presName="childShape" presStyleCnt="0"/>
      <dgm:spPr/>
    </dgm:pt>
    <dgm:pt modelId="{4E4ADD72-DAD4-4F60-8F64-5A6D3FBC3915}" type="pres">
      <dgm:prSet presAssocID="{29012389-4699-414A-A8E6-50B6BF0B8782}" presName="Name13" presStyleLbl="parChTrans1D2" presStyleIdx="5" presStyleCnt="14"/>
      <dgm:spPr/>
    </dgm:pt>
    <dgm:pt modelId="{F7E61713-6C54-46D7-B059-C4A86BA6D520}" type="pres">
      <dgm:prSet presAssocID="{7857FCBB-3BD6-463D-AE97-33D109653B93}" presName="childText" presStyleLbl="bgAcc1" presStyleIdx="5" presStyleCnt="14">
        <dgm:presLayoutVars>
          <dgm:bulletEnabled val="1"/>
        </dgm:presLayoutVars>
      </dgm:prSet>
      <dgm:spPr/>
    </dgm:pt>
    <dgm:pt modelId="{EE186724-E42B-453F-A9A1-521E0456B9DD}" type="pres">
      <dgm:prSet presAssocID="{C85B5B89-9963-4FB1-BF97-0AA3CC9CD884}" presName="root" presStyleCnt="0"/>
      <dgm:spPr/>
    </dgm:pt>
    <dgm:pt modelId="{96572560-8BA7-483D-A3EA-371087B25F10}" type="pres">
      <dgm:prSet presAssocID="{C85B5B89-9963-4FB1-BF97-0AA3CC9CD884}" presName="rootComposite" presStyleCnt="0"/>
      <dgm:spPr/>
    </dgm:pt>
    <dgm:pt modelId="{B19713D4-6F8B-4904-880E-6A8C1D233301}" type="pres">
      <dgm:prSet presAssocID="{C85B5B89-9963-4FB1-BF97-0AA3CC9CD884}" presName="rootText" presStyleLbl="node1" presStyleIdx="3" presStyleCnt="6"/>
      <dgm:spPr/>
    </dgm:pt>
    <dgm:pt modelId="{4841C406-0C5B-487C-9833-C47D585AD416}" type="pres">
      <dgm:prSet presAssocID="{C85B5B89-9963-4FB1-BF97-0AA3CC9CD884}" presName="rootConnector" presStyleLbl="node1" presStyleIdx="3" presStyleCnt="6"/>
      <dgm:spPr/>
    </dgm:pt>
    <dgm:pt modelId="{1F66B4A2-98FD-41FD-8B00-42203F6C25F5}" type="pres">
      <dgm:prSet presAssocID="{C85B5B89-9963-4FB1-BF97-0AA3CC9CD884}" presName="childShape" presStyleCnt="0"/>
      <dgm:spPr/>
    </dgm:pt>
    <dgm:pt modelId="{0D03A389-F2F1-4CF1-B191-9CC310129554}" type="pres">
      <dgm:prSet presAssocID="{4F331024-5EFE-46B7-815D-596CDC0D2B51}" presName="Name13" presStyleLbl="parChTrans1D2" presStyleIdx="6" presStyleCnt="14"/>
      <dgm:spPr/>
    </dgm:pt>
    <dgm:pt modelId="{9B6B4D86-5979-47AC-ABB2-91A7DE63580A}" type="pres">
      <dgm:prSet presAssocID="{55D81C9B-10A4-4AE7-A1A1-84FDEA6B527E}" presName="childText" presStyleLbl="bgAcc1" presStyleIdx="6" presStyleCnt="14">
        <dgm:presLayoutVars>
          <dgm:bulletEnabled val="1"/>
        </dgm:presLayoutVars>
      </dgm:prSet>
      <dgm:spPr/>
    </dgm:pt>
    <dgm:pt modelId="{952EC48A-84A2-454C-ADAC-CEB33D1CEC52}" type="pres">
      <dgm:prSet presAssocID="{06CCD5F2-5302-4FB3-90A0-D4778B85228C}" presName="Name13" presStyleLbl="parChTrans1D2" presStyleIdx="7" presStyleCnt="14"/>
      <dgm:spPr/>
    </dgm:pt>
    <dgm:pt modelId="{F6173EB7-C15C-475F-B54D-A9FFEF077542}" type="pres">
      <dgm:prSet presAssocID="{EA21E6BA-C823-483B-9BE0-BC14C27B5C85}" presName="childText" presStyleLbl="bgAcc1" presStyleIdx="7" presStyleCnt="14">
        <dgm:presLayoutVars>
          <dgm:bulletEnabled val="1"/>
        </dgm:presLayoutVars>
      </dgm:prSet>
      <dgm:spPr/>
    </dgm:pt>
    <dgm:pt modelId="{147821A0-AF7A-47F0-8315-E5B11244FD02}" type="pres">
      <dgm:prSet presAssocID="{C691F29B-7793-4BD8-AC35-A1EFA5D82491}" presName="root" presStyleCnt="0"/>
      <dgm:spPr/>
    </dgm:pt>
    <dgm:pt modelId="{E84B31BC-471F-4BF8-BA46-F39C28C830F4}" type="pres">
      <dgm:prSet presAssocID="{C691F29B-7793-4BD8-AC35-A1EFA5D82491}" presName="rootComposite" presStyleCnt="0"/>
      <dgm:spPr/>
    </dgm:pt>
    <dgm:pt modelId="{A079D288-3628-4A19-A2CE-F3EE75E33498}" type="pres">
      <dgm:prSet presAssocID="{C691F29B-7793-4BD8-AC35-A1EFA5D82491}" presName="rootText" presStyleLbl="node1" presStyleIdx="4" presStyleCnt="6"/>
      <dgm:spPr/>
    </dgm:pt>
    <dgm:pt modelId="{3AAA49FE-D3F9-4186-BDD9-D2B25151450E}" type="pres">
      <dgm:prSet presAssocID="{C691F29B-7793-4BD8-AC35-A1EFA5D82491}" presName="rootConnector" presStyleLbl="node1" presStyleIdx="4" presStyleCnt="6"/>
      <dgm:spPr/>
    </dgm:pt>
    <dgm:pt modelId="{3776B655-97CF-4287-8833-8C1686474ECB}" type="pres">
      <dgm:prSet presAssocID="{C691F29B-7793-4BD8-AC35-A1EFA5D82491}" presName="childShape" presStyleCnt="0"/>
      <dgm:spPr/>
    </dgm:pt>
    <dgm:pt modelId="{DD2F1DAD-6D43-4F16-B02D-525F4474A98B}" type="pres">
      <dgm:prSet presAssocID="{2B98CA0B-1C55-4B03-9B31-5E76CC8A1FF2}" presName="Name13" presStyleLbl="parChTrans1D2" presStyleIdx="8" presStyleCnt="14"/>
      <dgm:spPr/>
    </dgm:pt>
    <dgm:pt modelId="{AD38A7C7-03B5-4405-9D7D-79D32E547CDD}" type="pres">
      <dgm:prSet presAssocID="{BEA070A7-C138-4C29-86EA-C6C18264DBEB}" presName="childText" presStyleLbl="bgAcc1" presStyleIdx="8" presStyleCnt="14">
        <dgm:presLayoutVars>
          <dgm:bulletEnabled val="1"/>
        </dgm:presLayoutVars>
      </dgm:prSet>
      <dgm:spPr/>
    </dgm:pt>
    <dgm:pt modelId="{5A346526-D9D6-4B53-AA05-8A5AF48D4616}" type="pres">
      <dgm:prSet presAssocID="{3886EAAB-2EAA-47AB-930B-E0ED36A6E141}" presName="Name13" presStyleLbl="parChTrans1D2" presStyleIdx="9" presStyleCnt="14"/>
      <dgm:spPr/>
    </dgm:pt>
    <dgm:pt modelId="{5B7EE9CA-C4BC-4694-81A7-FC420D437062}" type="pres">
      <dgm:prSet presAssocID="{FC9C962F-846A-4FEA-9AD1-F4E8B0EA7972}" presName="childText" presStyleLbl="bgAcc1" presStyleIdx="9" presStyleCnt="14">
        <dgm:presLayoutVars>
          <dgm:bulletEnabled val="1"/>
        </dgm:presLayoutVars>
      </dgm:prSet>
      <dgm:spPr/>
    </dgm:pt>
    <dgm:pt modelId="{EF44490C-041F-4F25-971D-9B4A80B51B1D}" type="pres">
      <dgm:prSet presAssocID="{E9F2D753-5D99-4A97-92FC-A4DE18D913BE}" presName="Name13" presStyleLbl="parChTrans1D2" presStyleIdx="10" presStyleCnt="14"/>
      <dgm:spPr/>
    </dgm:pt>
    <dgm:pt modelId="{A0AEB3D3-5144-4AE5-9769-424A61689AB2}" type="pres">
      <dgm:prSet presAssocID="{3AA0AFCB-C48D-4C3A-B75C-62E3FF16558C}" presName="childText" presStyleLbl="bgAcc1" presStyleIdx="10" presStyleCnt="14">
        <dgm:presLayoutVars>
          <dgm:bulletEnabled val="1"/>
        </dgm:presLayoutVars>
      </dgm:prSet>
      <dgm:spPr/>
    </dgm:pt>
    <dgm:pt modelId="{FCB67CDE-5137-452C-A16F-2EBF8DFFF7F2}" type="pres">
      <dgm:prSet presAssocID="{3493D087-A598-4608-BCAD-FFBE24AAF3FA}" presName="root" presStyleCnt="0"/>
      <dgm:spPr/>
    </dgm:pt>
    <dgm:pt modelId="{A08FA0A4-765A-4844-A2E0-1A66B4947DD3}" type="pres">
      <dgm:prSet presAssocID="{3493D087-A598-4608-BCAD-FFBE24AAF3FA}" presName="rootComposite" presStyleCnt="0"/>
      <dgm:spPr/>
    </dgm:pt>
    <dgm:pt modelId="{A146845C-FBF0-4ADF-B45A-543EAD011878}" type="pres">
      <dgm:prSet presAssocID="{3493D087-A598-4608-BCAD-FFBE24AAF3FA}" presName="rootText" presStyleLbl="node1" presStyleIdx="5" presStyleCnt="6"/>
      <dgm:spPr/>
    </dgm:pt>
    <dgm:pt modelId="{32EE6F3B-1CA7-4384-AD26-007EFC6ED34C}" type="pres">
      <dgm:prSet presAssocID="{3493D087-A598-4608-BCAD-FFBE24AAF3FA}" presName="rootConnector" presStyleLbl="node1" presStyleIdx="5" presStyleCnt="6"/>
      <dgm:spPr/>
    </dgm:pt>
    <dgm:pt modelId="{8D3E1DFA-7824-42E0-8CA5-A6A085C0FAC0}" type="pres">
      <dgm:prSet presAssocID="{3493D087-A598-4608-BCAD-FFBE24AAF3FA}" presName="childShape" presStyleCnt="0"/>
      <dgm:spPr/>
    </dgm:pt>
    <dgm:pt modelId="{16806B5B-27E4-4902-9563-1B5A68C2A7CD}" type="pres">
      <dgm:prSet presAssocID="{EC7C0FEF-FB22-420B-8C41-AAB71980C69D}" presName="Name13" presStyleLbl="parChTrans1D2" presStyleIdx="11" presStyleCnt="14"/>
      <dgm:spPr/>
    </dgm:pt>
    <dgm:pt modelId="{14F1610A-760D-4322-91BF-8FEE869608A6}" type="pres">
      <dgm:prSet presAssocID="{FD663092-A5EC-4930-8FA6-17E152BCFB01}" presName="childText" presStyleLbl="bgAcc1" presStyleIdx="11" presStyleCnt="14">
        <dgm:presLayoutVars>
          <dgm:bulletEnabled val="1"/>
        </dgm:presLayoutVars>
      </dgm:prSet>
      <dgm:spPr/>
    </dgm:pt>
    <dgm:pt modelId="{C137F783-0420-4714-93E1-CF61AB23FC10}" type="pres">
      <dgm:prSet presAssocID="{86D68112-71A2-4E4F-BE5E-15C6D1B604F6}" presName="Name13" presStyleLbl="parChTrans1D2" presStyleIdx="12" presStyleCnt="14"/>
      <dgm:spPr/>
    </dgm:pt>
    <dgm:pt modelId="{588EBCF1-B57B-4D0D-9D79-F075C36E79EE}" type="pres">
      <dgm:prSet presAssocID="{BCAAC812-9489-443E-99BF-7980C6A1BF5F}" presName="childText" presStyleLbl="bgAcc1" presStyleIdx="12" presStyleCnt="14">
        <dgm:presLayoutVars>
          <dgm:bulletEnabled val="1"/>
        </dgm:presLayoutVars>
      </dgm:prSet>
      <dgm:spPr/>
    </dgm:pt>
    <dgm:pt modelId="{AC2DCF2A-7379-4EE1-9C06-B837AB2C9147}" type="pres">
      <dgm:prSet presAssocID="{B7AE4476-6C30-47EC-B284-3617F7AB06BD}" presName="Name13" presStyleLbl="parChTrans1D2" presStyleIdx="13" presStyleCnt="14"/>
      <dgm:spPr/>
    </dgm:pt>
    <dgm:pt modelId="{B8EF321A-AC7D-437B-8649-BAA90F7E86EB}" type="pres">
      <dgm:prSet presAssocID="{9AB62408-FF18-4163-B57A-96E900C7B1DF}" presName="childText" presStyleLbl="bgAcc1" presStyleIdx="13" presStyleCnt="14">
        <dgm:presLayoutVars>
          <dgm:bulletEnabled val="1"/>
        </dgm:presLayoutVars>
      </dgm:prSet>
      <dgm:spPr/>
    </dgm:pt>
  </dgm:ptLst>
  <dgm:cxnLst>
    <dgm:cxn modelId="{C98ED802-5FE0-493B-A6D1-C3A5F536DBAD}" type="presOf" srcId="{BCAAC812-9489-443E-99BF-7980C6A1BF5F}" destId="{588EBCF1-B57B-4D0D-9D79-F075C36E79EE}" srcOrd="0" destOrd="0" presId="urn:microsoft.com/office/officeart/2005/8/layout/hierarchy3"/>
    <dgm:cxn modelId="{1B03410A-B948-4CFF-9AFA-B9C6A871A3C4}" srcId="{C85B5B89-9963-4FB1-BF97-0AA3CC9CD884}" destId="{55D81C9B-10A4-4AE7-A1A1-84FDEA6B527E}" srcOrd="0" destOrd="0" parTransId="{4F331024-5EFE-46B7-815D-596CDC0D2B51}" sibTransId="{DF2F8301-6BEB-4CAE-85AD-CF9CDA23E821}"/>
    <dgm:cxn modelId="{BAB3950C-A1AD-436E-9302-F50FC20A2DA0}" type="presOf" srcId="{52343E4B-5FBF-4A73-93CB-7D8109FCA1E1}" destId="{CBBBF01D-9BFF-4FFC-BBCF-9642B46C7E5F}" srcOrd="1" destOrd="0" presId="urn:microsoft.com/office/officeart/2005/8/layout/hierarchy3"/>
    <dgm:cxn modelId="{7A8DB513-A636-4809-98CF-8372DA7DFF59}" type="presOf" srcId="{3AA0AFCB-C48D-4C3A-B75C-62E3FF16558C}" destId="{A0AEB3D3-5144-4AE5-9769-424A61689AB2}" srcOrd="0" destOrd="0" presId="urn:microsoft.com/office/officeart/2005/8/layout/hierarchy3"/>
    <dgm:cxn modelId="{F628081B-6B26-4915-9873-EBBE40075376}" type="presOf" srcId="{9AB62408-FF18-4163-B57A-96E900C7B1DF}" destId="{B8EF321A-AC7D-437B-8649-BAA90F7E86EB}" srcOrd="0" destOrd="0" presId="urn:microsoft.com/office/officeart/2005/8/layout/hierarchy3"/>
    <dgm:cxn modelId="{DE164E22-750A-49FE-8A86-71574DC2C8FE}" type="presOf" srcId="{C85B5B89-9963-4FB1-BF97-0AA3CC9CD884}" destId="{B19713D4-6F8B-4904-880E-6A8C1D233301}" srcOrd="0" destOrd="0" presId="urn:microsoft.com/office/officeart/2005/8/layout/hierarchy3"/>
    <dgm:cxn modelId="{99097E25-CDDB-4D80-950F-5ED3B967AD21}" type="presOf" srcId="{EC7C0FEF-FB22-420B-8C41-AAB71980C69D}" destId="{16806B5B-27E4-4902-9563-1B5A68C2A7CD}" srcOrd="0" destOrd="0" presId="urn:microsoft.com/office/officeart/2005/8/layout/hierarchy3"/>
    <dgm:cxn modelId="{678F3C2B-F0E9-478E-8EAC-59FA006851B0}" type="presOf" srcId="{86D68112-71A2-4E4F-BE5E-15C6D1B604F6}" destId="{C137F783-0420-4714-93E1-CF61AB23FC10}" srcOrd="0" destOrd="0" presId="urn:microsoft.com/office/officeart/2005/8/layout/hierarchy3"/>
    <dgm:cxn modelId="{2840BE2C-E1DB-460C-955F-D31A7B5C4AFC}" type="presOf" srcId="{B7AE4476-6C30-47EC-B284-3617F7AB06BD}" destId="{AC2DCF2A-7379-4EE1-9C06-B837AB2C9147}" srcOrd="0" destOrd="0" presId="urn:microsoft.com/office/officeart/2005/8/layout/hierarchy3"/>
    <dgm:cxn modelId="{9C067030-F2BF-4C01-9863-41FA41827B19}" srcId="{C85B5B89-9963-4FB1-BF97-0AA3CC9CD884}" destId="{EA21E6BA-C823-483B-9BE0-BC14C27B5C85}" srcOrd="1" destOrd="0" parTransId="{06CCD5F2-5302-4FB3-90A0-D4778B85228C}" sibTransId="{A9C7A1E1-7B6F-4E36-B4A3-0B925E800D27}"/>
    <dgm:cxn modelId="{112B0231-8F90-4C36-95CB-CD423D496F16}" srcId="{47F03678-1F73-456E-A7C5-575F9A322FAE}" destId="{AE8EC26F-6AF3-47C3-9EF9-93245BC0080A}" srcOrd="1" destOrd="0" parTransId="{62EB0368-7F95-429A-925B-DDFF43303C80}" sibTransId="{3E9BBC43-9936-486D-8C1F-9C8C0203F815}"/>
    <dgm:cxn modelId="{91AB4B38-EBB4-43B6-95E0-6C735F92C665}" srcId="{0F5E8851-69D9-4F33-AA83-11110D7CC2AC}" destId="{FCB8E8F3-2E4B-43C7-8AFE-3DBB8162D886}" srcOrd="0" destOrd="0" parTransId="{FC05C497-8FC8-40FC-A5C6-4D430272783B}" sibTransId="{9BC8C802-A798-4225-868C-8CF5BF267CBE}"/>
    <dgm:cxn modelId="{CA922739-F564-4368-B206-CB76CFEE64DD}" type="presOf" srcId="{BEA070A7-C138-4C29-86EA-C6C18264DBEB}" destId="{AD38A7C7-03B5-4405-9D7D-79D32E547CDD}" srcOrd="0" destOrd="0" presId="urn:microsoft.com/office/officeart/2005/8/layout/hierarchy3"/>
    <dgm:cxn modelId="{BAF9293A-9675-49C7-9429-C77B2E4C4899}" srcId="{C691F29B-7793-4BD8-AC35-A1EFA5D82491}" destId="{FC9C962F-846A-4FEA-9AD1-F4E8B0EA7972}" srcOrd="1" destOrd="0" parTransId="{3886EAAB-2EAA-47AB-930B-E0ED36A6E141}" sibTransId="{7DA83958-1AE8-405D-98A7-0F158247423B}"/>
    <dgm:cxn modelId="{A06B5A3A-98E9-4F95-980D-7D72A591EA16}" srcId="{AE8EC26F-6AF3-47C3-9EF9-93245BC0080A}" destId="{827EBC2F-E605-4CBC-A415-7B383872F375}" srcOrd="0" destOrd="0" parTransId="{CA0636D3-9558-4CDE-AD9A-C2588ECF5989}" sibTransId="{A91F0CD8-71F5-4B0F-BB2A-C42BF72015F4}"/>
    <dgm:cxn modelId="{C8138740-7C46-479B-8A12-A93B1DB238A8}" type="presOf" srcId="{C85B5B89-9963-4FB1-BF97-0AA3CC9CD884}" destId="{4841C406-0C5B-487C-9833-C47D585AD416}" srcOrd="1" destOrd="0" presId="urn:microsoft.com/office/officeart/2005/8/layout/hierarchy3"/>
    <dgm:cxn modelId="{33A93460-5630-47FA-BFCD-C9E48CF295D1}" type="presOf" srcId="{55D81C9B-10A4-4AE7-A1A1-84FDEA6B527E}" destId="{9B6B4D86-5979-47AC-ABB2-91A7DE63580A}" srcOrd="0" destOrd="0" presId="urn:microsoft.com/office/officeart/2005/8/layout/hierarchy3"/>
    <dgm:cxn modelId="{5FFD9962-B076-479D-AC79-AB2EB8FFE7F2}" type="presOf" srcId="{3493D087-A598-4608-BCAD-FFBE24AAF3FA}" destId="{32EE6F3B-1CA7-4384-AD26-007EFC6ED34C}" srcOrd="1" destOrd="0" presId="urn:microsoft.com/office/officeart/2005/8/layout/hierarchy3"/>
    <dgm:cxn modelId="{62C08343-8C7A-4F13-B02C-A3CF1CE1B918}" srcId="{47F03678-1F73-456E-A7C5-575F9A322FAE}" destId="{C691F29B-7793-4BD8-AC35-A1EFA5D82491}" srcOrd="4" destOrd="0" parTransId="{791B7B34-0FB8-44B4-B102-42497A76207C}" sibTransId="{6A7D0D18-9B76-46A2-A848-BC555CEEE765}"/>
    <dgm:cxn modelId="{9CB84466-5554-4236-9A67-73A6FCE9DE2B}" type="presOf" srcId="{FC05C497-8FC8-40FC-A5C6-4D430272783B}" destId="{C4DC4DA8-9528-45D9-8C60-DDFC4209D534}" srcOrd="0" destOrd="0" presId="urn:microsoft.com/office/officeart/2005/8/layout/hierarchy3"/>
    <dgm:cxn modelId="{DBE63D48-A3CD-4A87-B3C2-DF5EAC52819A}" type="presOf" srcId="{FD663092-A5EC-4930-8FA6-17E152BCFB01}" destId="{14F1610A-760D-4322-91BF-8FEE869608A6}" srcOrd="0" destOrd="0" presId="urn:microsoft.com/office/officeart/2005/8/layout/hierarchy3"/>
    <dgm:cxn modelId="{C1DDE068-60EA-4F92-A111-12DA124E1FA5}" srcId="{AE8EC26F-6AF3-47C3-9EF9-93245BC0080A}" destId="{689F25E4-DFCB-4F77-81F9-8AE45BDC6BDA}" srcOrd="1" destOrd="0" parTransId="{A1ED898E-D8E6-4ECB-ABE1-DCF2921F1DDC}" sibTransId="{B0589DDF-B84C-4FCC-85C7-4A8C1B7ADD47}"/>
    <dgm:cxn modelId="{BC39256B-4801-4D4F-9298-D16736586E37}" type="presOf" srcId="{AE8EC26F-6AF3-47C3-9EF9-93245BC0080A}" destId="{44F734CB-583A-422A-8955-E023DB79F120}" srcOrd="0" destOrd="0" presId="urn:microsoft.com/office/officeart/2005/8/layout/hierarchy3"/>
    <dgm:cxn modelId="{B7EBA16D-FB29-47CD-B852-D125DC991014}" type="presOf" srcId="{43AE3B3B-9B75-40D7-976B-25240EA8A320}" destId="{CBEAB52E-BBD8-4103-A180-BFDA24CAFAB0}" srcOrd="0" destOrd="0" presId="urn:microsoft.com/office/officeart/2005/8/layout/hierarchy3"/>
    <dgm:cxn modelId="{2C49E86D-6BEE-4F45-98F7-38578B9B6A18}" type="presOf" srcId="{DB20BABF-F938-40B7-B14D-6AFB41B70A05}" destId="{8B4DECF4-9EEE-4645-9DA0-4AFD0EA74515}" srcOrd="0" destOrd="0" presId="urn:microsoft.com/office/officeart/2005/8/layout/hierarchy3"/>
    <dgm:cxn modelId="{409C6571-ED72-4EFA-9DBE-A5F2AB338B2E}" type="presOf" srcId="{C691F29B-7793-4BD8-AC35-A1EFA5D82491}" destId="{3AAA49FE-D3F9-4186-BDD9-D2B25151450E}" srcOrd="1" destOrd="0" presId="urn:microsoft.com/office/officeart/2005/8/layout/hierarchy3"/>
    <dgm:cxn modelId="{730B7F53-F232-4560-ABFE-4658D0DA7767}" type="presOf" srcId="{EA21E6BA-C823-483B-9BE0-BC14C27B5C85}" destId="{F6173EB7-C15C-475F-B54D-A9FFEF077542}" srcOrd="0" destOrd="0" presId="urn:microsoft.com/office/officeart/2005/8/layout/hierarchy3"/>
    <dgm:cxn modelId="{28D36056-1987-446E-AB0D-88D5F8F3065D}" srcId="{3493D087-A598-4608-BCAD-FFBE24AAF3FA}" destId="{FD663092-A5EC-4930-8FA6-17E152BCFB01}" srcOrd="0" destOrd="0" parTransId="{EC7C0FEF-FB22-420B-8C41-AAB71980C69D}" sibTransId="{08D6A8F1-5356-4125-AE7C-D4FA23030A2C}"/>
    <dgm:cxn modelId="{C655BD77-BFEF-4062-AC6D-6F0EBD1F29B8}" srcId="{C691F29B-7793-4BD8-AC35-A1EFA5D82491}" destId="{BEA070A7-C138-4C29-86EA-C6C18264DBEB}" srcOrd="0" destOrd="0" parTransId="{2B98CA0B-1C55-4B03-9B31-5E76CC8A1FF2}" sibTransId="{0D4A3477-D4D8-4FAA-A6AF-B46EE53B02C3}"/>
    <dgm:cxn modelId="{7E91CA5A-A0B9-4FB7-8AD8-6C0805618395}" type="presOf" srcId="{AE8EC26F-6AF3-47C3-9EF9-93245BC0080A}" destId="{52C239F3-8505-403C-B25F-A94F145A7BAE}" srcOrd="1" destOrd="0" presId="urn:microsoft.com/office/officeart/2005/8/layout/hierarchy3"/>
    <dgm:cxn modelId="{F78DAE7D-7773-4299-B3DB-5C1997378722}" srcId="{3493D087-A598-4608-BCAD-FFBE24AAF3FA}" destId="{9AB62408-FF18-4163-B57A-96E900C7B1DF}" srcOrd="2" destOrd="0" parTransId="{B7AE4476-6C30-47EC-B284-3617F7AB06BD}" sibTransId="{6433A32F-6B47-4556-BC90-945A0B749500}"/>
    <dgm:cxn modelId="{224B9C83-AC91-4E77-B4CF-81C4AAA08F1B}" srcId="{47F03678-1F73-456E-A7C5-575F9A322FAE}" destId="{52343E4B-5FBF-4A73-93CB-7D8109FCA1E1}" srcOrd="2" destOrd="0" parTransId="{8AD1A24A-F597-4CD4-B57C-BD6E63F4799B}" sibTransId="{8CB6ECF9-4AAA-4CA0-A3BB-947E79C4D3F8}"/>
    <dgm:cxn modelId="{F7504984-6043-439E-BDE2-A90DF9BEFAD9}" type="presOf" srcId="{06CCD5F2-5302-4FB3-90A0-D4778B85228C}" destId="{952EC48A-84A2-454C-ADAC-CEB33D1CEC52}" srcOrd="0" destOrd="0" presId="urn:microsoft.com/office/officeart/2005/8/layout/hierarchy3"/>
    <dgm:cxn modelId="{FA433087-200A-4785-9EA9-C60CE54F4E80}" srcId="{52343E4B-5FBF-4A73-93CB-7D8109FCA1E1}" destId="{7857FCBB-3BD6-463D-AE97-33D109653B93}" srcOrd="0" destOrd="0" parTransId="{29012389-4699-414A-A8E6-50B6BF0B8782}" sibTransId="{951B94F5-0F18-4F67-ACDB-089099FA3228}"/>
    <dgm:cxn modelId="{3A9CB78F-FCCC-4E1D-82A0-DC91DF7B8E61}" srcId="{0F5E8851-69D9-4F33-AA83-11110D7CC2AC}" destId="{37B062CD-C837-455D-9426-39782057B9A6}" srcOrd="2" destOrd="0" parTransId="{DB20BABF-F938-40B7-B14D-6AFB41B70A05}" sibTransId="{5402019F-E4E4-4925-9F51-75C6DA3550D0}"/>
    <dgm:cxn modelId="{99ED6692-CB39-4A2E-8C4F-A06D0F537212}" type="presOf" srcId="{FC9C962F-846A-4FEA-9AD1-F4E8B0EA7972}" destId="{5B7EE9CA-C4BC-4694-81A7-FC420D437062}" srcOrd="0" destOrd="0" presId="urn:microsoft.com/office/officeart/2005/8/layout/hierarchy3"/>
    <dgm:cxn modelId="{BD935C94-33DB-48F3-97C2-B705231576E5}" type="presOf" srcId="{E9F2D753-5D99-4A97-92FC-A4DE18D913BE}" destId="{EF44490C-041F-4F25-971D-9B4A80B51B1D}" srcOrd="0" destOrd="0" presId="urn:microsoft.com/office/officeart/2005/8/layout/hierarchy3"/>
    <dgm:cxn modelId="{E86BE595-7A0A-4E86-B568-B55BB3D256EB}" type="presOf" srcId="{47F03678-1F73-456E-A7C5-575F9A322FAE}" destId="{E5FFB249-6867-45AC-86B5-EA9507BFC89E}" srcOrd="0" destOrd="0" presId="urn:microsoft.com/office/officeart/2005/8/layout/hierarchy3"/>
    <dgm:cxn modelId="{4EB07A9A-B8A5-4DEB-AC32-FDDBE5458421}" type="presOf" srcId="{FCB8E8F3-2E4B-43C7-8AFE-3DBB8162D886}" destId="{E3A6CBCB-12B6-42B6-93C5-B7DF446F626C}" srcOrd="0" destOrd="0" presId="urn:microsoft.com/office/officeart/2005/8/layout/hierarchy3"/>
    <dgm:cxn modelId="{7EFFA99C-BADD-48F7-962C-E090EC138A1F}" type="presOf" srcId="{3493D087-A598-4608-BCAD-FFBE24AAF3FA}" destId="{A146845C-FBF0-4ADF-B45A-543EAD011878}" srcOrd="0" destOrd="0" presId="urn:microsoft.com/office/officeart/2005/8/layout/hierarchy3"/>
    <dgm:cxn modelId="{389C859F-9FF9-4D27-A9AC-3A37953DB8FD}" srcId="{0F5E8851-69D9-4F33-AA83-11110D7CC2AC}" destId="{142A05BE-C842-40C1-B9B0-8DD96764FB1B}" srcOrd="1" destOrd="0" parTransId="{43AE3B3B-9B75-40D7-976B-25240EA8A320}" sibTransId="{39DA8D4F-5C96-4221-9526-8CDE1B72E52C}"/>
    <dgm:cxn modelId="{4517A29F-2324-4EAA-8CEB-158DEA9148A1}" type="presOf" srcId="{142A05BE-C842-40C1-B9B0-8DD96764FB1B}" destId="{2F242671-C90C-4CB0-90F0-F27EFA3EB881}" srcOrd="0" destOrd="0" presId="urn:microsoft.com/office/officeart/2005/8/layout/hierarchy3"/>
    <dgm:cxn modelId="{2D113CB2-284B-432D-865E-05A4F4799661}" srcId="{3493D087-A598-4608-BCAD-FFBE24AAF3FA}" destId="{BCAAC812-9489-443E-99BF-7980C6A1BF5F}" srcOrd="1" destOrd="0" parTransId="{86D68112-71A2-4E4F-BE5E-15C6D1B604F6}" sibTransId="{6FE50A96-BA39-4EDB-A197-63952478A33C}"/>
    <dgm:cxn modelId="{DCFBA7B8-F671-4B03-8F7A-57A58F74E144}" srcId="{47F03678-1F73-456E-A7C5-575F9A322FAE}" destId="{0F5E8851-69D9-4F33-AA83-11110D7CC2AC}" srcOrd="0" destOrd="0" parTransId="{71F7343E-3E5A-4295-B455-91D37B2A93F4}" sibTransId="{2477CD4F-35CE-48D9-9EC1-8BC20518349F}"/>
    <dgm:cxn modelId="{F3414EB9-9E9D-41F6-A52E-00309FDE3405}" type="presOf" srcId="{37B062CD-C837-455D-9426-39782057B9A6}" destId="{B7D9266B-E215-48B5-8EB6-F385B986D5A4}" srcOrd="0" destOrd="0" presId="urn:microsoft.com/office/officeart/2005/8/layout/hierarchy3"/>
    <dgm:cxn modelId="{6D5599BB-C7EF-4CE8-B60D-3B062F4BED8B}" type="presOf" srcId="{2B98CA0B-1C55-4B03-9B31-5E76CC8A1FF2}" destId="{DD2F1DAD-6D43-4F16-B02D-525F4474A98B}" srcOrd="0" destOrd="0" presId="urn:microsoft.com/office/officeart/2005/8/layout/hierarchy3"/>
    <dgm:cxn modelId="{A1217FCC-370F-4176-9FEA-6B313099DED6}" type="presOf" srcId="{3886EAAB-2EAA-47AB-930B-E0ED36A6E141}" destId="{5A346526-D9D6-4B53-AA05-8A5AF48D4616}" srcOrd="0" destOrd="0" presId="urn:microsoft.com/office/officeart/2005/8/layout/hierarchy3"/>
    <dgm:cxn modelId="{C8BC96D6-8397-469C-BC4D-847DD82DE6D4}" srcId="{47F03678-1F73-456E-A7C5-575F9A322FAE}" destId="{C85B5B89-9963-4FB1-BF97-0AA3CC9CD884}" srcOrd="3" destOrd="0" parTransId="{567ECC1C-4DE5-4FB6-9091-7C46A64674B2}" sibTransId="{CF5EC01E-609A-41D1-A2B5-F4199BE824D8}"/>
    <dgm:cxn modelId="{14319AD7-9D86-4753-9025-59609B26A61A}" type="presOf" srcId="{CA0636D3-9558-4CDE-AD9A-C2588ECF5989}" destId="{1687454A-C765-4DD6-8C6F-AE3C32BABFA7}" srcOrd="0" destOrd="0" presId="urn:microsoft.com/office/officeart/2005/8/layout/hierarchy3"/>
    <dgm:cxn modelId="{5FEC15D9-534F-448F-B8E8-F8FB927E3A4C}" type="presOf" srcId="{7857FCBB-3BD6-463D-AE97-33D109653B93}" destId="{F7E61713-6C54-46D7-B059-C4A86BA6D520}" srcOrd="0" destOrd="0" presId="urn:microsoft.com/office/officeart/2005/8/layout/hierarchy3"/>
    <dgm:cxn modelId="{4A0011DB-9B07-4816-9FCA-05A3B3B2D3D7}" type="presOf" srcId="{0F5E8851-69D9-4F33-AA83-11110D7CC2AC}" destId="{38CEF8C0-CCCD-4740-A1B1-83BFD1043FE2}" srcOrd="0" destOrd="0" presId="urn:microsoft.com/office/officeart/2005/8/layout/hierarchy3"/>
    <dgm:cxn modelId="{294D99E0-DB3F-4F84-B974-BB2085AD88BA}" type="presOf" srcId="{29012389-4699-414A-A8E6-50B6BF0B8782}" destId="{4E4ADD72-DAD4-4F60-8F64-5A6D3FBC3915}" srcOrd="0" destOrd="0" presId="urn:microsoft.com/office/officeart/2005/8/layout/hierarchy3"/>
    <dgm:cxn modelId="{FDDCC0E3-6DDD-4F07-A2EB-861837910ADE}" type="presOf" srcId="{689F25E4-DFCB-4F77-81F9-8AE45BDC6BDA}" destId="{6BC297E6-32FF-43FE-9484-11C068631C8E}" srcOrd="0" destOrd="0" presId="urn:microsoft.com/office/officeart/2005/8/layout/hierarchy3"/>
    <dgm:cxn modelId="{9093A4E6-7F97-44CA-B9CA-A06AED6476D4}" type="presOf" srcId="{0F5E8851-69D9-4F33-AA83-11110D7CC2AC}" destId="{0C5D9BA1-D82A-41D3-90D3-F55FD48DE2C1}" srcOrd="1" destOrd="0" presId="urn:microsoft.com/office/officeart/2005/8/layout/hierarchy3"/>
    <dgm:cxn modelId="{EB2151EB-3AAB-4ECF-81FD-80B24F8D579E}" type="presOf" srcId="{52343E4B-5FBF-4A73-93CB-7D8109FCA1E1}" destId="{EA5B50D5-6004-4645-8BD8-4C24F113EE0E}" srcOrd="0" destOrd="0" presId="urn:microsoft.com/office/officeart/2005/8/layout/hierarchy3"/>
    <dgm:cxn modelId="{871200F1-109B-4616-88F7-C40DF792382F}" srcId="{47F03678-1F73-456E-A7C5-575F9A322FAE}" destId="{3493D087-A598-4608-BCAD-FFBE24AAF3FA}" srcOrd="5" destOrd="0" parTransId="{57654699-D9B5-4E94-9174-3036DA3D8C8F}" sibTransId="{692E6E10-C62B-4D14-A8C3-EC3A986E24C2}"/>
    <dgm:cxn modelId="{41B80BF5-7A75-4A51-A48C-C87E5C0EA10D}" type="presOf" srcId="{4F331024-5EFE-46B7-815D-596CDC0D2B51}" destId="{0D03A389-F2F1-4CF1-B191-9CC310129554}" srcOrd="0" destOrd="0" presId="urn:microsoft.com/office/officeart/2005/8/layout/hierarchy3"/>
    <dgm:cxn modelId="{40394AF8-3DB1-4CE8-BC9E-419CAA13E1BD}" type="presOf" srcId="{C691F29B-7793-4BD8-AC35-A1EFA5D82491}" destId="{A079D288-3628-4A19-A2CE-F3EE75E33498}" srcOrd="0" destOrd="0" presId="urn:microsoft.com/office/officeart/2005/8/layout/hierarchy3"/>
    <dgm:cxn modelId="{8B579FF8-2190-450F-839F-ED9B7381E520}" type="presOf" srcId="{A1ED898E-D8E6-4ECB-ABE1-DCF2921F1DDC}" destId="{BD5AC325-B142-405C-A441-35DB37EF3366}" srcOrd="0" destOrd="0" presId="urn:microsoft.com/office/officeart/2005/8/layout/hierarchy3"/>
    <dgm:cxn modelId="{D994D4F9-474F-4C5E-B11B-46242953D508}" srcId="{C691F29B-7793-4BD8-AC35-A1EFA5D82491}" destId="{3AA0AFCB-C48D-4C3A-B75C-62E3FF16558C}" srcOrd="2" destOrd="0" parTransId="{E9F2D753-5D99-4A97-92FC-A4DE18D913BE}" sibTransId="{609D5BE2-66DC-4121-9D6D-1D9EE077D728}"/>
    <dgm:cxn modelId="{A3F6A6FC-5CF9-4325-A761-7325C0F7D290}" type="presOf" srcId="{827EBC2F-E605-4CBC-A415-7B383872F375}" destId="{4AB953DD-9255-4CBB-8D40-F31F8AF3B37F}" srcOrd="0" destOrd="0" presId="urn:microsoft.com/office/officeart/2005/8/layout/hierarchy3"/>
    <dgm:cxn modelId="{87ECCA3B-1E7B-491F-834B-4C1128468193}" type="presParOf" srcId="{E5FFB249-6867-45AC-86B5-EA9507BFC89E}" destId="{C9CF7F98-7D93-4985-9F47-E2D27D3D9153}" srcOrd="0" destOrd="0" presId="urn:microsoft.com/office/officeart/2005/8/layout/hierarchy3"/>
    <dgm:cxn modelId="{72025644-C8E2-4225-8906-10F18E146D3F}" type="presParOf" srcId="{C9CF7F98-7D93-4985-9F47-E2D27D3D9153}" destId="{BC166AFD-F9AD-490B-9A6D-5DE091E440C3}" srcOrd="0" destOrd="0" presId="urn:microsoft.com/office/officeart/2005/8/layout/hierarchy3"/>
    <dgm:cxn modelId="{DA07581E-594A-4BCA-A312-92625A8330A8}" type="presParOf" srcId="{BC166AFD-F9AD-490B-9A6D-5DE091E440C3}" destId="{38CEF8C0-CCCD-4740-A1B1-83BFD1043FE2}" srcOrd="0" destOrd="0" presId="urn:microsoft.com/office/officeart/2005/8/layout/hierarchy3"/>
    <dgm:cxn modelId="{3269FB46-61E3-4E7F-86FC-C7F07429A888}" type="presParOf" srcId="{BC166AFD-F9AD-490B-9A6D-5DE091E440C3}" destId="{0C5D9BA1-D82A-41D3-90D3-F55FD48DE2C1}" srcOrd="1" destOrd="0" presId="urn:microsoft.com/office/officeart/2005/8/layout/hierarchy3"/>
    <dgm:cxn modelId="{F3C9EA3B-0F30-48E5-8A5C-86DB99E519AE}" type="presParOf" srcId="{C9CF7F98-7D93-4985-9F47-E2D27D3D9153}" destId="{EEA9FFCA-4E2F-4527-86B7-5437D88CE642}" srcOrd="1" destOrd="0" presId="urn:microsoft.com/office/officeart/2005/8/layout/hierarchy3"/>
    <dgm:cxn modelId="{3800D407-5A1F-46C2-BA9C-CB6F3A4DF901}" type="presParOf" srcId="{EEA9FFCA-4E2F-4527-86B7-5437D88CE642}" destId="{C4DC4DA8-9528-45D9-8C60-DDFC4209D534}" srcOrd="0" destOrd="0" presId="urn:microsoft.com/office/officeart/2005/8/layout/hierarchy3"/>
    <dgm:cxn modelId="{DCD7FA4E-B933-4BE2-8068-8A46A944B709}" type="presParOf" srcId="{EEA9FFCA-4E2F-4527-86B7-5437D88CE642}" destId="{E3A6CBCB-12B6-42B6-93C5-B7DF446F626C}" srcOrd="1" destOrd="0" presId="urn:microsoft.com/office/officeart/2005/8/layout/hierarchy3"/>
    <dgm:cxn modelId="{7DC50449-B653-45EC-AC68-CD79319976B6}" type="presParOf" srcId="{EEA9FFCA-4E2F-4527-86B7-5437D88CE642}" destId="{CBEAB52E-BBD8-4103-A180-BFDA24CAFAB0}" srcOrd="2" destOrd="0" presId="urn:microsoft.com/office/officeart/2005/8/layout/hierarchy3"/>
    <dgm:cxn modelId="{51DC9FCA-8E04-497D-A34C-08544B1E3AC3}" type="presParOf" srcId="{EEA9FFCA-4E2F-4527-86B7-5437D88CE642}" destId="{2F242671-C90C-4CB0-90F0-F27EFA3EB881}" srcOrd="3" destOrd="0" presId="urn:microsoft.com/office/officeart/2005/8/layout/hierarchy3"/>
    <dgm:cxn modelId="{D828EB9D-E7B1-422D-88D7-8151DA792227}" type="presParOf" srcId="{EEA9FFCA-4E2F-4527-86B7-5437D88CE642}" destId="{8B4DECF4-9EEE-4645-9DA0-4AFD0EA74515}" srcOrd="4" destOrd="0" presId="urn:microsoft.com/office/officeart/2005/8/layout/hierarchy3"/>
    <dgm:cxn modelId="{A1CAE03F-BA45-4884-A57A-466FFFE31FC6}" type="presParOf" srcId="{EEA9FFCA-4E2F-4527-86B7-5437D88CE642}" destId="{B7D9266B-E215-48B5-8EB6-F385B986D5A4}" srcOrd="5" destOrd="0" presId="urn:microsoft.com/office/officeart/2005/8/layout/hierarchy3"/>
    <dgm:cxn modelId="{E564F068-6A9A-48CE-BAD7-B054C588191A}" type="presParOf" srcId="{E5FFB249-6867-45AC-86B5-EA9507BFC89E}" destId="{C3ABB016-2F7E-4035-9FD0-30B6C1A5D7EB}" srcOrd="1" destOrd="0" presId="urn:microsoft.com/office/officeart/2005/8/layout/hierarchy3"/>
    <dgm:cxn modelId="{939AFC5C-7E17-4481-B61B-C13D981371B6}" type="presParOf" srcId="{C3ABB016-2F7E-4035-9FD0-30B6C1A5D7EB}" destId="{2E6C63D1-BF1F-4AD1-A8D6-0044F4FF5ADE}" srcOrd="0" destOrd="0" presId="urn:microsoft.com/office/officeart/2005/8/layout/hierarchy3"/>
    <dgm:cxn modelId="{A8B91FB4-E510-4CCF-8F22-8687D875413B}" type="presParOf" srcId="{2E6C63D1-BF1F-4AD1-A8D6-0044F4FF5ADE}" destId="{44F734CB-583A-422A-8955-E023DB79F120}" srcOrd="0" destOrd="0" presId="urn:microsoft.com/office/officeart/2005/8/layout/hierarchy3"/>
    <dgm:cxn modelId="{EA81C1F4-9B42-418A-92BC-E6D7DEF83FA3}" type="presParOf" srcId="{2E6C63D1-BF1F-4AD1-A8D6-0044F4FF5ADE}" destId="{52C239F3-8505-403C-B25F-A94F145A7BAE}" srcOrd="1" destOrd="0" presId="urn:microsoft.com/office/officeart/2005/8/layout/hierarchy3"/>
    <dgm:cxn modelId="{47E7A132-8BBF-41D2-B2CB-C481C0E1B27C}" type="presParOf" srcId="{C3ABB016-2F7E-4035-9FD0-30B6C1A5D7EB}" destId="{9A75F1B8-806B-42EF-B140-B161209B28D7}" srcOrd="1" destOrd="0" presId="urn:microsoft.com/office/officeart/2005/8/layout/hierarchy3"/>
    <dgm:cxn modelId="{A6FEE7C8-D976-47AF-846A-0E615C0B8594}" type="presParOf" srcId="{9A75F1B8-806B-42EF-B140-B161209B28D7}" destId="{1687454A-C765-4DD6-8C6F-AE3C32BABFA7}" srcOrd="0" destOrd="0" presId="urn:microsoft.com/office/officeart/2005/8/layout/hierarchy3"/>
    <dgm:cxn modelId="{1C250529-5246-43B1-888A-57B2BEF0093D}" type="presParOf" srcId="{9A75F1B8-806B-42EF-B140-B161209B28D7}" destId="{4AB953DD-9255-4CBB-8D40-F31F8AF3B37F}" srcOrd="1" destOrd="0" presId="urn:microsoft.com/office/officeart/2005/8/layout/hierarchy3"/>
    <dgm:cxn modelId="{C01E1FEF-91C4-4A0C-A22C-B09CB225A5E9}" type="presParOf" srcId="{9A75F1B8-806B-42EF-B140-B161209B28D7}" destId="{BD5AC325-B142-405C-A441-35DB37EF3366}" srcOrd="2" destOrd="0" presId="urn:microsoft.com/office/officeart/2005/8/layout/hierarchy3"/>
    <dgm:cxn modelId="{042CCC2B-4197-4E2B-B0D6-2519C823E4FD}" type="presParOf" srcId="{9A75F1B8-806B-42EF-B140-B161209B28D7}" destId="{6BC297E6-32FF-43FE-9484-11C068631C8E}" srcOrd="3" destOrd="0" presId="urn:microsoft.com/office/officeart/2005/8/layout/hierarchy3"/>
    <dgm:cxn modelId="{AF7DF08D-CC1D-45BF-8601-E75F0A328929}" type="presParOf" srcId="{E5FFB249-6867-45AC-86B5-EA9507BFC89E}" destId="{E1DCAE9E-B9B8-4624-8ECD-2C7EA8E80706}" srcOrd="2" destOrd="0" presId="urn:microsoft.com/office/officeart/2005/8/layout/hierarchy3"/>
    <dgm:cxn modelId="{523F66FB-75FC-4BBD-AB44-518D9247D492}" type="presParOf" srcId="{E1DCAE9E-B9B8-4624-8ECD-2C7EA8E80706}" destId="{3C329755-4CE6-4383-AC21-1B569728ADD9}" srcOrd="0" destOrd="0" presId="urn:microsoft.com/office/officeart/2005/8/layout/hierarchy3"/>
    <dgm:cxn modelId="{E61A0383-CDE8-44ED-97A2-265BD1BB1658}" type="presParOf" srcId="{3C329755-4CE6-4383-AC21-1B569728ADD9}" destId="{EA5B50D5-6004-4645-8BD8-4C24F113EE0E}" srcOrd="0" destOrd="0" presId="urn:microsoft.com/office/officeart/2005/8/layout/hierarchy3"/>
    <dgm:cxn modelId="{86E099D3-B2D1-45D7-A12C-8D97EEE2B85B}" type="presParOf" srcId="{3C329755-4CE6-4383-AC21-1B569728ADD9}" destId="{CBBBF01D-9BFF-4FFC-BBCF-9642B46C7E5F}" srcOrd="1" destOrd="0" presId="urn:microsoft.com/office/officeart/2005/8/layout/hierarchy3"/>
    <dgm:cxn modelId="{2CF0036D-52E3-4468-8D64-367A49A94E9B}" type="presParOf" srcId="{E1DCAE9E-B9B8-4624-8ECD-2C7EA8E80706}" destId="{17B81F54-D4A4-462D-9525-69AB1CD41A18}" srcOrd="1" destOrd="0" presId="urn:microsoft.com/office/officeart/2005/8/layout/hierarchy3"/>
    <dgm:cxn modelId="{703CDFB5-B5AC-4D90-9A7C-A66DFD59FD31}" type="presParOf" srcId="{17B81F54-D4A4-462D-9525-69AB1CD41A18}" destId="{4E4ADD72-DAD4-4F60-8F64-5A6D3FBC3915}" srcOrd="0" destOrd="0" presId="urn:microsoft.com/office/officeart/2005/8/layout/hierarchy3"/>
    <dgm:cxn modelId="{21C97EB6-84F7-42E6-886D-2F682468A2BA}" type="presParOf" srcId="{17B81F54-D4A4-462D-9525-69AB1CD41A18}" destId="{F7E61713-6C54-46D7-B059-C4A86BA6D520}" srcOrd="1" destOrd="0" presId="urn:microsoft.com/office/officeart/2005/8/layout/hierarchy3"/>
    <dgm:cxn modelId="{6EDD70AB-CA33-483B-B71A-3CA8F72B5DD2}" type="presParOf" srcId="{E5FFB249-6867-45AC-86B5-EA9507BFC89E}" destId="{EE186724-E42B-453F-A9A1-521E0456B9DD}" srcOrd="3" destOrd="0" presId="urn:microsoft.com/office/officeart/2005/8/layout/hierarchy3"/>
    <dgm:cxn modelId="{FD8A1DDD-2378-4C6A-A09B-BF5F2A952217}" type="presParOf" srcId="{EE186724-E42B-453F-A9A1-521E0456B9DD}" destId="{96572560-8BA7-483D-A3EA-371087B25F10}" srcOrd="0" destOrd="0" presId="urn:microsoft.com/office/officeart/2005/8/layout/hierarchy3"/>
    <dgm:cxn modelId="{68793A7C-209F-4FCE-9D07-4522CE92B205}" type="presParOf" srcId="{96572560-8BA7-483D-A3EA-371087B25F10}" destId="{B19713D4-6F8B-4904-880E-6A8C1D233301}" srcOrd="0" destOrd="0" presId="urn:microsoft.com/office/officeart/2005/8/layout/hierarchy3"/>
    <dgm:cxn modelId="{5655F60C-D355-4DAA-B3A8-750D87F01856}" type="presParOf" srcId="{96572560-8BA7-483D-A3EA-371087B25F10}" destId="{4841C406-0C5B-487C-9833-C47D585AD416}" srcOrd="1" destOrd="0" presId="urn:microsoft.com/office/officeart/2005/8/layout/hierarchy3"/>
    <dgm:cxn modelId="{D948404C-E155-4257-87AC-74D61B8BCF98}" type="presParOf" srcId="{EE186724-E42B-453F-A9A1-521E0456B9DD}" destId="{1F66B4A2-98FD-41FD-8B00-42203F6C25F5}" srcOrd="1" destOrd="0" presId="urn:microsoft.com/office/officeart/2005/8/layout/hierarchy3"/>
    <dgm:cxn modelId="{07D04C4C-9583-4A28-890B-2E519D5DC7B9}" type="presParOf" srcId="{1F66B4A2-98FD-41FD-8B00-42203F6C25F5}" destId="{0D03A389-F2F1-4CF1-B191-9CC310129554}" srcOrd="0" destOrd="0" presId="urn:microsoft.com/office/officeart/2005/8/layout/hierarchy3"/>
    <dgm:cxn modelId="{544DB86F-2213-4827-AFC9-C150FE1E0DDB}" type="presParOf" srcId="{1F66B4A2-98FD-41FD-8B00-42203F6C25F5}" destId="{9B6B4D86-5979-47AC-ABB2-91A7DE63580A}" srcOrd="1" destOrd="0" presId="urn:microsoft.com/office/officeart/2005/8/layout/hierarchy3"/>
    <dgm:cxn modelId="{301A0CDA-07AA-434E-8295-A6AE5B6CF681}" type="presParOf" srcId="{1F66B4A2-98FD-41FD-8B00-42203F6C25F5}" destId="{952EC48A-84A2-454C-ADAC-CEB33D1CEC52}" srcOrd="2" destOrd="0" presId="urn:microsoft.com/office/officeart/2005/8/layout/hierarchy3"/>
    <dgm:cxn modelId="{EE58D07A-6D1F-4CAA-86C6-818E05355857}" type="presParOf" srcId="{1F66B4A2-98FD-41FD-8B00-42203F6C25F5}" destId="{F6173EB7-C15C-475F-B54D-A9FFEF077542}" srcOrd="3" destOrd="0" presId="urn:microsoft.com/office/officeart/2005/8/layout/hierarchy3"/>
    <dgm:cxn modelId="{775F274C-3062-402A-A6BF-F76AE32C5FDF}" type="presParOf" srcId="{E5FFB249-6867-45AC-86B5-EA9507BFC89E}" destId="{147821A0-AF7A-47F0-8315-E5B11244FD02}" srcOrd="4" destOrd="0" presId="urn:microsoft.com/office/officeart/2005/8/layout/hierarchy3"/>
    <dgm:cxn modelId="{278AC0ED-7387-4E65-B81C-35DA1DA8147A}" type="presParOf" srcId="{147821A0-AF7A-47F0-8315-E5B11244FD02}" destId="{E84B31BC-471F-4BF8-BA46-F39C28C830F4}" srcOrd="0" destOrd="0" presId="urn:microsoft.com/office/officeart/2005/8/layout/hierarchy3"/>
    <dgm:cxn modelId="{70940D6C-7D0E-4565-A7A3-9D56905DD8AF}" type="presParOf" srcId="{E84B31BC-471F-4BF8-BA46-F39C28C830F4}" destId="{A079D288-3628-4A19-A2CE-F3EE75E33498}" srcOrd="0" destOrd="0" presId="urn:microsoft.com/office/officeart/2005/8/layout/hierarchy3"/>
    <dgm:cxn modelId="{2847EEC3-F040-45A4-82CE-64B60A299416}" type="presParOf" srcId="{E84B31BC-471F-4BF8-BA46-F39C28C830F4}" destId="{3AAA49FE-D3F9-4186-BDD9-D2B25151450E}" srcOrd="1" destOrd="0" presId="urn:microsoft.com/office/officeart/2005/8/layout/hierarchy3"/>
    <dgm:cxn modelId="{2474217E-B7B7-4F47-A717-72EDF3D11D85}" type="presParOf" srcId="{147821A0-AF7A-47F0-8315-E5B11244FD02}" destId="{3776B655-97CF-4287-8833-8C1686474ECB}" srcOrd="1" destOrd="0" presId="urn:microsoft.com/office/officeart/2005/8/layout/hierarchy3"/>
    <dgm:cxn modelId="{8D8A0060-0F78-40FF-BFD8-EDF645E305AA}" type="presParOf" srcId="{3776B655-97CF-4287-8833-8C1686474ECB}" destId="{DD2F1DAD-6D43-4F16-B02D-525F4474A98B}" srcOrd="0" destOrd="0" presId="urn:microsoft.com/office/officeart/2005/8/layout/hierarchy3"/>
    <dgm:cxn modelId="{5A086280-A406-48A0-AA6E-7EB2C1B6CAB8}" type="presParOf" srcId="{3776B655-97CF-4287-8833-8C1686474ECB}" destId="{AD38A7C7-03B5-4405-9D7D-79D32E547CDD}" srcOrd="1" destOrd="0" presId="urn:microsoft.com/office/officeart/2005/8/layout/hierarchy3"/>
    <dgm:cxn modelId="{69E6F44E-41C5-44AA-8B32-EE1AA7DB4207}" type="presParOf" srcId="{3776B655-97CF-4287-8833-8C1686474ECB}" destId="{5A346526-D9D6-4B53-AA05-8A5AF48D4616}" srcOrd="2" destOrd="0" presId="urn:microsoft.com/office/officeart/2005/8/layout/hierarchy3"/>
    <dgm:cxn modelId="{4E5D16F1-AA0F-486F-B825-A7F625A482AA}" type="presParOf" srcId="{3776B655-97CF-4287-8833-8C1686474ECB}" destId="{5B7EE9CA-C4BC-4694-81A7-FC420D437062}" srcOrd="3" destOrd="0" presId="urn:microsoft.com/office/officeart/2005/8/layout/hierarchy3"/>
    <dgm:cxn modelId="{8AC08D95-B403-4A28-BC73-F6FD14D0AB29}" type="presParOf" srcId="{3776B655-97CF-4287-8833-8C1686474ECB}" destId="{EF44490C-041F-4F25-971D-9B4A80B51B1D}" srcOrd="4" destOrd="0" presId="urn:microsoft.com/office/officeart/2005/8/layout/hierarchy3"/>
    <dgm:cxn modelId="{1585093D-00D1-4CB2-A1A6-0532D0E54672}" type="presParOf" srcId="{3776B655-97CF-4287-8833-8C1686474ECB}" destId="{A0AEB3D3-5144-4AE5-9769-424A61689AB2}" srcOrd="5" destOrd="0" presId="urn:microsoft.com/office/officeart/2005/8/layout/hierarchy3"/>
    <dgm:cxn modelId="{88ED351D-B350-4143-824D-C82D2B593738}" type="presParOf" srcId="{E5FFB249-6867-45AC-86B5-EA9507BFC89E}" destId="{FCB67CDE-5137-452C-A16F-2EBF8DFFF7F2}" srcOrd="5" destOrd="0" presId="urn:microsoft.com/office/officeart/2005/8/layout/hierarchy3"/>
    <dgm:cxn modelId="{31400EE4-2A88-4BE9-A452-C5542239C138}" type="presParOf" srcId="{FCB67CDE-5137-452C-A16F-2EBF8DFFF7F2}" destId="{A08FA0A4-765A-4844-A2E0-1A66B4947DD3}" srcOrd="0" destOrd="0" presId="urn:microsoft.com/office/officeart/2005/8/layout/hierarchy3"/>
    <dgm:cxn modelId="{6EE1B973-B197-4E09-AA57-54A71A68F185}" type="presParOf" srcId="{A08FA0A4-765A-4844-A2E0-1A66B4947DD3}" destId="{A146845C-FBF0-4ADF-B45A-543EAD011878}" srcOrd="0" destOrd="0" presId="urn:microsoft.com/office/officeart/2005/8/layout/hierarchy3"/>
    <dgm:cxn modelId="{9557655E-B580-4EB2-AD86-ABBDEABC0B80}" type="presParOf" srcId="{A08FA0A4-765A-4844-A2E0-1A66B4947DD3}" destId="{32EE6F3B-1CA7-4384-AD26-007EFC6ED34C}" srcOrd="1" destOrd="0" presId="urn:microsoft.com/office/officeart/2005/8/layout/hierarchy3"/>
    <dgm:cxn modelId="{C91903BF-8969-46AE-B163-43A320F86DB1}" type="presParOf" srcId="{FCB67CDE-5137-452C-A16F-2EBF8DFFF7F2}" destId="{8D3E1DFA-7824-42E0-8CA5-A6A085C0FAC0}" srcOrd="1" destOrd="0" presId="urn:microsoft.com/office/officeart/2005/8/layout/hierarchy3"/>
    <dgm:cxn modelId="{FA565E24-A505-4A70-A559-32054BF81997}" type="presParOf" srcId="{8D3E1DFA-7824-42E0-8CA5-A6A085C0FAC0}" destId="{16806B5B-27E4-4902-9563-1B5A68C2A7CD}" srcOrd="0" destOrd="0" presId="urn:microsoft.com/office/officeart/2005/8/layout/hierarchy3"/>
    <dgm:cxn modelId="{E1F80BA8-AA38-4D0E-93E5-C4DBBE64EA5E}" type="presParOf" srcId="{8D3E1DFA-7824-42E0-8CA5-A6A085C0FAC0}" destId="{14F1610A-760D-4322-91BF-8FEE869608A6}" srcOrd="1" destOrd="0" presId="urn:microsoft.com/office/officeart/2005/8/layout/hierarchy3"/>
    <dgm:cxn modelId="{65693858-7AFE-4FB4-AE22-CA2BD1F1DE12}" type="presParOf" srcId="{8D3E1DFA-7824-42E0-8CA5-A6A085C0FAC0}" destId="{C137F783-0420-4714-93E1-CF61AB23FC10}" srcOrd="2" destOrd="0" presId="urn:microsoft.com/office/officeart/2005/8/layout/hierarchy3"/>
    <dgm:cxn modelId="{1865B2E8-D114-4040-80FF-21EEF9B084B2}" type="presParOf" srcId="{8D3E1DFA-7824-42E0-8CA5-A6A085C0FAC0}" destId="{588EBCF1-B57B-4D0D-9D79-F075C36E79EE}" srcOrd="3" destOrd="0" presId="urn:microsoft.com/office/officeart/2005/8/layout/hierarchy3"/>
    <dgm:cxn modelId="{86864257-A59B-4817-896C-DFD432B21521}" type="presParOf" srcId="{8D3E1DFA-7824-42E0-8CA5-A6A085C0FAC0}" destId="{AC2DCF2A-7379-4EE1-9C06-B837AB2C9147}" srcOrd="4" destOrd="0" presId="urn:microsoft.com/office/officeart/2005/8/layout/hierarchy3"/>
    <dgm:cxn modelId="{2B6668B5-CC89-41EC-8478-B6BEF5D35F94}" type="presParOf" srcId="{8D3E1DFA-7824-42E0-8CA5-A6A085C0FAC0}" destId="{B8EF321A-AC7D-437B-8649-BAA90F7E86EB}" srcOrd="5" destOrd="0" presId="urn:microsoft.com/office/officeart/2005/8/layout/hierarchy3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919C62-45F1-4DC9-8D3D-E4574B98F1A0}">
      <dsp:nvSpPr>
        <dsp:cNvPr id="0" name=""/>
        <dsp:cNvSpPr/>
      </dsp:nvSpPr>
      <dsp:spPr>
        <a:xfrm>
          <a:off x="2928" y="907250"/>
          <a:ext cx="1760761" cy="59024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1" kern="1200"/>
            <a:t>Size</a:t>
          </a:r>
          <a:endParaRPr lang="en-US" sz="1700" kern="1200"/>
        </a:p>
      </dsp:txBody>
      <dsp:txXfrm>
        <a:off x="2928" y="907250"/>
        <a:ext cx="1760761" cy="590242"/>
      </dsp:txXfrm>
    </dsp:sp>
    <dsp:sp modelId="{9C137590-ED89-4270-813F-41AD72AFCC61}">
      <dsp:nvSpPr>
        <dsp:cNvPr id="0" name=""/>
        <dsp:cNvSpPr/>
      </dsp:nvSpPr>
      <dsp:spPr>
        <a:xfrm>
          <a:off x="2928" y="1497493"/>
          <a:ext cx="1760761" cy="74663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ctr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b="1" kern="1200"/>
            <a:t>40,000 – 80,000</a:t>
          </a:r>
        </a:p>
      </dsp:txBody>
      <dsp:txXfrm>
        <a:off x="2928" y="1497493"/>
        <a:ext cx="1760761" cy="746639"/>
      </dsp:txXfrm>
    </dsp:sp>
    <dsp:sp modelId="{9DCEA0A4-D0F5-467A-97B3-9A81C7E548AB}">
      <dsp:nvSpPr>
        <dsp:cNvPr id="0" name=""/>
        <dsp:cNvSpPr/>
      </dsp:nvSpPr>
      <dsp:spPr>
        <a:xfrm>
          <a:off x="2010196" y="907250"/>
          <a:ext cx="1760761" cy="59024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1" kern="1200"/>
            <a:t>Balanced distribution</a:t>
          </a:r>
          <a:endParaRPr lang="en-US" sz="1700" kern="1200"/>
        </a:p>
      </dsp:txBody>
      <dsp:txXfrm>
        <a:off x="2010196" y="907250"/>
        <a:ext cx="1760761" cy="590242"/>
      </dsp:txXfrm>
    </dsp:sp>
    <dsp:sp modelId="{E888F736-FBDA-4823-B51C-0C2D41AE491C}">
      <dsp:nvSpPr>
        <dsp:cNvPr id="0" name=""/>
        <dsp:cNvSpPr/>
      </dsp:nvSpPr>
      <dsp:spPr>
        <a:xfrm>
          <a:off x="2010196" y="1497493"/>
          <a:ext cx="1760761" cy="74663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i="1" kern="1200"/>
            <a:t>Phishing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i="1" kern="1200"/>
            <a:t>Legitimate</a:t>
          </a:r>
          <a:endParaRPr lang="en-US" sz="1700" kern="1200"/>
        </a:p>
      </dsp:txBody>
      <dsp:txXfrm>
        <a:off x="2010196" y="1497493"/>
        <a:ext cx="1760761" cy="746639"/>
      </dsp:txXfrm>
    </dsp:sp>
    <dsp:sp modelId="{F4F825FF-1904-4494-8D01-DF01EBC504D6}">
      <dsp:nvSpPr>
        <dsp:cNvPr id="0" name=""/>
        <dsp:cNvSpPr/>
      </dsp:nvSpPr>
      <dsp:spPr>
        <a:xfrm>
          <a:off x="4017463" y="907250"/>
          <a:ext cx="1760761" cy="59024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1" kern="1200"/>
            <a:t>Type of dataset</a:t>
          </a:r>
          <a:endParaRPr lang="en-US" sz="1700" kern="1200"/>
        </a:p>
      </dsp:txBody>
      <dsp:txXfrm>
        <a:off x="4017463" y="907250"/>
        <a:ext cx="1760761" cy="590242"/>
      </dsp:txXfrm>
    </dsp:sp>
    <dsp:sp modelId="{97F23FE6-46A4-4A2B-A504-82DA9C95B321}">
      <dsp:nvSpPr>
        <dsp:cNvPr id="0" name=""/>
        <dsp:cNvSpPr/>
      </dsp:nvSpPr>
      <dsp:spPr>
        <a:xfrm>
          <a:off x="4017463" y="1497493"/>
          <a:ext cx="1760761" cy="74663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ctr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b="1" i="1" kern="1200"/>
            <a:t>Cross -sectional</a:t>
          </a:r>
          <a:endParaRPr lang="en-US" sz="1700" kern="1200"/>
        </a:p>
      </dsp:txBody>
      <dsp:txXfrm>
        <a:off x="4017463" y="1497493"/>
        <a:ext cx="1760761" cy="746639"/>
      </dsp:txXfrm>
    </dsp:sp>
    <dsp:sp modelId="{D33D0125-16EF-40FB-BBBC-CD858C127C3B}">
      <dsp:nvSpPr>
        <dsp:cNvPr id="0" name=""/>
        <dsp:cNvSpPr/>
      </dsp:nvSpPr>
      <dsp:spPr>
        <a:xfrm>
          <a:off x="6024731" y="907250"/>
          <a:ext cx="1760761" cy="59024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1" kern="1200"/>
            <a:t>Focus</a:t>
          </a:r>
          <a:endParaRPr lang="en-US" sz="1700" kern="1200"/>
        </a:p>
      </dsp:txBody>
      <dsp:txXfrm>
        <a:off x="6024731" y="907250"/>
        <a:ext cx="1760761" cy="590242"/>
      </dsp:txXfrm>
    </dsp:sp>
    <dsp:sp modelId="{2F021238-6CA9-4B41-A042-C013D1F3B9F6}">
      <dsp:nvSpPr>
        <dsp:cNvPr id="0" name=""/>
        <dsp:cNvSpPr/>
      </dsp:nvSpPr>
      <dsp:spPr>
        <a:xfrm>
          <a:off x="6024731" y="1497493"/>
          <a:ext cx="1760761" cy="74663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ctr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b="1" i="1" kern="1200"/>
            <a:t>Email classification</a:t>
          </a:r>
          <a:endParaRPr lang="en-US" sz="1700" kern="1200"/>
        </a:p>
      </dsp:txBody>
      <dsp:txXfrm>
        <a:off x="6024731" y="1497493"/>
        <a:ext cx="1760761" cy="7466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CEF8C0-CCCD-4740-A1B1-83BFD1043FE2}">
      <dsp:nvSpPr>
        <dsp:cNvPr id="0" name=""/>
        <dsp:cNvSpPr/>
      </dsp:nvSpPr>
      <dsp:spPr>
        <a:xfrm>
          <a:off x="6583" y="221431"/>
          <a:ext cx="1060804" cy="53040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1) Incoming emails</a:t>
          </a:r>
        </a:p>
      </dsp:txBody>
      <dsp:txXfrm>
        <a:off x="22118" y="236966"/>
        <a:ext cx="1029734" cy="499332"/>
      </dsp:txXfrm>
    </dsp:sp>
    <dsp:sp modelId="{C4DC4DA8-9528-45D9-8C60-DDFC4209D534}">
      <dsp:nvSpPr>
        <dsp:cNvPr id="0" name=""/>
        <dsp:cNvSpPr/>
      </dsp:nvSpPr>
      <dsp:spPr>
        <a:xfrm>
          <a:off x="112663" y="751834"/>
          <a:ext cx="106080" cy="3978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7801"/>
              </a:lnTo>
              <a:lnTo>
                <a:pt x="106080" y="397801"/>
              </a:lnTo>
            </a:path>
          </a:pathLst>
        </a:custGeom>
        <a:noFill/>
        <a:ln w="25400" cap="flat" cmpd="sng" algn="ctr">
          <a:solidFill>
            <a:schemeClr val="accent1">
              <a:lumMod val="40000"/>
              <a:lumOff val="6000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A6CBCB-12B6-42B6-93C5-B7DF446F626C}">
      <dsp:nvSpPr>
        <dsp:cNvPr id="0" name=""/>
        <dsp:cNvSpPr/>
      </dsp:nvSpPr>
      <dsp:spPr>
        <a:xfrm>
          <a:off x="218743" y="884434"/>
          <a:ext cx="848643" cy="53040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Customers</a:t>
          </a:r>
        </a:p>
      </dsp:txBody>
      <dsp:txXfrm>
        <a:off x="234278" y="899969"/>
        <a:ext cx="817573" cy="499332"/>
      </dsp:txXfrm>
    </dsp:sp>
    <dsp:sp modelId="{CBEAB52E-BBD8-4103-A180-BFDA24CAFAB0}">
      <dsp:nvSpPr>
        <dsp:cNvPr id="0" name=""/>
        <dsp:cNvSpPr/>
      </dsp:nvSpPr>
      <dsp:spPr>
        <a:xfrm>
          <a:off x="112663" y="751834"/>
          <a:ext cx="106080" cy="10608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0804"/>
              </a:lnTo>
              <a:lnTo>
                <a:pt x="106080" y="1060804"/>
              </a:lnTo>
            </a:path>
          </a:pathLst>
        </a:custGeom>
        <a:noFill/>
        <a:ln w="25400" cap="flat" cmpd="sng" algn="ctr">
          <a:solidFill>
            <a:schemeClr val="accent1">
              <a:lumMod val="20000"/>
              <a:lumOff val="8000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242671-C90C-4CB0-90F0-F27EFA3EB881}">
      <dsp:nvSpPr>
        <dsp:cNvPr id="0" name=""/>
        <dsp:cNvSpPr/>
      </dsp:nvSpPr>
      <dsp:spPr>
        <a:xfrm>
          <a:off x="218743" y="1547437"/>
          <a:ext cx="848643" cy="53040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Partners</a:t>
          </a:r>
        </a:p>
      </dsp:txBody>
      <dsp:txXfrm>
        <a:off x="234278" y="1562972"/>
        <a:ext cx="817573" cy="499332"/>
      </dsp:txXfrm>
    </dsp:sp>
    <dsp:sp modelId="{8B4DECF4-9EEE-4645-9DA0-4AFD0EA74515}">
      <dsp:nvSpPr>
        <dsp:cNvPr id="0" name=""/>
        <dsp:cNvSpPr/>
      </dsp:nvSpPr>
      <dsp:spPr>
        <a:xfrm>
          <a:off x="112663" y="751834"/>
          <a:ext cx="106080" cy="17238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23807"/>
              </a:lnTo>
              <a:lnTo>
                <a:pt x="106080" y="1723807"/>
              </a:lnTo>
            </a:path>
          </a:pathLst>
        </a:custGeom>
        <a:noFill/>
        <a:ln w="25400" cap="flat" cmpd="sng" algn="ctr">
          <a:solidFill>
            <a:schemeClr val="accent1">
              <a:lumMod val="40000"/>
              <a:lumOff val="6000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D9266B-E215-48B5-8EB6-F385B986D5A4}">
      <dsp:nvSpPr>
        <dsp:cNvPr id="0" name=""/>
        <dsp:cNvSpPr/>
      </dsp:nvSpPr>
      <dsp:spPr>
        <a:xfrm>
          <a:off x="218743" y="2210440"/>
          <a:ext cx="848643" cy="53040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Externals</a:t>
          </a:r>
        </a:p>
      </dsp:txBody>
      <dsp:txXfrm>
        <a:off x="234278" y="2225975"/>
        <a:ext cx="817573" cy="499332"/>
      </dsp:txXfrm>
    </dsp:sp>
    <dsp:sp modelId="{44F734CB-583A-422A-8955-E023DB79F120}">
      <dsp:nvSpPr>
        <dsp:cNvPr id="0" name=""/>
        <dsp:cNvSpPr/>
      </dsp:nvSpPr>
      <dsp:spPr>
        <a:xfrm>
          <a:off x="1332588" y="221431"/>
          <a:ext cx="1060804" cy="53040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2) Mail server</a:t>
          </a:r>
        </a:p>
      </dsp:txBody>
      <dsp:txXfrm>
        <a:off x="1348123" y="236966"/>
        <a:ext cx="1029734" cy="499332"/>
      </dsp:txXfrm>
    </dsp:sp>
    <dsp:sp modelId="{1687454A-C765-4DD6-8C6F-AE3C32BABFA7}">
      <dsp:nvSpPr>
        <dsp:cNvPr id="0" name=""/>
        <dsp:cNvSpPr/>
      </dsp:nvSpPr>
      <dsp:spPr>
        <a:xfrm>
          <a:off x="1438669" y="751834"/>
          <a:ext cx="106080" cy="3978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7801"/>
              </a:lnTo>
              <a:lnTo>
                <a:pt x="106080" y="397801"/>
              </a:lnTo>
            </a:path>
          </a:pathLst>
        </a:custGeom>
        <a:noFill/>
        <a:ln w="25400" cap="flat" cmpd="sng" algn="ctr">
          <a:solidFill>
            <a:schemeClr val="accent1">
              <a:lumMod val="40000"/>
              <a:lumOff val="6000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B953DD-9255-4CBB-8D40-F31F8AF3B37F}">
      <dsp:nvSpPr>
        <dsp:cNvPr id="0" name=""/>
        <dsp:cNvSpPr/>
      </dsp:nvSpPr>
      <dsp:spPr>
        <a:xfrm>
          <a:off x="1544749" y="884434"/>
          <a:ext cx="848643" cy="53040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Email gateway</a:t>
          </a:r>
        </a:p>
      </dsp:txBody>
      <dsp:txXfrm>
        <a:off x="1560284" y="899969"/>
        <a:ext cx="817573" cy="499332"/>
      </dsp:txXfrm>
    </dsp:sp>
    <dsp:sp modelId="{BD5AC325-B142-405C-A441-35DB37EF3366}">
      <dsp:nvSpPr>
        <dsp:cNvPr id="0" name=""/>
        <dsp:cNvSpPr/>
      </dsp:nvSpPr>
      <dsp:spPr>
        <a:xfrm>
          <a:off x="1438669" y="751834"/>
          <a:ext cx="106080" cy="10608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0804"/>
              </a:lnTo>
              <a:lnTo>
                <a:pt x="106080" y="1060804"/>
              </a:lnTo>
            </a:path>
          </a:pathLst>
        </a:custGeom>
        <a:noFill/>
        <a:ln w="25400" cap="flat" cmpd="sng" algn="ctr">
          <a:solidFill>
            <a:schemeClr val="accent1">
              <a:lumMod val="40000"/>
              <a:lumOff val="6000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C297E6-32FF-43FE-9484-11C068631C8E}">
      <dsp:nvSpPr>
        <dsp:cNvPr id="0" name=""/>
        <dsp:cNvSpPr/>
      </dsp:nvSpPr>
      <dsp:spPr>
        <a:xfrm>
          <a:off x="1544749" y="1547437"/>
          <a:ext cx="848643" cy="53040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Email traffic monitoring</a:t>
          </a:r>
        </a:p>
      </dsp:txBody>
      <dsp:txXfrm>
        <a:off x="1560284" y="1562972"/>
        <a:ext cx="817573" cy="499332"/>
      </dsp:txXfrm>
    </dsp:sp>
    <dsp:sp modelId="{EA5B50D5-6004-4645-8BD8-4C24F113EE0E}">
      <dsp:nvSpPr>
        <dsp:cNvPr id="0" name=""/>
        <dsp:cNvSpPr/>
      </dsp:nvSpPr>
      <dsp:spPr>
        <a:xfrm>
          <a:off x="2658594" y="221431"/>
          <a:ext cx="1060804" cy="53040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3) Phishing Detection Model</a:t>
          </a:r>
        </a:p>
      </dsp:txBody>
      <dsp:txXfrm>
        <a:off x="2674129" y="236966"/>
        <a:ext cx="1029734" cy="499332"/>
      </dsp:txXfrm>
    </dsp:sp>
    <dsp:sp modelId="{4E4ADD72-DAD4-4F60-8F64-5A6D3FBC3915}">
      <dsp:nvSpPr>
        <dsp:cNvPr id="0" name=""/>
        <dsp:cNvSpPr/>
      </dsp:nvSpPr>
      <dsp:spPr>
        <a:xfrm>
          <a:off x="2764675" y="751834"/>
          <a:ext cx="106080" cy="3978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7801"/>
              </a:lnTo>
              <a:lnTo>
                <a:pt x="106080" y="397801"/>
              </a:lnTo>
            </a:path>
          </a:pathLst>
        </a:custGeom>
        <a:noFill/>
        <a:ln w="25400" cap="flat" cmpd="sng" algn="ctr">
          <a:solidFill>
            <a:schemeClr val="accent1">
              <a:lumMod val="40000"/>
              <a:lumOff val="6000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E61713-6C54-46D7-B059-C4A86BA6D520}">
      <dsp:nvSpPr>
        <dsp:cNvPr id="0" name=""/>
        <dsp:cNvSpPr/>
      </dsp:nvSpPr>
      <dsp:spPr>
        <a:xfrm>
          <a:off x="2870755" y="884434"/>
          <a:ext cx="848643" cy="53040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Classifies phishing vs legitimate</a:t>
          </a:r>
        </a:p>
      </dsp:txBody>
      <dsp:txXfrm>
        <a:off x="2886290" y="899969"/>
        <a:ext cx="817573" cy="499332"/>
      </dsp:txXfrm>
    </dsp:sp>
    <dsp:sp modelId="{B19713D4-6F8B-4904-880E-6A8C1D233301}">
      <dsp:nvSpPr>
        <dsp:cNvPr id="0" name=""/>
        <dsp:cNvSpPr/>
      </dsp:nvSpPr>
      <dsp:spPr>
        <a:xfrm>
          <a:off x="3984600" y="221431"/>
          <a:ext cx="1060804" cy="53040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4) Surrogate Model</a:t>
          </a:r>
        </a:p>
      </dsp:txBody>
      <dsp:txXfrm>
        <a:off x="4000135" y="236966"/>
        <a:ext cx="1029734" cy="499332"/>
      </dsp:txXfrm>
    </dsp:sp>
    <dsp:sp modelId="{0D03A389-F2F1-4CF1-B191-9CC310129554}">
      <dsp:nvSpPr>
        <dsp:cNvPr id="0" name=""/>
        <dsp:cNvSpPr/>
      </dsp:nvSpPr>
      <dsp:spPr>
        <a:xfrm>
          <a:off x="4090681" y="751834"/>
          <a:ext cx="106080" cy="3978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7801"/>
              </a:lnTo>
              <a:lnTo>
                <a:pt x="106080" y="397801"/>
              </a:lnTo>
            </a:path>
          </a:pathLst>
        </a:custGeom>
        <a:noFill/>
        <a:ln w="25400" cap="flat" cmpd="sng" algn="ctr">
          <a:solidFill>
            <a:schemeClr val="accent1">
              <a:lumMod val="40000"/>
              <a:lumOff val="6000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6B4D86-5979-47AC-ABB2-91A7DE63580A}">
      <dsp:nvSpPr>
        <dsp:cNvPr id="0" name=""/>
        <dsp:cNvSpPr/>
      </dsp:nvSpPr>
      <dsp:spPr>
        <a:xfrm>
          <a:off x="4196761" y="884434"/>
          <a:ext cx="848643" cy="53040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Generate explanation</a:t>
          </a:r>
        </a:p>
      </dsp:txBody>
      <dsp:txXfrm>
        <a:off x="4212296" y="899969"/>
        <a:ext cx="817573" cy="499332"/>
      </dsp:txXfrm>
    </dsp:sp>
    <dsp:sp modelId="{952EC48A-84A2-454C-ADAC-CEB33D1CEC52}">
      <dsp:nvSpPr>
        <dsp:cNvPr id="0" name=""/>
        <dsp:cNvSpPr/>
      </dsp:nvSpPr>
      <dsp:spPr>
        <a:xfrm>
          <a:off x="4090681" y="751834"/>
          <a:ext cx="106080" cy="10608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0804"/>
              </a:lnTo>
              <a:lnTo>
                <a:pt x="106080" y="1060804"/>
              </a:lnTo>
            </a:path>
          </a:pathLst>
        </a:custGeom>
        <a:noFill/>
        <a:ln w="25400" cap="flat" cmpd="sng" algn="ctr">
          <a:solidFill>
            <a:schemeClr val="accent1">
              <a:lumMod val="40000"/>
              <a:lumOff val="6000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173EB7-C15C-475F-B54D-A9FFEF077542}">
      <dsp:nvSpPr>
        <dsp:cNvPr id="0" name=""/>
        <dsp:cNvSpPr/>
      </dsp:nvSpPr>
      <dsp:spPr>
        <a:xfrm>
          <a:off x="4196761" y="1547437"/>
          <a:ext cx="848643" cy="53040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Identifies important features</a:t>
          </a:r>
        </a:p>
      </dsp:txBody>
      <dsp:txXfrm>
        <a:off x="4212296" y="1562972"/>
        <a:ext cx="817573" cy="499332"/>
      </dsp:txXfrm>
    </dsp:sp>
    <dsp:sp modelId="{A079D288-3628-4A19-A2CE-F3EE75E33498}">
      <dsp:nvSpPr>
        <dsp:cNvPr id="0" name=""/>
        <dsp:cNvSpPr/>
      </dsp:nvSpPr>
      <dsp:spPr>
        <a:xfrm>
          <a:off x="5310606" y="221431"/>
          <a:ext cx="1060804" cy="53040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5) Security Dashboard</a:t>
          </a:r>
        </a:p>
      </dsp:txBody>
      <dsp:txXfrm>
        <a:off x="5326141" y="236966"/>
        <a:ext cx="1029734" cy="499332"/>
      </dsp:txXfrm>
    </dsp:sp>
    <dsp:sp modelId="{DD2F1DAD-6D43-4F16-B02D-525F4474A98B}">
      <dsp:nvSpPr>
        <dsp:cNvPr id="0" name=""/>
        <dsp:cNvSpPr/>
      </dsp:nvSpPr>
      <dsp:spPr>
        <a:xfrm>
          <a:off x="5416686" y="751834"/>
          <a:ext cx="106080" cy="3978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7801"/>
              </a:lnTo>
              <a:lnTo>
                <a:pt x="106080" y="397801"/>
              </a:lnTo>
            </a:path>
          </a:pathLst>
        </a:custGeom>
        <a:noFill/>
        <a:ln w="25400" cap="flat" cmpd="sng" algn="ctr">
          <a:solidFill>
            <a:schemeClr val="accent1">
              <a:lumMod val="40000"/>
              <a:lumOff val="6000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38A7C7-03B5-4405-9D7D-79D32E547CDD}">
      <dsp:nvSpPr>
        <dsp:cNvPr id="0" name=""/>
        <dsp:cNvSpPr/>
      </dsp:nvSpPr>
      <dsp:spPr>
        <a:xfrm>
          <a:off x="5522767" y="884434"/>
          <a:ext cx="848643" cy="53040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Classification result</a:t>
          </a:r>
        </a:p>
      </dsp:txBody>
      <dsp:txXfrm>
        <a:off x="5538302" y="899969"/>
        <a:ext cx="817573" cy="499332"/>
      </dsp:txXfrm>
    </dsp:sp>
    <dsp:sp modelId="{5A346526-D9D6-4B53-AA05-8A5AF48D4616}">
      <dsp:nvSpPr>
        <dsp:cNvPr id="0" name=""/>
        <dsp:cNvSpPr/>
      </dsp:nvSpPr>
      <dsp:spPr>
        <a:xfrm>
          <a:off x="5416686" y="751834"/>
          <a:ext cx="106080" cy="10608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0804"/>
              </a:lnTo>
              <a:lnTo>
                <a:pt x="106080" y="1060804"/>
              </a:lnTo>
            </a:path>
          </a:pathLst>
        </a:custGeom>
        <a:noFill/>
        <a:ln w="25400" cap="flat" cmpd="sng" algn="ctr">
          <a:solidFill>
            <a:schemeClr val="accent1">
              <a:lumMod val="40000"/>
              <a:lumOff val="6000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7EE9CA-C4BC-4694-81A7-FC420D437062}">
      <dsp:nvSpPr>
        <dsp:cNvPr id="0" name=""/>
        <dsp:cNvSpPr/>
      </dsp:nvSpPr>
      <dsp:spPr>
        <a:xfrm>
          <a:off x="5522767" y="1547437"/>
          <a:ext cx="848643" cy="53040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Risk indicators</a:t>
          </a:r>
        </a:p>
      </dsp:txBody>
      <dsp:txXfrm>
        <a:off x="5538302" y="1562972"/>
        <a:ext cx="817573" cy="499332"/>
      </dsp:txXfrm>
    </dsp:sp>
    <dsp:sp modelId="{EF44490C-041F-4F25-971D-9B4A80B51B1D}">
      <dsp:nvSpPr>
        <dsp:cNvPr id="0" name=""/>
        <dsp:cNvSpPr/>
      </dsp:nvSpPr>
      <dsp:spPr>
        <a:xfrm>
          <a:off x="5416686" y="751834"/>
          <a:ext cx="106080" cy="17238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23807"/>
              </a:lnTo>
              <a:lnTo>
                <a:pt x="106080" y="1723807"/>
              </a:lnTo>
            </a:path>
          </a:pathLst>
        </a:custGeom>
        <a:noFill/>
        <a:ln w="25400" cap="flat" cmpd="sng" algn="ctr">
          <a:solidFill>
            <a:schemeClr val="accent1">
              <a:lumMod val="40000"/>
              <a:lumOff val="6000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AEB3D3-5144-4AE5-9769-424A61689AB2}">
      <dsp:nvSpPr>
        <dsp:cNvPr id="0" name=""/>
        <dsp:cNvSpPr/>
      </dsp:nvSpPr>
      <dsp:spPr>
        <a:xfrm>
          <a:off x="5522767" y="2210440"/>
          <a:ext cx="848643" cy="53040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Explanation of prediction</a:t>
          </a:r>
        </a:p>
      </dsp:txBody>
      <dsp:txXfrm>
        <a:off x="5538302" y="2225975"/>
        <a:ext cx="817573" cy="499332"/>
      </dsp:txXfrm>
    </dsp:sp>
    <dsp:sp modelId="{A146845C-FBF0-4ADF-B45A-543EAD011878}">
      <dsp:nvSpPr>
        <dsp:cNvPr id="0" name=""/>
        <dsp:cNvSpPr/>
      </dsp:nvSpPr>
      <dsp:spPr>
        <a:xfrm>
          <a:off x="6636612" y="221431"/>
          <a:ext cx="1060804" cy="53040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6) Threat Intelligence Team</a:t>
          </a:r>
        </a:p>
      </dsp:txBody>
      <dsp:txXfrm>
        <a:off x="6652147" y="236966"/>
        <a:ext cx="1029734" cy="499332"/>
      </dsp:txXfrm>
    </dsp:sp>
    <dsp:sp modelId="{16806B5B-27E4-4902-9563-1B5A68C2A7CD}">
      <dsp:nvSpPr>
        <dsp:cNvPr id="0" name=""/>
        <dsp:cNvSpPr/>
      </dsp:nvSpPr>
      <dsp:spPr>
        <a:xfrm>
          <a:off x="6742692" y="751834"/>
          <a:ext cx="106080" cy="3978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7801"/>
              </a:lnTo>
              <a:lnTo>
                <a:pt x="106080" y="397801"/>
              </a:lnTo>
            </a:path>
          </a:pathLst>
        </a:custGeom>
        <a:noFill/>
        <a:ln w="25400" cap="flat" cmpd="sng" algn="ctr">
          <a:solidFill>
            <a:schemeClr val="accent1">
              <a:lumMod val="40000"/>
              <a:lumOff val="6000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F1610A-760D-4322-91BF-8FEE869608A6}">
      <dsp:nvSpPr>
        <dsp:cNvPr id="0" name=""/>
        <dsp:cNvSpPr/>
      </dsp:nvSpPr>
      <dsp:spPr>
        <a:xfrm>
          <a:off x="6848773" y="884434"/>
          <a:ext cx="848643" cy="53040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Review alerts</a:t>
          </a:r>
        </a:p>
      </dsp:txBody>
      <dsp:txXfrm>
        <a:off x="6864308" y="899969"/>
        <a:ext cx="817573" cy="499332"/>
      </dsp:txXfrm>
    </dsp:sp>
    <dsp:sp modelId="{C137F783-0420-4714-93E1-CF61AB23FC10}">
      <dsp:nvSpPr>
        <dsp:cNvPr id="0" name=""/>
        <dsp:cNvSpPr/>
      </dsp:nvSpPr>
      <dsp:spPr>
        <a:xfrm>
          <a:off x="6742692" y="751834"/>
          <a:ext cx="106080" cy="10608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0804"/>
              </a:lnTo>
              <a:lnTo>
                <a:pt x="106080" y="1060804"/>
              </a:lnTo>
            </a:path>
          </a:pathLst>
        </a:custGeom>
        <a:noFill/>
        <a:ln w="25400" cap="flat" cmpd="sng" algn="ctr">
          <a:solidFill>
            <a:schemeClr val="accent1">
              <a:lumMod val="40000"/>
              <a:lumOff val="6000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8EBCF1-B57B-4D0D-9D79-F075C36E79EE}">
      <dsp:nvSpPr>
        <dsp:cNvPr id="0" name=""/>
        <dsp:cNvSpPr/>
      </dsp:nvSpPr>
      <dsp:spPr>
        <a:xfrm>
          <a:off x="6848773" y="1547437"/>
          <a:ext cx="848643" cy="53040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Investigate suspicious emails</a:t>
          </a:r>
        </a:p>
      </dsp:txBody>
      <dsp:txXfrm>
        <a:off x="6864308" y="1562972"/>
        <a:ext cx="817573" cy="499332"/>
      </dsp:txXfrm>
    </dsp:sp>
    <dsp:sp modelId="{AC2DCF2A-7379-4EE1-9C06-B837AB2C9147}">
      <dsp:nvSpPr>
        <dsp:cNvPr id="0" name=""/>
        <dsp:cNvSpPr/>
      </dsp:nvSpPr>
      <dsp:spPr>
        <a:xfrm>
          <a:off x="6742692" y="751834"/>
          <a:ext cx="106080" cy="17238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23807"/>
              </a:lnTo>
              <a:lnTo>
                <a:pt x="106080" y="1723807"/>
              </a:lnTo>
            </a:path>
          </a:pathLst>
        </a:custGeom>
        <a:noFill/>
        <a:ln w="25400" cap="flat" cmpd="sng" algn="ctr">
          <a:solidFill>
            <a:schemeClr val="accent1">
              <a:lumMod val="40000"/>
              <a:lumOff val="6000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EF321A-AC7D-437B-8649-BAA90F7E86EB}">
      <dsp:nvSpPr>
        <dsp:cNvPr id="0" name=""/>
        <dsp:cNvSpPr/>
      </dsp:nvSpPr>
      <dsp:spPr>
        <a:xfrm>
          <a:off x="6848773" y="2210440"/>
          <a:ext cx="848643" cy="53040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Deciding security actions</a:t>
          </a:r>
        </a:p>
      </dsp:txBody>
      <dsp:txXfrm>
        <a:off x="6864308" y="2225975"/>
        <a:ext cx="817573" cy="4993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576a45fa49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576a45fa49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>
          <a:extLst>
            <a:ext uri="{FF2B5EF4-FFF2-40B4-BE49-F238E27FC236}">
              <a16:creationId xmlns:a16="http://schemas.microsoft.com/office/drawing/2014/main" id="{D217E770-1D2C-9AE3-E836-B9A407A41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d431007ba2_0_215:notes">
            <a:extLst>
              <a:ext uri="{FF2B5EF4-FFF2-40B4-BE49-F238E27FC236}">
                <a16:creationId xmlns:a16="http://schemas.microsoft.com/office/drawing/2014/main" id="{EF2E8DBA-2569-5B66-CE45-8124E87942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d431007ba2_0_215:notes">
            <a:extLst>
              <a:ext uri="{FF2B5EF4-FFF2-40B4-BE49-F238E27FC236}">
                <a16:creationId xmlns:a16="http://schemas.microsoft.com/office/drawing/2014/main" id="{AE5CB9F9-E666-544E-45E6-C328515D27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895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8C6D1A9B-EE52-D616-1005-9B5B843B8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8DF0ACCB-147D-39E9-21E2-E5E200BDC8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0143073C-0670-9BE4-CEB1-53CE7E613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3610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8D2C6F5F-6120-1943-EB88-1FA0D5A72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EB5179EA-9776-060A-3E42-F1F5266EB0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0DD7A28D-98B8-696C-08F6-5117F8AA24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0711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1F14B9D2-C0FB-4F45-0039-9A4D12D44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F16277B2-DA31-9421-A552-5C91E10438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1F45AE30-136E-7066-8BF4-65E0F49D3A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0632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369D0E52-6344-0D44-3053-EC2ACA689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276FB2D5-DF3E-63B8-C11B-13A70D5D2B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B0827AAA-17A5-7F12-7996-64BE284442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22335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2F39B733-D12D-C0F0-58C1-82C775D83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2F339680-CB54-24F0-58E9-CBD288184A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0314702E-2CB0-905D-B58C-60472D288A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41054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8244283E-2B3D-BB2E-7172-127067AD6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60FEF714-D806-F841-FF6D-B6253F0E9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978F3DF1-C87E-55A1-D681-8BD5FE19E6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24659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B8CDA094-8B43-B898-CE9E-FF6C9EA7E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F3FEBFFE-2B3B-0213-F42E-EA35B31F6D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96757197-7C2D-110C-3B82-7B8B3FE7B5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3683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FBF7F7F3-DF0F-5187-5B28-6BFC4F064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7E8028F5-4445-95CF-319D-0BC8908B2B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DED02056-8CDF-78F7-130C-8C0F5B30FF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86082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E85ACEF6-FAE3-8A6E-EA0B-EF662E471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B08D7250-CED3-E13A-9267-F9040F955D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BC969233-56C8-FBBA-BF70-49882F49E5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44214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>
          <a:extLst>
            <a:ext uri="{FF2B5EF4-FFF2-40B4-BE49-F238E27FC236}">
              <a16:creationId xmlns:a16="http://schemas.microsoft.com/office/drawing/2014/main" id="{1EB92886-5FDC-D23E-9D8A-5C7B472A1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54dda1946d_4_2720:notes">
            <a:extLst>
              <a:ext uri="{FF2B5EF4-FFF2-40B4-BE49-F238E27FC236}">
                <a16:creationId xmlns:a16="http://schemas.microsoft.com/office/drawing/2014/main" id="{2024059B-7272-AAD8-F9DC-E94B9CF51F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54dda1946d_4_2720:notes">
            <a:extLst>
              <a:ext uri="{FF2B5EF4-FFF2-40B4-BE49-F238E27FC236}">
                <a16:creationId xmlns:a16="http://schemas.microsoft.com/office/drawing/2014/main" id="{6BC6D8ED-0E38-A0D4-6563-F722CD06C8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40642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7566FA84-21B6-B766-9896-C252F77E5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5D9EC236-4D56-C3A0-C4BF-7DA467CAC0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9B9BE26C-D669-79BA-DEB1-07B6F67E8C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31608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>
          <a:extLst>
            <a:ext uri="{FF2B5EF4-FFF2-40B4-BE49-F238E27FC236}">
              <a16:creationId xmlns:a16="http://schemas.microsoft.com/office/drawing/2014/main" id="{F8C31DA7-071D-2037-9944-A299804B2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54dda1946d_6_322:notes">
            <a:extLst>
              <a:ext uri="{FF2B5EF4-FFF2-40B4-BE49-F238E27FC236}">
                <a16:creationId xmlns:a16="http://schemas.microsoft.com/office/drawing/2014/main" id="{0CD6939B-A0DB-5CB6-30C1-1DE67DECEE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54dda1946d_6_322:notes">
            <a:extLst>
              <a:ext uri="{FF2B5EF4-FFF2-40B4-BE49-F238E27FC236}">
                <a16:creationId xmlns:a16="http://schemas.microsoft.com/office/drawing/2014/main" id="{F03D29EB-ED12-3462-0685-270352DEE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4942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>
          <a:extLst>
            <a:ext uri="{FF2B5EF4-FFF2-40B4-BE49-F238E27FC236}">
              <a16:creationId xmlns:a16="http://schemas.microsoft.com/office/drawing/2014/main" id="{4377AB05-153D-8E28-E223-CFE361B0E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54dda1946d_6_322:notes">
            <a:extLst>
              <a:ext uri="{FF2B5EF4-FFF2-40B4-BE49-F238E27FC236}">
                <a16:creationId xmlns:a16="http://schemas.microsoft.com/office/drawing/2014/main" id="{6C699568-A8FC-51C8-D514-1FA8961231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54dda1946d_6_322:notes">
            <a:extLst>
              <a:ext uri="{FF2B5EF4-FFF2-40B4-BE49-F238E27FC236}">
                <a16:creationId xmlns:a16="http://schemas.microsoft.com/office/drawing/2014/main" id="{863BD069-D1D4-94F3-11AE-E68D99AF0E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84109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>
          <a:extLst>
            <a:ext uri="{FF2B5EF4-FFF2-40B4-BE49-F238E27FC236}">
              <a16:creationId xmlns:a16="http://schemas.microsoft.com/office/drawing/2014/main" id="{FEDAEE9B-42A0-F757-83E7-159E1F7CE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54dda1946d_6_322:notes">
            <a:extLst>
              <a:ext uri="{FF2B5EF4-FFF2-40B4-BE49-F238E27FC236}">
                <a16:creationId xmlns:a16="http://schemas.microsoft.com/office/drawing/2014/main" id="{7587B3F6-0624-2ACF-D6EE-7F36637230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54dda1946d_6_322:notes">
            <a:extLst>
              <a:ext uri="{FF2B5EF4-FFF2-40B4-BE49-F238E27FC236}">
                <a16:creationId xmlns:a16="http://schemas.microsoft.com/office/drawing/2014/main" id="{E67FE13C-7D42-4AFA-B31F-C2EF1BDBE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47374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75965C1E-5923-2C65-044B-AF5F43A15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84d99d1a72_0_57:notes">
            <a:extLst>
              <a:ext uri="{FF2B5EF4-FFF2-40B4-BE49-F238E27FC236}">
                <a16:creationId xmlns:a16="http://schemas.microsoft.com/office/drawing/2014/main" id="{A6628A85-FB72-20BC-E446-C6531E29E6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84d99d1a72_0_57:notes">
            <a:extLst>
              <a:ext uri="{FF2B5EF4-FFF2-40B4-BE49-F238E27FC236}">
                <a16:creationId xmlns:a16="http://schemas.microsoft.com/office/drawing/2014/main" id="{A21D86E2-8CC0-2AFF-EFEC-9FBC55610A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98529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6BFBE272-96F8-D40F-61AF-4D04D5087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CC25F48D-DDAF-C50E-FAA3-05798D2AA9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003D7B6E-17DA-F30A-34DD-0E7934F265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95567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CB6A0D9D-8AD5-DCF4-0EB1-530946B9B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0DEED676-EB92-DFDF-368C-B3D6F1E470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78CC7DDE-3AF2-3C49-819B-11CD7DA1DC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06179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550830A0-5EC0-8B19-AB31-B9C88E154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CD23D174-177B-A72A-62EE-F99315D158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19D65FB5-2ABE-7393-9517-49120FA7A8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36662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C1D216A6-1CE6-965F-4726-A836F9839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8DBE74C6-DB2B-0761-1F29-D978FAEDD9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18D3A517-3D23-8B4D-5DF4-1F2A150035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92240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E20A7B38-E3BF-6693-DE56-D40DEC124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AAD65E4C-17D5-9723-C57E-45C61E297C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36E6F58D-0259-CCCB-F8A3-B0DCFB63F0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7363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99C33023-B633-3D61-8BF3-30A2BC95A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33B25BBF-5F30-7287-CD96-05BAC450DE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68FE0540-4143-1360-0FDE-44FA85C795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69345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5EB5B695-452A-C116-3FDE-8AB131E6C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16F2F366-EE97-19CB-86AA-2491FEA082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FB52FF20-4772-E301-6680-BD01E92C75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44541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avLst/>
              <a:gdLst/>
              <a:ahLst/>
              <a:cxnLst/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avLst/>
              <a:gdLst/>
              <a:ahLst/>
              <a:cxnLst/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avLst/>
                <a:gdLst/>
                <a:ahLst/>
                <a:cxnLst/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avLst/>
              <a:gdLst/>
              <a:ahLst/>
              <a:cxnLst/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avLst/>
              <a:gdLst/>
              <a:ahLst/>
              <a:cxnLst/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avLst/>
              <a:gdLst/>
              <a:ahLst/>
              <a:cxnLst/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avLst/>
                <a:gdLst/>
                <a:ahLst/>
                <a:cxnLst/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avLst/>
              <a:gdLst/>
              <a:ahLst/>
              <a:cxnLst/>
              <a:rect l="l" t="t" r="r" b="b"/>
              <a:pathLst>
                <a:path w="18075" h="65507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8" r:id="rId18"/>
    <p:sldLayoutId id="2147483669" r:id="rId19"/>
    <p:sldLayoutId id="2147483670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16/j.icte.2024.05.007" TargetMode="External"/><Relationship Id="rId3" Type="http://schemas.openxmlformats.org/officeDocument/2006/relationships/hyperlink" Target="https://doi.org/10.1109/access.2025.3641123" TargetMode="External"/><Relationship Id="rId7" Type="http://schemas.openxmlformats.org/officeDocument/2006/relationships/hyperlink" Target="https://doi.org/10.1007/s12559-023-10179-8" TargetMode="External"/><Relationship Id="rId12" Type="http://schemas.openxmlformats.org/officeDocument/2006/relationships/hyperlink" Target="https://doi.org/10.7298/j1fj-qj88" TargetMode="External"/><Relationship Id="rId2" Type="http://schemas.openxmlformats.org/officeDocument/2006/relationships/hyperlink" Target="https://doi.org/10.1016/j.compeleceng.2024.109625" TargetMode="Externa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ceur-ws.org/Vol-3488/paper22.pdf" TargetMode="External"/><Relationship Id="rId11" Type="http://schemas.openxmlformats.org/officeDocument/2006/relationships/hyperlink" Target="https://doi.org/10.61931/2224-9028.1604" TargetMode="External"/><Relationship Id="rId5" Type="http://schemas.openxmlformats.org/officeDocument/2006/relationships/hyperlink" Target="https://doi.org/10.1214/07-aoas148" TargetMode="External"/><Relationship Id="rId10" Type="http://schemas.openxmlformats.org/officeDocument/2006/relationships/hyperlink" Target="https://doi.org/10.1016/j.icte.2025.10.004" TargetMode="External"/><Relationship Id="rId4" Type="http://schemas.openxmlformats.org/officeDocument/2006/relationships/hyperlink" Target="https://doi.org/10.2307/26937906" TargetMode="External"/><Relationship Id="rId9" Type="http://schemas.openxmlformats.org/officeDocument/2006/relationships/hyperlink" Target="https://arxiv.org/abs/2510.16742v2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8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6631060" cy="169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AU"/>
              <a:t>Enhancing global explainability and reducing explanation latency in phishing email detection</a:t>
            </a:r>
            <a:endParaRPr/>
          </a:p>
        </p:txBody>
      </p:sp>
      <p:sp>
        <p:nvSpPr>
          <p:cNvPr id="664" name="Google Shape;664;p28"/>
          <p:cNvSpPr/>
          <p:nvPr/>
        </p:nvSpPr>
        <p:spPr>
          <a:xfrm rot="-5400000">
            <a:off x="689075" y="2215534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5" name="Google Shape;665;p28"/>
          <p:cNvGrpSpPr/>
          <p:nvPr/>
        </p:nvGrpSpPr>
        <p:grpSpPr>
          <a:xfrm>
            <a:off x="7747035" y="2137293"/>
            <a:ext cx="1033834" cy="3360485"/>
            <a:chOff x="6777434" y="2296620"/>
            <a:chExt cx="1033834" cy="3360485"/>
          </a:xfrm>
        </p:grpSpPr>
        <p:grpSp>
          <p:nvGrpSpPr>
            <p:cNvPr id="666" name="Google Shape;666;p28"/>
            <p:cNvGrpSpPr/>
            <p:nvPr/>
          </p:nvGrpSpPr>
          <p:grpSpPr>
            <a:xfrm rot="10800000">
              <a:off x="6777434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667" name="Google Shape;667;p2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8" name="Google Shape;668;p2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9" name="Google Shape;669;p2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70" name="Google Shape;670;p28"/>
            <p:cNvSpPr/>
            <p:nvPr/>
          </p:nvSpPr>
          <p:spPr>
            <a:xfrm>
              <a:off x="7771212" y="2972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28"/>
          <p:cNvGrpSpPr/>
          <p:nvPr/>
        </p:nvGrpSpPr>
        <p:grpSpPr>
          <a:xfrm>
            <a:off x="6262859" y="-2197955"/>
            <a:ext cx="681217" cy="3360485"/>
            <a:chOff x="1337800" y="-2525590"/>
            <a:chExt cx="1498167" cy="7390555"/>
          </a:xfrm>
        </p:grpSpPr>
        <p:cxnSp>
          <p:nvCxnSpPr>
            <p:cNvPr id="674" name="Google Shape;674;p2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" name="Google Shape;675;p2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76" name="Google Shape;676;p2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7" name="Google Shape;677;p28"/>
          <p:cNvSpPr/>
          <p:nvPr/>
        </p:nvSpPr>
        <p:spPr>
          <a:xfrm rot="-5400000">
            <a:off x="8215875" y="805548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8" name="Google Shape;678;p28"/>
          <p:cNvGrpSpPr/>
          <p:nvPr/>
        </p:nvGrpSpPr>
        <p:grpSpPr>
          <a:xfrm rot="10800000" flipH="1">
            <a:off x="-2068288" y="305430"/>
            <a:ext cx="4791669" cy="923822"/>
            <a:chOff x="-78438" y="3775205"/>
            <a:chExt cx="4791669" cy="923822"/>
          </a:xfrm>
        </p:grpSpPr>
        <p:cxnSp>
          <p:nvCxnSpPr>
            <p:cNvPr id="679" name="Google Shape;679;p2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2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1" name="Google Shape;681;p2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2" name="Google Shape;682;p28"/>
          <p:cNvGrpSpPr/>
          <p:nvPr/>
        </p:nvGrpSpPr>
        <p:grpSpPr>
          <a:xfrm>
            <a:off x="3329300" y="-3035953"/>
            <a:ext cx="6471825" cy="4623428"/>
            <a:chOff x="3329300" y="-3035953"/>
            <a:chExt cx="6471825" cy="4623428"/>
          </a:xfrm>
        </p:grpSpPr>
        <p:grpSp>
          <p:nvGrpSpPr>
            <p:cNvPr id="683" name="Google Shape;683;p28"/>
            <p:cNvGrpSpPr/>
            <p:nvPr/>
          </p:nvGrpSpPr>
          <p:grpSpPr>
            <a:xfrm rot="5400000">
              <a:off x="2802525" y="-1414050"/>
              <a:ext cx="3859204" cy="615399"/>
              <a:chOff x="-6675" y="307100"/>
              <a:chExt cx="9140700" cy="4634025"/>
            </a:xfrm>
          </p:grpSpPr>
          <p:cxnSp>
            <p:nvCxnSpPr>
              <p:cNvPr id="684" name="Google Shape;684;p2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5" name="Google Shape;685;p2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" name="Google Shape;686;p2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7" name="Google Shape;687;p2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8" name="Google Shape;688;p2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9" name="Google Shape;689;p2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0" name="Google Shape;690;p2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1" name="Google Shape;691;p2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2" name="Google Shape;692;p2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2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94" name="Google Shape;694;p28"/>
            <p:cNvSpPr/>
            <p:nvPr/>
          </p:nvSpPr>
          <p:spPr>
            <a:xfrm>
              <a:off x="3329300" y="82325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>
          <a:extLst>
            <a:ext uri="{FF2B5EF4-FFF2-40B4-BE49-F238E27FC236}">
              <a16:creationId xmlns:a16="http://schemas.microsoft.com/office/drawing/2014/main" id="{8B289623-8B25-29D2-1D7B-9F5D74B78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0">
            <a:extLst>
              <a:ext uri="{FF2B5EF4-FFF2-40B4-BE49-F238E27FC236}">
                <a16:creationId xmlns:a16="http://schemas.microsoft.com/office/drawing/2014/main" id="{27998AA2-57CE-6194-BD03-D196A94D05CE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3572952" y="208459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/>
              <a:t>Luu Tran (14522561)</a:t>
            </a:r>
            <a:endParaRPr/>
          </a:p>
        </p:txBody>
      </p:sp>
      <p:sp>
        <p:nvSpPr>
          <p:cNvPr id="709" name="Google Shape;709;p30">
            <a:extLst>
              <a:ext uri="{FF2B5EF4-FFF2-40B4-BE49-F238E27FC236}">
                <a16:creationId xmlns:a16="http://schemas.microsoft.com/office/drawing/2014/main" id="{791F0B68-138E-23A4-9F70-9C26FBA22E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members</a:t>
            </a:r>
            <a:endParaRPr/>
          </a:p>
        </p:txBody>
      </p:sp>
      <p:sp>
        <p:nvSpPr>
          <p:cNvPr id="710" name="Google Shape;710;p30">
            <a:extLst>
              <a:ext uri="{FF2B5EF4-FFF2-40B4-BE49-F238E27FC236}">
                <a16:creationId xmlns:a16="http://schemas.microsoft.com/office/drawing/2014/main" id="{DA8C1CE8-54C2-0A0D-27D7-AAF601A942F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739364" y="1515100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11" name="Google Shape;711;p30">
            <a:extLst>
              <a:ext uri="{FF2B5EF4-FFF2-40B4-BE49-F238E27FC236}">
                <a16:creationId xmlns:a16="http://schemas.microsoft.com/office/drawing/2014/main" id="{AC23B49D-E3B8-4231-9CD2-141865F1A50C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2739364" y="3218192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12" name="Google Shape;712;p30">
            <a:extLst>
              <a:ext uri="{FF2B5EF4-FFF2-40B4-BE49-F238E27FC236}">
                <a16:creationId xmlns:a16="http://schemas.microsoft.com/office/drawing/2014/main" id="{06559A51-0DD3-BEEF-D449-8F999027001F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2739364" y="2082797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13" name="Google Shape;713;p30">
            <a:extLst>
              <a:ext uri="{FF2B5EF4-FFF2-40B4-BE49-F238E27FC236}">
                <a16:creationId xmlns:a16="http://schemas.microsoft.com/office/drawing/2014/main" id="{236F25E4-855F-C78E-57AD-6EBD9A9FDA8B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2739364" y="3785890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714" name="Google Shape;714;p30">
            <a:extLst>
              <a:ext uri="{FF2B5EF4-FFF2-40B4-BE49-F238E27FC236}">
                <a16:creationId xmlns:a16="http://schemas.microsoft.com/office/drawing/2014/main" id="{A0CEFC8B-0294-FE40-8D6A-FC657647C7C6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2739364" y="2650495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16" name="Google Shape;716;p30">
            <a:extLst>
              <a:ext uri="{FF2B5EF4-FFF2-40B4-BE49-F238E27FC236}">
                <a16:creationId xmlns:a16="http://schemas.microsoft.com/office/drawing/2014/main" id="{77314231-D55D-3CEF-9E0B-43A74D86DD3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572952" y="1516900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altLang="zh-CN"/>
              <a:t>Kevin</a:t>
            </a:r>
            <a:r>
              <a:rPr lang="en"/>
              <a:t> Lu (</a:t>
            </a:r>
            <a:r>
              <a:rPr lang="en-US"/>
              <a:t>25701855)</a:t>
            </a:r>
            <a:endParaRPr/>
          </a:p>
        </p:txBody>
      </p:sp>
      <p:sp>
        <p:nvSpPr>
          <p:cNvPr id="717" name="Google Shape;717;p30">
            <a:extLst>
              <a:ext uri="{FF2B5EF4-FFF2-40B4-BE49-F238E27FC236}">
                <a16:creationId xmlns:a16="http://schemas.microsoft.com/office/drawing/2014/main" id="{F2B7DE28-4ABA-9345-D904-085A00783303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3572952" y="2652298"/>
            <a:ext cx="3483168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err="1"/>
              <a:t>Hooward</a:t>
            </a:r>
            <a:r>
              <a:rPr lang="en-US"/>
              <a:t> </a:t>
            </a:r>
            <a:r>
              <a:rPr lang="en-US" err="1"/>
              <a:t>Kangdrew</a:t>
            </a:r>
            <a:r>
              <a:rPr lang="en-US"/>
              <a:t> (25008970)</a:t>
            </a:r>
            <a:endParaRPr/>
          </a:p>
        </p:txBody>
      </p:sp>
      <p:sp>
        <p:nvSpPr>
          <p:cNvPr id="718" name="Google Shape;718;p30">
            <a:extLst>
              <a:ext uri="{FF2B5EF4-FFF2-40B4-BE49-F238E27FC236}">
                <a16:creationId xmlns:a16="http://schemas.microsoft.com/office/drawing/2014/main" id="{13F3FA79-5631-E228-DEC6-7E9E14C22560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3572948" y="3219998"/>
            <a:ext cx="3596867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/>
              <a:t>Thien Bao Minh Dang (14512584) </a:t>
            </a:r>
            <a:endParaRPr/>
          </a:p>
        </p:txBody>
      </p:sp>
      <p:sp>
        <p:nvSpPr>
          <p:cNvPr id="719" name="Google Shape;719;p30">
            <a:extLst>
              <a:ext uri="{FF2B5EF4-FFF2-40B4-BE49-F238E27FC236}">
                <a16:creationId xmlns:a16="http://schemas.microsoft.com/office/drawing/2014/main" id="{39317173-15EA-54C4-780F-E3B11760A899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3572948" y="3787697"/>
            <a:ext cx="3157955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/>
              <a:t>Viet Anh Pham (14515011)​</a:t>
            </a:r>
            <a:endParaRPr/>
          </a:p>
        </p:txBody>
      </p:sp>
      <p:grpSp>
        <p:nvGrpSpPr>
          <p:cNvPr id="721" name="Google Shape;721;p30">
            <a:extLst>
              <a:ext uri="{FF2B5EF4-FFF2-40B4-BE49-F238E27FC236}">
                <a16:creationId xmlns:a16="http://schemas.microsoft.com/office/drawing/2014/main" id="{5AAA211D-A35E-D999-3F1C-A72A4C93A84B}"/>
              </a:ext>
            </a:extLst>
          </p:cNvPr>
          <p:cNvGrpSpPr/>
          <p:nvPr/>
        </p:nvGrpSpPr>
        <p:grpSpPr>
          <a:xfrm>
            <a:off x="1339375" y="1762000"/>
            <a:ext cx="1193310" cy="3463350"/>
            <a:chOff x="472500" y="1762000"/>
            <a:chExt cx="1193310" cy="3463350"/>
          </a:xfrm>
        </p:grpSpPr>
        <p:grpSp>
          <p:nvGrpSpPr>
            <p:cNvPr id="722" name="Google Shape;722;p30">
              <a:extLst>
                <a:ext uri="{FF2B5EF4-FFF2-40B4-BE49-F238E27FC236}">
                  <a16:creationId xmlns:a16="http://schemas.microsoft.com/office/drawing/2014/main" id="{B23C9E59-74DD-5109-98F9-0BADB6E5AD69}"/>
                </a:ext>
              </a:extLst>
            </p:cNvPr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4" cy="1266614"/>
            </a:xfrm>
          </p:grpSpPr>
          <p:sp>
            <p:nvSpPr>
              <p:cNvPr id="723" name="Google Shape;723;p30">
                <a:extLst>
                  <a:ext uri="{FF2B5EF4-FFF2-40B4-BE49-F238E27FC236}">
                    <a16:creationId xmlns:a16="http://schemas.microsoft.com/office/drawing/2014/main" id="{4C43347C-DDDB-6970-EE26-FB765CAEAE54}"/>
                  </a:ext>
                </a:extLst>
              </p:cNvPr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0">
                <a:extLst>
                  <a:ext uri="{FF2B5EF4-FFF2-40B4-BE49-F238E27FC236}">
                    <a16:creationId xmlns:a16="http://schemas.microsoft.com/office/drawing/2014/main" id="{285850F9-E10E-D22B-437C-EB66FAE64845}"/>
                  </a:ext>
                </a:extLst>
              </p:cNvPr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5" name="Google Shape;725;p30">
              <a:extLst>
                <a:ext uri="{FF2B5EF4-FFF2-40B4-BE49-F238E27FC236}">
                  <a16:creationId xmlns:a16="http://schemas.microsoft.com/office/drawing/2014/main" id="{0DA16446-9750-C91F-304A-1373C62EA9F2}"/>
                </a:ext>
              </a:extLst>
            </p:cNvPr>
            <p:cNvSpPr/>
            <p:nvPr/>
          </p:nvSpPr>
          <p:spPr>
            <a:xfrm>
              <a:off x="472500" y="1762000"/>
              <a:ext cx="700000" cy="3463350"/>
            </a:xfrm>
            <a:custGeom>
              <a:avLst/>
              <a:gdLst/>
              <a:ahLst/>
              <a:cxnLst/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2739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BA12E91B-569A-A170-FA98-D234DBC9D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B774FDD4-1A59-8B43-1C20-8E7904BE60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Research Aim </a:t>
            </a:r>
            <a:endParaRPr lang="en-US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FF2854B5-36C9-215C-2E62-379EAFD5C09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55484" y="1491018"/>
            <a:ext cx="7542127" cy="32709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0" indent="-342900">
              <a:buFont typeface="Wingdings" panose="05000000000000000000" pitchFamily="2" charset="2"/>
              <a:buChar char="§"/>
            </a:pPr>
            <a:r>
              <a:rPr lang="en" sz="2000" b="1"/>
              <a:t>Improve the explainability of phishing detection models </a:t>
            </a:r>
            <a:endParaRPr lang="en-US" sz="2000" b="1"/>
          </a:p>
          <a:p>
            <a:pPr marL="495300" indent="-342900">
              <a:buFont typeface="Wingdings" panose="05000000000000000000" pitchFamily="2" charset="2"/>
              <a:buChar char="§"/>
            </a:pPr>
            <a:endParaRPr lang="en" sz="2000" b="1"/>
          </a:p>
          <a:p>
            <a:pPr marL="495300" indent="-342900">
              <a:buFont typeface="Wingdings" panose="05000000000000000000" pitchFamily="2" charset="2"/>
              <a:buChar char="§"/>
            </a:pPr>
            <a:r>
              <a:rPr lang="en" sz="2000" b="1"/>
              <a:t>This research focus specially on phishing email detection </a:t>
            </a:r>
          </a:p>
          <a:p>
            <a:pPr marL="495300" indent="-342900">
              <a:buFont typeface="Wingdings" panose="05000000000000000000" pitchFamily="2" charset="2"/>
              <a:buChar char="§"/>
            </a:pPr>
            <a:endParaRPr lang="en" sz="2000" b="1"/>
          </a:p>
          <a:p>
            <a:pPr marL="495300" indent="-342900">
              <a:buFont typeface="Wingdings" panose="05000000000000000000" pitchFamily="2" charset="2"/>
              <a:buChar char="§"/>
            </a:pPr>
            <a:r>
              <a:rPr lang="en" sz="2000" b="1"/>
              <a:t>Provide a faster and more interpretable to small businesses without high cost.</a:t>
            </a:r>
          </a:p>
          <a:p>
            <a:pPr marL="152400" indent="0"/>
            <a:endParaRPr lang="en" sz="2000" b="1"/>
          </a:p>
          <a:p>
            <a:pPr marL="495300" indent="-342900">
              <a:buFont typeface="Wingdings" panose="05000000000000000000" pitchFamily="2" charset="2"/>
              <a:buChar char="§"/>
            </a:pPr>
            <a:r>
              <a:rPr lang="en-US" sz="2000" b="1"/>
              <a:t>Transparency of phishing detection model is needed to increase its trustworthiness, and accountability for security incidents (Sarker et al., 2024)​.</a:t>
            </a:r>
          </a:p>
        </p:txBody>
      </p:sp>
    </p:spTree>
    <p:extLst>
      <p:ext uri="{BB962C8B-B14F-4D97-AF65-F5344CB8AC3E}">
        <p14:creationId xmlns:p14="http://schemas.microsoft.com/office/powerpoint/2010/main" val="130076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802776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Significance or potential impact of the research</a:t>
            </a:r>
            <a:endParaRPr/>
          </a:p>
        </p:txBody>
      </p:sp>
      <p:graphicFrame>
        <p:nvGraphicFramePr>
          <p:cNvPr id="701" name="Google Shape;701;p29"/>
          <p:cNvGraphicFramePr/>
          <p:nvPr>
            <p:extLst>
              <p:ext uri="{D42A27DB-BD31-4B8C-83A1-F6EECF244321}">
                <p14:modId xmlns:p14="http://schemas.microsoft.com/office/powerpoint/2010/main" val="1242888026"/>
              </p:ext>
            </p:extLst>
          </p:nvPr>
        </p:nvGraphicFramePr>
        <p:xfrm>
          <a:off x="720000" y="1447800"/>
          <a:ext cx="7622925" cy="2401824"/>
        </p:xfrm>
        <a:graphic>
          <a:graphicData uri="http://schemas.openxmlformats.org/drawingml/2006/table">
            <a:tbl>
              <a:tblPr>
                <a:noFill/>
                <a:tableStyleId>{277C646A-9E43-4021-A620-957DBF18076D}</a:tableStyleId>
              </a:tblPr>
              <a:tblGrid>
                <a:gridCol w="35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4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sng">
                          <a:solidFill>
                            <a:schemeClr val="hlink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1</a:t>
                      </a:r>
                      <a:endParaRPr sz="1200" b="1" u="sng">
                        <a:solidFill>
                          <a:schemeClr val="dk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Improve the transparency of phishing detection systems​</a:t>
                      </a:r>
                      <a:endParaRPr sz="1400" b="1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sng">
                          <a:solidFill>
                            <a:schemeClr val="hlink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2</a:t>
                      </a:r>
                      <a:endParaRPr sz="1200" b="1" u="sng">
                        <a:solidFill>
                          <a:schemeClr val="dk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Help small businesses understand why the email is classified as phishing</a:t>
                      </a:r>
                      <a:endParaRPr sz="1400" b="1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sng">
                          <a:solidFill>
                            <a:schemeClr val="hlink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3</a:t>
                      </a:r>
                      <a:endParaRPr sz="1200" b="1" u="sng">
                        <a:solidFill>
                          <a:schemeClr val="dk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Reduce the cost and risk compared to traditional detection tools​</a:t>
                      </a:r>
                      <a:endParaRPr sz="1400" b="1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sng">
                          <a:solidFill>
                            <a:schemeClr val="hlink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4</a:t>
                      </a:r>
                      <a:endParaRPr lang="en" sz="1200" b="1" u="sng">
                        <a:solidFill>
                          <a:schemeClr val="dk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Provide an interpretable solution for small businesses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7EC25225-B501-C2E7-6FB7-8960D21F9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131027E2-732E-AAB6-1CE8-B6A711E779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"/>
              <a:t>Literature Review </a:t>
            </a: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A0BAE6-6171-24AA-2521-52305CD54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918139"/>
              </p:ext>
            </p:extLst>
          </p:nvPr>
        </p:nvGraphicFramePr>
        <p:xfrm>
          <a:off x="412148" y="1017725"/>
          <a:ext cx="8319654" cy="3703308"/>
        </p:xfrm>
        <a:graphic>
          <a:graphicData uri="http://schemas.openxmlformats.org/drawingml/2006/table">
            <a:tbl>
              <a:tblPr firstRow="1" bandRow="1">
                <a:noFill/>
                <a:tableStyleId>{3C2FFA5D-87B4-456A-9821-1D502468CF0F}</a:tableStyleId>
              </a:tblPr>
              <a:tblGrid>
                <a:gridCol w="1293914">
                  <a:extLst>
                    <a:ext uri="{9D8B030D-6E8A-4147-A177-3AD203B41FA5}">
                      <a16:colId xmlns:a16="http://schemas.microsoft.com/office/drawing/2014/main" val="3449480577"/>
                    </a:ext>
                  </a:extLst>
                </a:gridCol>
                <a:gridCol w="2147237">
                  <a:extLst>
                    <a:ext uri="{9D8B030D-6E8A-4147-A177-3AD203B41FA5}">
                      <a16:colId xmlns:a16="http://schemas.microsoft.com/office/drawing/2014/main" val="1750340670"/>
                    </a:ext>
                  </a:extLst>
                </a:gridCol>
                <a:gridCol w="1402226">
                  <a:extLst>
                    <a:ext uri="{9D8B030D-6E8A-4147-A177-3AD203B41FA5}">
                      <a16:colId xmlns:a16="http://schemas.microsoft.com/office/drawing/2014/main" val="2103203284"/>
                    </a:ext>
                  </a:extLst>
                </a:gridCol>
                <a:gridCol w="1892557">
                  <a:extLst>
                    <a:ext uri="{9D8B030D-6E8A-4147-A177-3AD203B41FA5}">
                      <a16:colId xmlns:a16="http://schemas.microsoft.com/office/drawing/2014/main" val="3270843066"/>
                    </a:ext>
                  </a:extLst>
                </a:gridCol>
                <a:gridCol w="1583720">
                  <a:extLst>
                    <a:ext uri="{9D8B030D-6E8A-4147-A177-3AD203B41FA5}">
                      <a16:colId xmlns:a16="http://schemas.microsoft.com/office/drawing/2014/main" val="349013863"/>
                    </a:ext>
                  </a:extLst>
                </a:gridCol>
              </a:tblGrid>
              <a:tr h="405099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900" b="1">
                          <a:solidFill>
                            <a:srgbClr val="FFFFFF"/>
                          </a:solidFill>
                          <a:effectLst/>
                        </a:rPr>
                        <a:t>Authors</a:t>
                      </a:r>
                      <a:endParaRPr lang="en-GB" sz="900" b="1" i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97498" marR="58499" marT="58499" marB="58499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900" b="1">
                          <a:solidFill>
                            <a:srgbClr val="FFFFFF"/>
                          </a:solidFill>
                          <a:effectLst/>
                        </a:rPr>
                        <a:t>Title</a:t>
                      </a:r>
                      <a:endParaRPr lang="en-GB" sz="900" b="1" i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97498" marR="58499" marT="58499" marB="58499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900" b="1">
                          <a:solidFill>
                            <a:srgbClr val="FF0000"/>
                          </a:solidFill>
                          <a:effectLst/>
                        </a:rPr>
                        <a:t>XAI methods</a:t>
                      </a:r>
                      <a:endParaRPr lang="en-GB" sz="900" b="1" i="0">
                        <a:solidFill>
                          <a:srgbClr val="FF0000"/>
                        </a:solidFill>
                        <a:effectLst/>
                        <a:latin typeface="Aptos"/>
                      </a:endParaRPr>
                    </a:p>
                  </a:txBody>
                  <a:tcPr marL="97498" marR="58499" marT="58499" marB="58499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900" b="1">
                          <a:solidFill>
                            <a:srgbClr val="FFFFFF"/>
                          </a:solidFill>
                          <a:effectLst/>
                        </a:rPr>
                        <a:t>AI models</a:t>
                      </a:r>
                      <a:endParaRPr lang="en-GB" sz="900" b="1" i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97498" marR="58499" marT="58499" marB="58499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900" b="1">
                          <a:solidFill>
                            <a:srgbClr val="FFFFFF"/>
                          </a:solidFill>
                          <a:effectLst/>
                        </a:rPr>
                        <a:t>Venue</a:t>
                      </a:r>
                      <a:endParaRPr lang="en-GB" sz="900" b="1" i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97498" marR="58499" marT="58499" marB="58499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230573"/>
                  </a:ext>
                </a:extLst>
              </a:tr>
              <a:tr h="955428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AU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Al-</a:t>
                      </a:r>
                      <a:r>
                        <a:rPr lang="en-AU" sz="900" b="1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Subaiey</a:t>
                      </a:r>
                      <a:r>
                        <a:rPr lang="en-AU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 et al. (2024)</a:t>
                      </a:r>
                      <a:endParaRPr lang="en-AU" sz="900" b="1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97498" marR="58499" marT="58499" marB="58499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“Novel interpretable and robust web-based AI platform for phishing email detection”</a:t>
                      </a:r>
                      <a:endParaRPr lang="en-GB" sz="900" b="1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97498" marR="58499" marT="58499" marB="58499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LIME</a:t>
                      </a:r>
                      <a:endParaRPr lang="en-GB" sz="900" b="1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97498" marR="58499" marT="58499" marB="58499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AU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Support Vector Machine, Multinomial Naive Bayes, Random Forest Classifier</a:t>
                      </a:r>
                      <a:endParaRPr lang="en-AU" sz="900" b="1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97498" marR="58499" marT="58499" marB="58499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AU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Computers and Electrical Engineering</a:t>
                      </a:r>
                      <a:endParaRPr lang="en-AU" sz="900" b="1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97498" marR="58499" marT="58499" marB="58499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628411"/>
                  </a:ext>
                </a:extLst>
              </a:tr>
              <a:tr h="1051554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AU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Al-</a:t>
                      </a:r>
                      <a:r>
                        <a:rPr lang="en-AU" sz="900" b="1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E'mari</a:t>
                      </a:r>
                      <a:r>
                        <a:rPr lang="en-AU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 et al.</a:t>
                      </a:r>
                    </a:p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AU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(2025)</a:t>
                      </a:r>
                      <a:endParaRPr lang="en-AU" sz="900" b="1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97498" marR="58499" marT="58499" marB="58499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A Cognitive BDI–</a:t>
                      </a:r>
                      <a:r>
                        <a:rPr lang="en-GB" sz="900" b="1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BiLSTM</a:t>
                      </a:r>
                      <a:r>
                        <a:rPr lang="en-GB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 Hybrid Framework for Interpretable Email Threat Detection</a:t>
                      </a:r>
                      <a:endParaRPr lang="en-GB" sz="900" b="1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97498" marR="58499" marT="58499" marB="58499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SHAP, Belief–Desire–Intention cognitive agent</a:t>
                      </a:r>
                      <a:endParaRPr lang="en-GB" sz="900" b="1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97498" marR="58499" marT="58499" marB="58499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AU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Bidirectional Long Short-Term Memory</a:t>
                      </a:r>
                      <a:endParaRPr lang="en-AU" sz="900" b="1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97498" marR="58499" marT="58499" marB="58499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IEEE</a:t>
                      </a:r>
                      <a:endParaRPr lang="en-GB" sz="900" b="1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97498" marR="58499" marT="58499" marB="58499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644901"/>
                  </a:ext>
                </a:extLst>
              </a:tr>
              <a:tr h="1051554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AU" sz="900" b="1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Shendkar</a:t>
                      </a:r>
                      <a:r>
                        <a:rPr lang="en-AU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 et al. (2025)</a:t>
                      </a:r>
                      <a:endParaRPr lang="en-AU" sz="900" b="1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97498" marR="58499" marT="58499" marB="58499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Enhancing Phishing Attack Detection Using Explainable AI: Trends and Innovations</a:t>
                      </a:r>
                      <a:endParaRPr lang="en-GB" sz="900" b="1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97498" marR="58499" marT="58499" marB="58499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AU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SHAP, Grad-CAM</a:t>
                      </a:r>
                      <a:endParaRPr lang="en-AU" sz="900" b="1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97498" marR="58499" marT="58499" marB="58499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Deep learning models</a:t>
                      </a:r>
                      <a:endParaRPr lang="en-GB" sz="900" b="1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97498" marR="58499" marT="58499" marB="58499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AU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AJSTD / UBD (2025)</a:t>
                      </a:r>
                      <a:endParaRPr lang="en-AU" sz="900" b="1" i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97498" marR="58499" marT="58499" marB="58499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32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6493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973ABF94-89D1-1A56-ECD5-A5CFF9988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69C7FDC5-A8DE-2545-3468-35E9898050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Literature Review </a:t>
            </a:r>
            <a:endParaRPr lang="en-US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BC95A9E9-16F6-75C1-E96A-CF8207D11B0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320035" y="1649140"/>
            <a:ext cx="4823965" cy="29218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/>
              <a:t>	</a:t>
            </a:r>
            <a:r>
              <a:rPr lang="en" sz="2000" b="1"/>
              <a:t>Local Interpretable Model-agnostic Explanations (LIME) and SHapley Additive exPlanations (Shap) are two most used methods used most to explain original models in phishing email. </a:t>
            </a:r>
            <a:endParaRPr lang="en" b="1"/>
          </a:p>
        </p:txBody>
      </p:sp>
      <p:pic>
        <p:nvPicPr>
          <p:cNvPr id="2" name="Picture 1" descr="A table of information with numbers and letters&#10;&#10;AI-generated content may be incorrect.">
            <a:extLst>
              <a:ext uri="{FF2B5EF4-FFF2-40B4-BE49-F238E27FC236}">
                <a16:creationId xmlns:a16="http://schemas.microsoft.com/office/drawing/2014/main" id="{CC32DAA4-6300-81E2-8CB8-F29CCF32E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29" y="1019175"/>
            <a:ext cx="4011384" cy="403587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8A69FAD-4877-D0FD-0261-235E906ACD1C}"/>
              </a:ext>
            </a:extLst>
          </p:cNvPr>
          <p:cNvSpPr/>
          <p:nvPr/>
        </p:nvSpPr>
        <p:spPr>
          <a:xfrm>
            <a:off x="548640" y="3889465"/>
            <a:ext cx="4012473" cy="6803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8A992A-67DF-C381-B378-7A00B3BCFDC9}"/>
              </a:ext>
            </a:extLst>
          </p:cNvPr>
          <p:cNvSpPr txBox="1"/>
          <p:nvPr/>
        </p:nvSpPr>
        <p:spPr>
          <a:xfrm>
            <a:off x="4555994" y="4669964"/>
            <a:ext cx="2522039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AU" sz="1600">
                <a:solidFill>
                  <a:schemeClr val="tx1"/>
                </a:solidFill>
                <a:latin typeface="Aptos"/>
              </a:rPr>
              <a:t>Sharma et al. (2025)</a:t>
            </a:r>
            <a:endParaRPr lang="en-US" sz="1600">
              <a:solidFill>
                <a:schemeClr val="tx1"/>
              </a:solidFill>
              <a:latin typeface="Aptos"/>
            </a:endParaRPr>
          </a:p>
          <a:p>
            <a:pPr algn="l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538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A9165D4C-D693-4F4C-777F-1F4921E78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A13478-9267-0B4C-371C-D1D2380E0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48" y="396772"/>
            <a:ext cx="8010678" cy="294242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D1B610C-7D3C-85C2-7B10-9F934D245D22}"/>
              </a:ext>
            </a:extLst>
          </p:cNvPr>
          <p:cNvSpPr/>
          <p:nvPr/>
        </p:nvSpPr>
        <p:spPr>
          <a:xfrm>
            <a:off x="2131695" y="2190749"/>
            <a:ext cx="775063" cy="4376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E53FF2-18BD-1865-8D1A-7FFB72B65A35}"/>
              </a:ext>
            </a:extLst>
          </p:cNvPr>
          <p:cNvSpPr/>
          <p:nvPr/>
        </p:nvSpPr>
        <p:spPr>
          <a:xfrm>
            <a:off x="4929324" y="2730681"/>
            <a:ext cx="784860" cy="4757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0A383B6-2619-2BF3-0EFA-0904723F1A60}"/>
              </a:ext>
            </a:extLst>
          </p:cNvPr>
          <p:cNvCxnSpPr>
            <a:cxnSpLocks/>
          </p:cNvCxnSpPr>
          <p:nvPr/>
        </p:nvCxnSpPr>
        <p:spPr>
          <a:xfrm flipH="1" flipV="1">
            <a:off x="2539910" y="2666455"/>
            <a:ext cx="867592" cy="9165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B2D4ECF-A36A-C030-FA9D-4C16AB26FB9D}"/>
              </a:ext>
            </a:extLst>
          </p:cNvPr>
          <p:cNvCxnSpPr>
            <a:cxnSpLocks/>
          </p:cNvCxnSpPr>
          <p:nvPr/>
        </p:nvCxnSpPr>
        <p:spPr>
          <a:xfrm flipV="1">
            <a:off x="4652826" y="3231427"/>
            <a:ext cx="661852" cy="3526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6">
            <a:extLst>
              <a:ext uri="{FF2B5EF4-FFF2-40B4-BE49-F238E27FC236}">
                <a16:creationId xmlns:a16="http://schemas.microsoft.com/office/drawing/2014/main" id="{99748C89-3820-A4B5-9E92-405393E1CEAF}"/>
              </a:ext>
            </a:extLst>
          </p:cNvPr>
          <p:cNvSpPr txBox="1"/>
          <p:nvPr/>
        </p:nvSpPr>
        <p:spPr>
          <a:xfrm>
            <a:off x="2278652" y="3605892"/>
            <a:ext cx="4266112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/>
              <a:t>SHAP and LIME fall in these categories</a:t>
            </a:r>
            <a:endParaRPr lang="en-US" sz="1400" b="1">
              <a:cs typeface="Arial"/>
            </a:endParaRPr>
          </a:p>
          <a:p>
            <a:endParaRPr lang="en-US" sz="1400" b="1">
              <a:cs typeface="Arial"/>
            </a:endParaRPr>
          </a:p>
          <a:p>
            <a:r>
              <a:rPr lang="en-US" sz="1400" b="1"/>
              <a:t>This means it does not intrinsically and globally explain the model!</a:t>
            </a:r>
            <a:endParaRPr lang="en-US" sz="1400" b="1">
              <a:cs typeface="Arial"/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232FAE80-E9E1-99FB-5C1E-C8731C3DD082}"/>
              </a:ext>
            </a:extLst>
          </p:cNvPr>
          <p:cNvSpPr txBox="1"/>
          <p:nvPr/>
        </p:nvSpPr>
        <p:spPr>
          <a:xfrm>
            <a:off x="7043815" y="3344282"/>
            <a:ext cx="1446711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100" i="1" err="1"/>
              <a:t>Hassija</a:t>
            </a:r>
            <a:r>
              <a:rPr lang="en-AU" sz="1100" i="1"/>
              <a:t> et al. (2023)</a:t>
            </a:r>
            <a:endParaRPr lang="en-AU" sz="1100" i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8724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Gaps for further research </a:t>
            </a:r>
            <a:endParaRPr lang="en-US"/>
          </a:p>
        </p:txBody>
      </p:sp>
      <p:sp>
        <p:nvSpPr>
          <p:cNvPr id="763" name="Google Shape;763;p33"/>
          <p:cNvSpPr txBox="1">
            <a:spLocks noGrp="1"/>
          </p:cNvSpPr>
          <p:nvPr>
            <p:ph type="subTitle" idx="2"/>
          </p:nvPr>
        </p:nvSpPr>
        <p:spPr>
          <a:xfrm>
            <a:off x="720000" y="1994293"/>
            <a:ext cx="7542127" cy="32709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/>
              <a:t>1. Research on Global Post-hoc XAI in phishing detection machine learning model is underexplored. </a:t>
            </a:r>
          </a:p>
          <a:p>
            <a:endParaRPr lang="en" sz="2000" b="1"/>
          </a:p>
          <a:p>
            <a:pPr marL="152400" indent="0"/>
            <a:r>
              <a:rPr lang="en" sz="2000" b="1"/>
              <a:t>2. Common methods not fully uncover the black-box.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05C8D07A-0BF8-1FA2-FA72-1B60C9C9F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BCB5C0DE-70EC-ADA6-6F1D-29F8CBF281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"/>
              <a:t>Literature review on Global Post-hoc XAI</a:t>
            </a: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86F76B-76A7-43F5-95F2-AEEE7F21E0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185938"/>
              </p:ext>
            </p:extLst>
          </p:nvPr>
        </p:nvGraphicFramePr>
        <p:xfrm>
          <a:off x="346364" y="1875411"/>
          <a:ext cx="8430491" cy="18221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646">
                  <a:extLst>
                    <a:ext uri="{9D8B030D-6E8A-4147-A177-3AD203B41FA5}">
                      <a16:colId xmlns:a16="http://schemas.microsoft.com/office/drawing/2014/main" val="1660492380"/>
                    </a:ext>
                  </a:extLst>
                </a:gridCol>
                <a:gridCol w="1405457">
                  <a:extLst>
                    <a:ext uri="{9D8B030D-6E8A-4147-A177-3AD203B41FA5}">
                      <a16:colId xmlns:a16="http://schemas.microsoft.com/office/drawing/2014/main" val="3983947391"/>
                    </a:ext>
                  </a:extLst>
                </a:gridCol>
                <a:gridCol w="3001988">
                  <a:extLst>
                    <a:ext uri="{9D8B030D-6E8A-4147-A177-3AD203B41FA5}">
                      <a16:colId xmlns:a16="http://schemas.microsoft.com/office/drawing/2014/main" val="287459836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42653375"/>
                    </a:ext>
                  </a:extLst>
                </a:gridCol>
              </a:tblGrid>
              <a:tr h="319877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AU" sz="1500" b="1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Author</a:t>
                      </a:r>
                      <a:endParaRPr lang="en-AU" sz="1100" b="1" i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effectLst/>
                      </a:endParaRPr>
                    </a:p>
                  </a:txBody>
                  <a:tcPr marL="75069" marR="75069" marT="37534" marB="37534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AU" sz="1500" b="1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XAI method</a:t>
                      </a:r>
                      <a:endParaRPr lang="en-AU" sz="1100" b="1" i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effectLst/>
                      </a:endParaRPr>
                    </a:p>
                  </a:txBody>
                  <a:tcPr marL="75069" marR="75069" marT="37534" marB="37534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AU" sz="1500" b="1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Feasible</a:t>
                      </a:r>
                      <a:endParaRPr lang="en-AU" sz="1100" b="1" i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effectLst/>
                      </a:endParaRPr>
                    </a:p>
                  </a:txBody>
                  <a:tcPr marL="75069" marR="75069" marT="37534" marB="37534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AU" sz="1500" b="1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Risk</a:t>
                      </a:r>
                      <a:endParaRPr lang="en-AU" sz="1100" b="1" i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effectLst/>
                      </a:endParaRPr>
                    </a:p>
                  </a:txBody>
                  <a:tcPr marL="75069" marR="75069" marT="37534" marB="37534" anchor="ctr"/>
                </a:tc>
                <a:extLst>
                  <a:ext uri="{0D108BD9-81ED-4DB2-BD59-A6C34878D82A}">
                    <a16:rowId xmlns:a16="http://schemas.microsoft.com/office/drawing/2014/main" val="3548132475"/>
                  </a:ext>
                </a:extLst>
              </a:tr>
              <a:tr h="549255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AU" sz="1500" b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</a:rPr>
                        <a:t>(Apley &amp; Zhu, 2020)</a:t>
                      </a:r>
                      <a:endParaRPr lang="en-AU" sz="1100" b="1" i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75069" marR="75069" marT="37534" marB="37534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AU" sz="1500" b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</a:rPr>
                        <a:t>Accumulated Local Effects</a:t>
                      </a:r>
                      <a:endParaRPr lang="en-AU" sz="1100" b="1" i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75069" marR="75069" marT="37534" marB="37534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AU" sz="1500" b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</a:rPr>
                        <a:t>Computationally Efficient and Truly Mathematical explanation</a:t>
                      </a:r>
                      <a:endParaRPr lang="en-AU" sz="1100" b="1" i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75069" marR="75069" marT="37534" marB="37534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AU" sz="1500" b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</a:rPr>
                        <a:t>Complex interpretations</a:t>
                      </a:r>
                      <a:endParaRPr lang="en-AU" sz="1100" b="1" i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75069" marR="75069" marT="37534" marB="37534" anchor="ctr"/>
                </a:tc>
                <a:extLst>
                  <a:ext uri="{0D108BD9-81ED-4DB2-BD59-A6C34878D82A}">
                    <a16:rowId xmlns:a16="http://schemas.microsoft.com/office/drawing/2014/main" val="2861501939"/>
                  </a:ext>
                </a:extLst>
              </a:tr>
              <a:tr h="778632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AU" sz="1500" b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</a:rPr>
                        <a:t>(Friedman &amp; Popescu, 2008)</a:t>
                      </a:r>
                      <a:endParaRPr lang="en-AU" sz="1100" b="1" i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75069" marR="75069" marT="37534" marB="37534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AU" sz="1500" b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</a:rPr>
                        <a:t>Rule Ensembles</a:t>
                      </a:r>
                      <a:endParaRPr lang="en-AU" sz="1100" b="1" i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75069" marR="75069" marT="37534" marB="37534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AU" sz="1500" b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</a:rPr>
                        <a:t>Human-Readable Logic</a:t>
                      </a:r>
                      <a:endParaRPr lang="en-AU" sz="1100" b="1" i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75069" marR="75069" marT="37534" marB="37534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AU" sz="1500" b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</a:rPr>
                        <a:t>Linear Assumption and sensitive to threshold</a:t>
                      </a:r>
                      <a:endParaRPr lang="en-AU" sz="1100" b="1" i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75069" marR="75069" marT="37534" marB="37534" anchor="ctr"/>
                </a:tc>
                <a:extLst>
                  <a:ext uri="{0D108BD9-81ED-4DB2-BD59-A6C34878D82A}">
                    <a16:rowId xmlns:a16="http://schemas.microsoft.com/office/drawing/2014/main" val="1315428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954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2822EC5E-92BB-36F2-6FA5-3CC387937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2D7B2DFA-F490-439D-E4AA-2835E88A5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Hypothesis and Initital Proposed Method </a:t>
            </a:r>
            <a:endParaRPr lang="en-US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904DF17F-419C-5AD7-667D-703BF1E11F2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34355" y="3145647"/>
            <a:ext cx="8532727" cy="16925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600" b="1"/>
              <a:t>Hypothesis: A global surrogate model can approximate a black-box phishing email classifier with high fidelity while providing faster explanations than perturbation-based explainability methods. </a:t>
            </a:r>
            <a:endParaRPr lang="en-US" sz="1600" b="1"/>
          </a:p>
          <a:p>
            <a:endParaRPr lang="en" sz="1600" b="1"/>
          </a:p>
          <a:p>
            <a:pPr marL="152400" indent="0"/>
            <a:r>
              <a:rPr lang="en" sz="1600" b="1"/>
              <a:t>Possible surrogate models: Generalized Additive Model (GAM) or Explainable Boosting Machines (EBM)</a:t>
            </a:r>
          </a:p>
        </p:txBody>
      </p:sp>
      <p:pic>
        <p:nvPicPr>
          <p:cNvPr id="2" name="Picture 1" descr="A graph with a line and a red line&#10;&#10;AI-generated content may be incorrect.">
            <a:extLst>
              <a:ext uri="{FF2B5EF4-FFF2-40B4-BE49-F238E27FC236}">
                <a16:creationId xmlns:a16="http://schemas.microsoft.com/office/drawing/2014/main" id="{18A1657F-E437-B4C0-657E-A621C1E01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060" y="1011011"/>
            <a:ext cx="5385708" cy="213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606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554A60DB-2638-C26D-D7AB-06EF0615D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23A67AD9-059E-F3E5-8B95-8967C4D1FE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Feasibility of the hypothesis and method  </a:t>
            </a:r>
            <a:endParaRPr lang="en-US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4DE00557-0FC5-FC74-3CA0-8EB6DF68BB7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36482" y="1017489"/>
            <a:ext cx="4472355" cy="14040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400" b="1">
                <a:solidFill>
                  <a:schemeClr val="tx1"/>
                </a:solidFill>
              </a:rPr>
              <a:t>Feasible:</a:t>
            </a:r>
          </a:p>
          <a:p>
            <a:pPr marL="285750" indent="-285750">
              <a:buFont typeface="Arial"/>
              <a:buChar char="•"/>
            </a:pPr>
            <a:r>
              <a:rPr lang="en-GB" sz="1400" b="1">
                <a:solidFill>
                  <a:schemeClr val="tx1"/>
                </a:solidFill>
              </a:rPr>
              <a:t>Tan(2019) demonstrated that a global additive explanation approach can approximate and explain deep neural networks in two case studies</a:t>
            </a:r>
            <a:r>
              <a:rPr lang="en-US" sz="1400" b="1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AU" sz="1400" b="1">
                <a:solidFill>
                  <a:schemeClr val="tx1"/>
                </a:solidFill>
              </a:rPr>
              <a:t>Explainable Boosting Machine (EBM) perform well in the original model, hinting high-fidelity. (Greco et al., 2023)</a:t>
            </a:r>
          </a:p>
        </p:txBody>
      </p:sp>
      <p:sp>
        <p:nvSpPr>
          <p:cNvPr id="3" name="Google Shape;763;p33">
            <a:extLst>
              <a:ext uri="{FF2B5EF4-FFF2-40B4-BE49-F238E27FC236}">
                <a16:creationId xmlns:a16="http://schemas.microsoft.com/office/drawing/2014/main" id="{D8B2D760-FF7B-3CFC-0980-D0DD24095E58}"/>
              </a:ext>
            </a:extLst>
          </p:cNvPr>
          <p:cNvSpPr txBox="1">
            <a:spLocks/>
          </p:cNvSpPr>
          <p:nvPr/>
        </p:nvSpPr>
        <p:spPr>
          <a:xfrm>
            <a:off x="4715188" y="1017489"/>
            <a:ext cx="4465892" cy="1404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/>
            <a:r>
              <a:rPr lang="en-US" sz="1400" b="1">
                <a:solidFill>
                  <a:schemeClr val="tx1"/>
                </a:solidFill>
              </a:rPr>
              <a:t>Risk:</a:t>
            </a:r>
          </a:p>
          <a:p>
            <a:pPr marL="285750" indent="-285750">
              <a:buFont typeface="Arial"/>
              <a:buChar char="•"/>
            </a:pPr>
            <a:r>
              <a:rPr lang="en-US" sz="1400" b="1">
                <a:solidFill>
                  <a:schemeClr val="tx1"/>
                </a:solidFill>
              </a:rPr>
              <a:t>To be able explain the original model using the surrogate model, the fidelity between surrogate and original model need to be high.</a:t>
            </a:r>
          </a:p>
          <a:p>
            <a:pPr marL="285750" indent="-285750">
              <a:buFont typeface="Arial"/>
              <a:buChar char="•"/>
            </a:pPr>
            <a:r>
              <a:rPr lang="en-GB" sz="1400" b="1">
                <a:solidFill>
                  <a:schemeClr val="tx1"/>
                </a:solidFill>
              </a:rPr>
              <a:t>The surrogate model may be too simple to capture the full complexity of the original model</a:t>
            </a:r>
            <a:endParaRPr lang="en-US" sz="1400" b="1">
              <a:solidFill>
                <a:schemeClr val="tx1"/>
              </a:solidFill>
            </a:endParaRPr>
          </a:p>
          <a:p>
            <a:endParaRPr lang="en" sz="1400" b="1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EDD9C8-508C-1706-8877-F68355226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400" y="2721926"/>
            <a:ext cx="3531817" cy="24232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790013-FF23-8C79-BA3D-C14DD8611D88}"/>
              </a:ext>
            </a:extLst>
          </p:cNvPr>
          <p:cNvSpPr txBox="1"/>
          <p:nvPr/>
        </p:nvSpPr>
        <p:spPr>
          <a:xfrm>
            <a:off x="6281579" y="4837436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(Greco et al., 2023) </a:t>
            </a:r>
          </a:p>
        </p:txBody>
      </p:sp>
    </p:spTree>
    <p:extLst>
      <p:ext uri="{BB962C8B-B14F-4D97-AF65-F5344CB8AC3E}">
        <p14:creationId xmlns:p14="http://schemas.microsoft.com/office/powerpoint/2010/main" val="1950908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C4BBA891-DF3C-AD13-DC56-912A40FA7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1F47031D-BA26-78F3-F37E-D5F96AC13A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Expected outcome </a:t>
            </a:r>
            <a:endParaRPr lang="en-US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5A9C6346-BAFD-BEBB-2D69-A6F750B42B9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800413" y="1360389"/>
            <a:ext cx="7542127" cy="32709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2000" b="1">
                <a:solidFill>
                  <a:schemeClr val="tx1"/>
                </a:solidFill>
              </a:rPr>
              <a:t>1. An evaluation of the proposed methods on trained phishing detection machine learning models </a:t>
            </a:r>
          </a:p>
          <a:p>
            <a:pPr marL="0" indent="0"/>
            <a:endParaRPr lang="en-AU" sz="2000" b="1">
              <a:solidFill>
                <a:schemeClr val="tx1"/>
              </a:solidFill>
            </a:endParaRPr>
          </a:p>
          <a:p>
            <a:pPr marL="0" indent="0"/>
            <a:r>
              <a:rPr lang="en-AU" sz="2000" b="1">
                <a:solidFill>
                  <a:schemeClr val="tx1"/>
                </a:solidFill>
              </a:rPr>
              <a:t>2. Explanation attempts on the final result</a:t>
            </a:r>
            <a:endParaRPr lang="en-US" sz="2000" b="1">
              <a:solidFill>
                <a:schemeClr val="tx1"/>
              </a:solidFill>
            </a:endParaRPr>
          </a:p>
          <a:p>
            <a:pPr marL="0" indent="0"/>
            <a:endParaRPr lang="en-AU" sz="2000" b="1">
              <a:solidFill>
                <a:schemeClr val="tx1"/>
              </a:solidFill>
            </a:endParaRPr>
          </a:p>
          <a:p>
            <a:pPr marL="0" indent="0"/>
            <a:r>
              <a:rPr lang="en-AU" sz="2000" b="1">
                <a:solidFill>
                  <a:schemeClr val="tx1"/>
                </a:solidFill>
              </a:rPr>
              <a:t>3. Benchmark of explanation time with permutation-based methods</a:t>
            </a:r>
            <a:endParaRPr lang="en" sz="2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834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3D88D77F-FE94-0F60-FF99-EEEED9F05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3CDF6E60-744A-6F62-FA4A-7EE1CAABD3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How this research fill in the gaps </a:t>
            </a:r>
            <a:endParaRPr lang="en-US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CBB42024-3704-62F8-A303-0F916A95C33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800413" y="1349504"/>
            <a:ext cx="7542127" cy="32709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2000" b="1">
                <a:solidFill>
                  <a:schemeClr val="tx1"/>
                </a:solidFill>
              </a:rPr>
              <a:t>If the research is implemented successfully:</a:t>
            </a:r>
          </a:p>
          <a:p>
            <a:pPr marL="0" indent="0"/>
            <a:endParaRPr lang="en-US" sz="2000" b="1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AU" sz="2000" b="1">
                <a:solidFill>
                  <a:schemeClr val="tx1"/>
                </a:solidFill>
              </a:rPr>
              <a:t>Explanation of existing email phishing detection model would be more faithful and less ambiguity</a:t>
            </a:r>
            <a:endParaRPr lang="en-US" sz="2000" b="1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000" b="1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AU" sz="2000" b="1">
                <a:solidFill>
                  <a:schemeClr val="tx1"/>
                </a:solidFill>
              </a:rPr>
              <a:t>Lead to higher trust on the explanation especially for security teams and businesses</a:t>
            </a:r>
            <a:endParaRPr lang="en-US" sz="2000" b="1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AU" sz="2000" b="1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AU" sz="2000" b="1">
                <a:solidFill>
                  <a:schemeClr val="tx1"/>
                </a:solidFill>
              </a:rPr>
              <a:t>Faster explanation time hence reduce email quarantine period (suitable for urgent emails).</a:t>
            </a:r>
            <a:endParaRPr lang="en-US" sz="2000" b="1">
              <a:solidFill>
                <a:schemeClr val="tx1"/>
              </a:solidFill>
            </a:endParaRPr>
          </a:p>
          <a:p>
            <a:pPr marL="152400" indent="0"/>
            <a:endParaRPr lang="en" sz="2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164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37"/>
          <p:cNvSpPr txBox="1">
            <a:spLocks noGrp="1"/>
          </p:cNvSpPr>
          <p:nvPr>
            <p:ph type="subTitle" idx="1"/>
          </p:nvPr>
        </p:nvSpPr>
        <p:spPr>
          <a:xfrm>
            <a:off x="2631149" y="3831200"/>
            <a:ext cx="3382500" cy="3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Sample period</a:t>
            </a:r>
            <a:endParaRPr sz="1600"/>
          </a:p>
        </p:txBody>
      </p:sp>
      <p:sp>
        <p:nvSpPr>
          <p:cNvPr id="872" name="Google Shape;872;p37"/>
          <p:cNvSpPr txBox="1">
            <a:spLocks noGrp="1"/>
          </p:cNvSpPr>
          <p:nvPr>
            <p:ph type="title"/>
          </p:nvPr>
        </p:nvSpPr>
        <p:spPr>
          <a:xfrm>
            <a:off x="2631149" y="3056545"/>
            <a:ext cx="33825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2020-2026</a:t>
            </a:r>
            <a:endParaRPr sz="4000"/>
          </a:p>
        </p:txBody>
      </p:sp>
      <p:sp>
        <p:nvSpPr>
          <p:cNvPr id="873" name="Google Shape;873;p37"/>
          <p:cNvSpPr txBox="1">
            <a:spLocks noGrp="1"/>
          </p:cNvSpPr>
          <p:nvPr>
            <p:ph type="title" idx="2"/>
          </p:nvPr>
        </p:nvSpPr>
        <p:spPr>
          <a:xfrm>
            <a:off x="1644702" y="1633214"/>
            <a:ext cx="6108748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Business environment</a:t>
            </a:r>
            <a:endParaRPr sz="4000"/>
          </a:p>
        </p:txBody>
      </p:sp>
      <p:sp>
        <p:nvSpPr>
          <p:cNvPr id="874" name="Google Shape;874;p37"/>
          <p:cNvSpPr txBox="1">
            <a:spLocks noGrp="1"/>
          </p:cNvSpPr>
          <p:nvPr>
            <p:ph type="subTitle" idx="3"/>
          </p:nvPr>
        </p:nvSpPr>
        <p:spPr>
          <a:xfrm>
            <a:off x="2710470" y="2413202"/>
            <a:ext cx="3382500" cy="3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Context</a:t>
            </a:r>
          </a:p>
        </p:txBody>
      </p:sp>
      <p:grpSp>
        <p:nvGrpSpPr>
          <p:cNvPr id="877" name="Google Shape;877;p37"/>
          <p:cNvGrpSpPr/>
          <p:nvPr/>
        </p:nvGrpSpPr>
        <p:grpSpPr>
          <a:xfrm>
            <a:off x="6361493" y="-3869887"/>
            <a:ext cx="2394072" cy="6005438"/>
            <a:chOff x="6361493" y="-3627137"/>
            <a:chExt cx="2394072" cy="6005438"/>
          </a:xfrm>
        </p:grpSpPr>
        <p:grpSp>
          <p:nvGrpSpPr>
            <p:cNvPr id="878" name="Google Shape;878;p37"/>
            <p:cNvGrpSpPr/>
            <p:nvPr/>
          </p:nvGrpSpPr>
          <p:grpSpPr>
            <a:xfrm>
              <a:off x="6361493" y="-1981255"/>
              <a:ext cx="681217" cy="3360485"/>
              <a:chOff x="1337800" y="-2525590"/>
              <a:chExt cx="1498167" cy="7390555"/>
            </a:xfrm>
          </p:grpSpPr>
          <p:cxnSp>
            <p:nvCxnSpPr>
              <p:cNvPr id="879" name="Google Shape;879;p37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0" name="Google Shape;880;p37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81" name="Google Shape;881;p37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2" name="Google Shape;882;p37"/>
            <p:cNvSpPr/>
            <p:nvPr/>
          </p:nvSpPr>
          <p:spPr>
            <a:xfrm rot="10800000">
              <a:off x="6784218" y="-3627137"/>
              <a:ext cx="1971347" cy="6005438"/>
            </a:xfrm>
            <a:custGeom>
              <a:avLst/>
              <a:gdLst/>
              <a:ahLst/>
              <a:cxnLst/>
              <a:rect l="l" t="t" r="r" b="b"/>
              <a:pathLst>
                <a:path w="62917" h="191668" extrusionOk="0">
                  <a:moveTo>
                    <a:pt x="0" y="0"/>
                  </a:moveTo>
                  <a:lnTo>
                    <a:pt x="0" y="21836"/>
                  </a:lnTo>
                  <a:lnTo>
                    <a:pt x="38334" y="60169"/>
                  </a:lnTo>
                  <a:lnTo>
                    <a:pt x="38334" y="81762"/>
                  </a:lnTo>
                  <a:lnTo>
                    <a:pt x="22442" y="97654"/>
                  </a:lnTo>
                  <a:lnTo>
                    <a:pt x="22442" y="116457"/>
                  </a:lnTo>
                  <a:lnTo>
                    <a:pt x="62917" y="139825"/>
                  </a:lnTo>
                  <a:lnTo>
                    <a:pt x="62917" y="19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83" name="Google Shape;883;p37"/>
          <p:cNvSpPr/>
          <p:nvPr/>
        </p:nvSpPr>
        <p:spPr>
          <a:xfrm rot="-5400000">
            <a:off x="1311544" y="1863156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884" name="Google Shape;884;p37"/>
          <p:cNvSpPr/>
          <p:nvPr/>
        </p:nvSpPr>
        <p:spPr>
          <a:xfrm rot="16200000">
            <a:off x="2297998" y="3348784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1C961-D52F-6A50-8E79-D2A1D1EF186B}"/>
              </a:ext>
            </a:extLst>
          </p:cNvPr>
          <p:cNvSpPr txBox="1"/>
          <p:nvPr/>
        </p:nvSpPr>
        <p:spPr>
          <a:xfrm>
            <a:off x="2655152" y="577167"/>
            <a:ext cx="377883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>
                <a:solidFill>
                  <a:schemeClr val="accent1">
                    <a:lumMod val="20000"/>
                    <a:lumOff val="80000"/>
                  </a:schemeClr>
                </a:solidFill>
                <a:latin typeface="Raleway Black" pitchFamily="2" charset="0"/>
              </a:rPr>
              <a:t>DATASET OVERVIEW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>
          <a:extLst>
            <a:ext uri="{FF2B5EF4-FFF2-40B4-BE49-F238E27FC236}">
              <a16:creationId xmlns:a16="http://schemas.microsoft.com/office/drawing/2014/main" id="{B6F71CB4-0170-E6EE-7F4D-F1ADA4B98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42">
            <a:extLst>
              <a:ext uri="{FF2B5EF4-FFF2-40B4-BE49-F238E27FC236}">
                <a16:creationId xmlns:a16="http://schemas.microsoft.com/office/drawing/2014/main" id="{E4D4F5E6-954F-5D83-0AC1-29632C91F0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0">
                <a:latin typeface="Raleway Black"/>
                <a:ea typeface="Raleway Black"/>
                <a:cs typeface="Raleway Black"/>
                <a:sym typeface="Raleway Black"/>
              </a:rPr>
              <a:t>DATASET STRUCTURE</a:t>
            </a:r>
            <a:endParaRPr sz="2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041" name="Google Shape;1041;p42">
            <a:extLst>
              <a:ext uri="{FF2B5EF4-FFF2-40B4-BE49-F238E27FC236}">
                <a16:creationId xmlns:a16="http://schemas.microsoft.com/office/drawing/2014/main" id="{CFC7906F-242E-E0A5-2F01-1F1EAA074E5B}"/>
              </a:ext>
            </a:extLst>
          </p:cNvPr>
          <p:cNvSpPr/>
          <p:nvPr/>
        </p:nvSpPr>
        <p:spPr>
          <a:xfrm>
            <a:off x="1336675" y="11658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2" name="Google Shape;1042;p42">
            <a:extLst>
              <a:ext uri="{FF2B5EF4-FFF2-40B4-BE49-F238E27FC236}">
                <a16:creationId xmlns:a16="http://schemas.microsoft.com/office/drawing/2014/main" id="{61CFC790-AC05-6729-E6D8-7CA81C9985C4}"/>
              </a:ext>
            </a:extLst>
          </p:cNvPr>
          <p:cNvSpPr/>
          <p:nvPr/>
        </p:nvSpPr>
        <p:spPr>
          <a:xfrm>
            <a:off x="3300575" y="11658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42">
            <a:extLst>
              <a:ext uri="{FF2B5EF4-FFF2-40B4-BE49-F238E27FC236}">
                <a16:creationId xmlns:a16="http://schemas.microsoft.com/office/drawing/2014/main" id="{EE2E91FF-CDEE-8878-F1C3-58564E686722}"/>
              </a:ext>
            </a:extLst>
          </p:cNvPr>
          <p:cNvSpPr/>
          <p:nvPr/>
        </p:nvSpPr>
        <p:spPr>
          <a:xfrm>
            <a:off x="5264475" y="11658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42">
            <a:extLst>
              <a:ext uri="{FF2B5EF4-FFF2-40B4-BE49-F238E27FC236}">
                <a16:creationId xmlns:a16="http://schemas.microsoft.com/office/drawing/2014/main" id="{A6831040-A0D4-48E8-C940-F2947190CE6F}"/>
              </a:ext>
            </a:extLst>
          </p:cNvPr>
          <p:cNvSpPr/>
          <p:nvPr/>
        </p:nvSpPr>
        <p:spPr>
          <a:xfrm>
            <a:off x="7228375" y="11658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Content Placeholder 2">
            <a:extLst>
              <a:ext uri="{FF2B5EF4-FFF2-40B4-BE49-F238E27FC236}">
                <a16:creationId xmlns:a16="http://schemas.microsoft.com/office/drawing/2014/main" id="{2B14946C-51EC-B173-7879-40D8BED4DC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634217"/>
              </p:ext>
            </p:extLst>
          </p:nvPr>
        </p:nvGraphicFramePr>
        <p:xfrm>
          <a:off x="720000" y="1165800"/>
          <a:ext cx="7788421" cy="3151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69340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 METHOD</a:t>
            </a:r>
            <a:endParaRPr sz="2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041" name="Google Shape;1041;p42"/>
          <p:cNvSpPr/>
          <p:nvPr/>
        </p:nvSpPr>
        <p:spPr>
          <a:xfrm>
            <a:off x="1336675" y="11658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42"/>
          <p:cNvSpPr/>
          <p:nvPr/>
        </p:nvSpPr>
        <p:spPr>
          <a:xfrm>
            <a:off x="7228375" y="11658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42"/>
          <p:cNvSpPr txBox="1"/>
          <p:nvPr/>
        </p:nvSpPr>
        <p:spPr>
          <a:xfrm flipH="1">
            <a:off x="696625" y="186257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Gather phishing and legitimate emails datasets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46" name="Google Shape;1046;p42"/>
          <p:cNvSpPr txBox="1"/>
          <p:nvPr/>
        </p:nvSpPr>
        <p:spPr>
          <a:xfrm flipH="1">
            <a:off x="2660525" y="186257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Converts all data into a consistent structure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47" name="Google Shape;1047;p42"/>
          <p:cNvSpPr txBox="1"/>
          <p:nvPr/>
        </p:nvSpPr>
        <p:spPr>
          <a:xfrm flipH="1">
            <a:off x="4624425" y="186257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Filter the merged dataset, only keep related emails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48" name="Google Shape;1048;p42"/>
          <p:cNvSpPr txBox="1"/>
          <p:nvPr/>
        </p:nvSpPr>
        <p:spPr>
          <a:xfrm flipH="1">
            <a:off x="6588325" y="186257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Using cleaning methods to transform and organize data in text format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049" name="Google Shape;1049;p42"/>
          <p:cNvCxnSpPr>
            <a:cxnSpLocks/>
            <a:stCxn id="1041" idx="3"/>
          </p:cNvCxnSpPr>
          <p:nvPr/>
        </p:nvCxnSpPr>
        <p:spPr>
          <a:xfrm>
            <a:off x="1885375" y="1440150"/>
            <a:ext cx="1415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050" name="Google Shape;1050;p42"/>
          <p:cNvCxnSpPr>
            <a:cxnSpLocks/>
          </p:cNvCxnSpPr>
          <p:nvPr/>
        </p:nvCxnSpPr>
        <p:spPr>
          <a:xfrm>
            <a:off x="3849275" y="1440150"/>
            <a:ext cx="14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051" name="Google Shape;1051;p42"/>
          <p:cNvCxnSpPr>
            <a:cxnSpLocks/>
            <a:endCxn id="1044" idx="1"/>
          </p:cNvCxnSpPr>
          <p:nvPr/>
        </p:nvCxnSpPr>
        <p:spPr>
          <a:xfrm>
            <a:off x="5813175" y="1440150"/>
            <a:ext cx="14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052" name="Google Shape;1052;p42"/>
          <p:cNvCxnSpPr>
            <a:cxnSpLocks/>
            <a:stCxn id="1041" idx="2"/>
            <a:endCxn id="1045" idx="0"/>
          </p:cNvCxnSpPr>
          <p:nvPr/>
        </p:nvCxnSpPr>
        <p:spPr>
          <a:xfrm>
            <a:off x="1611025" y="1714500"/>
            <a:ext cx="0" cy="148075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3" name="Google Shape;1053;p42"/>
          <p:cNvCxnSpPr>
            <a:cxnSpLocks/>
            <a:endCxn id="1046" idx="0"/>
          </p:cNvCxnSpPr>
          <p:nvPr/>
        </p:nvCxnSpPr>
        <p:spPr>
          <a:xfrm>
            <a:off x="3574925" y="1714500"/>
            <a:ext cx="0" cy="148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4" name="Google Shape;1054;p42"/>
          <p:cNvCxnSpPr>
            <a:cxnSpLocks/>
            <a:endCxn id="1047" idx="0"/>
          </p:cNvCxnSpPr>
          <p:nvPr/>
        </p:nvCxnSpPr>
        <p:spPr>
          <a:xfrm>
            <a:off x="5538825" y="1714500"/>
            <a:ext cx="0" cy="148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5" name="Google Shape;1055;p42"/>
          <p:cNvCxnSpPr>
            <a:stCxn id="1044" idx="2"/>
            <a:endCxn id="1048" idx="0"/>
          </p:cNvCxnSpPr>
          <p:nvPr/>
        </p:nvCxnSpPr>
        <p:spPr>
          <a:xfrm>
            <a:off x="7502725" y="1714500"/>
            <a:ext cx="0" cy="148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60" name="Google Shape;1060;p42"/>
          <p:cNvSpPr txBox="1"/>
          <p:nvPr/>
        </p:nvSpPr>
        <p:spPr>
          <a:xfrm flipH="1">
            <a:off x="696625" y="369702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Structure the final dataset as a large cross-sectional dataset of individual emails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067" name="Google Shape;1067;p42"/>
          <p:cNvCxnSpPr>
            <a:cxnSpLocks/>
            <a:endCxn id="1060" idx="0"/>
          </p:cNvCxnSpPr>
          <p:nvPr/>
        </p:nvCxnSpPr>
        <p:spPr>
          <a:xfrm>
            <a:off x="1611025" y="3574225"/>
            <a:ext cx="0" cy="122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1" name="Google Shape;1111;p42"/>
          <p:cNvCxnSpPr>
            <a:cxnSpLocks/>
            <a:stCxn id="1044" idx="3"/>
          </p:cNvCxnSpPr>
          <p:nvPr/>
        </p:nvCxnSpPr>
        <p:spPr>
          <a:xfrm flipH="1">
            <a:off x="1336675" y="1440150"/>
            <a:ext cx="6440400" cy="1859700"/>
          </a:xfrm>
          <a:prstGeom prst="bentConnector5">
            <a:avLst>
              <a:gd name="adj1" fmla="val -10143"/>
              <a:gd name="adj2" fmla="val 72786"/>
              <a:gd name="adj3" fmla="val 109933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4" name="Google Shape;1050;p42">
            <a:extLst>
              <a:ext uri="{FF2B5EF4-FFF2-40B4-BE49-F238E27FC236}">
                <a16:creationId xmlns:a16="http://schemas.microsoft.com/office/drawing/2014/main" id="{8113E37E-A7A3-C790-8D68-36C76F89CDFC}"/>
              </a:ext>
            </a:extLst>
          </p:cNvPr>
          <p:cNvCxnSpPr/>
          <p:nvPr/>
        </p:nvCxnSpPr>
        <p:spPr>
          <a:xfrm>
            <a:off x="1909225" y="3299850"/>
            <a:ext cx="14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7" name="Google Shape;1047;p42">
            <a:extLst>
              <a:ext uri="{FF2B5EF4-FFF2-40B4-BE49-F238E27FC236}">
                <a16:creationId xmlns:a16="http://schemas.microsoft.com/office/drawing/2014/main" id="{78AAF700-6FD9-9C75-8652-6719F7523534}"/>
              </a:ext>
            </a:extLst>
          </p:cNvPr>
          <p:cNvSpPr txBox="1"/>
          <p:nvPr/>
        </p:nvSpPr>
        <p:spPr>
          <a:xfrm flipH="1">
            <a:off x="2670688" y="369692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Collection finished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8" name="Google Shape;1054;p42">
            <a:extLst>
              <a:ext uri="{FF2B5EF4-FFF2-40B4-BE49-F238E27FC236}">
                <a16:creationId xmlns:a16="http://schemas.microsoft.com/office/drawing/2014/main" id="{05F4346C-23B8-8041-6070-8605183690F6}"/>
              </a:ext>
            </a:extLst>
          </p:cNvPr>
          <p:cNvCxnSpPr>
            <a:endCxn id="7" idx="0"/>
          </p:cNvCxnSpPr>
          <p:nvPr/>
        </p:nvCxnSpPr>
        <p:spPr>
          <a:xfrm>
            <a:off x="3585088" y="3548850"/>
            <a:ext cx="0" cy="148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Google Shape;11186;p67">
            <a:extLst>
              <a:ext uri="{FF2B5EF4-FFF2-40B4-BE49-F238E27FC236}">
                <a16:creationId xmlns:a16="http://schemas.microsoft.com/office/drawing/2014/main" id="{181CBBD4-8918-4956-C9EA-5965A31127DF}"/>
              </a:ext>
            </a:extLst>
          </p:cNvPr>
          <p:cNvSpPr/>
          <p:nvPr/>
        </p:nvSpPr>
        <p:spPr>
          <a:xfrm>
            <a:off x="1391012" y="1321771"/>
            <a:ext cx="420796" cy="295690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345;p48">
            <a:extLst>
              <a:ext uri="{FF2B5EF4-FFF2-40B4-BE49-F238E27FC236}">
                <a16:creationId xmlns:a16="http://schemas.microsoft.com/office/drawing/2014/main" id="{199F5508-AF43-14F3-1F40-10AE351455D1}"/>
              </a:ext>
            </a:extLst>
          </p:cNvPr>
          <p:cNvGrpSpPr/>
          <p:nvPr/>
        </p:nvGrpSpPr>
        <p:grpSpPr>
          <a:xfrm>
            <a:off x="3412088" y="1242400"/>
            <a:ext cx="355675" cy="345200"/>
            <a:chOff x="7790488" y="3243925"/>
            <a:chExt cx="355675" cy="345200"/>
          </a:xfrm>
        </p:grpSpPr>
        <p:sp>
          <p:nvSpPr>
            <p:cNvPr id="16" name="Google Shape;1346;p48">
              <a:extLst>
                <a:ext uri="{FF2B5EF4-FFF2-40B4-BE49-F238E27FC236}">
                  <a16:creationId xmlns:a16="http://schemas.microsoft.com/office/drawing/2014/main" id="{960891B9-1B7A-2A39-78E8-C23CE02AFA37}"/>
                </a:ext>
              </a:extLst>
            </p:cNvPr>
            <p:cNvSpPr/>
            <p:nvPr/>
          </p:nvSpPr>
          <p:spPr>
            <a:xfrm>
              <a:off x="7790488" y="3243925"/>
              <a:ext cx="355675" cy="345150"/>
            </a:xfrm>
            <a:custGeom>
              <a:avLst/>
              <a:gdLst/>
              <a:ahLst/>
              <a:cxnLst/>
              <a:rect l="l" t="t" r="r" b="b"/>
              <a:pathLst>
                <a:path w="14227" h="13806" extrusionOk="0">
                  <a:moveTo>
                    <a:pt x="5469" y="814"/>
                  </a:moveTo>
                  <a:cubicBezTo>
                    <a:pt x="6060" y="814"/>
                    <a:pt x="6654" y="1041"/>
                    <a:pt x="7109" y="1486"/>
                  </a:cubicBezTo>
                  <a:lnTo>
                    <a:pt x="8534" y="2911"/>
                  </a:lnTo>
                  <a:lnTo>
                    <a:pt x="7962" y="3484"/>
                  </a:lnTo>
                  <a:lnTo>
                    <a:pt x="6464" y="1988"/>
                  </a:lnTo>
                  <a:cubicBezTo>
                    <a:pt x="5962" y="1497"/>
                    <a:pt x="5367" y="1135"/>
                    <a:pt x="4699" y="948"/>
                  </a:cubicBezTo>
                  <a:cubicBezTo>
                    <a:pt x="4947" y="858"/>
                    <a:pt x="5208" y="814"/>
                    <a:pt x="5469" y="814"/>
                  </a:cubicBezTo>
                  <a:close/>
                  <a:moveTo>
                    <a:pt x="9480" y="3110"/>
                  </a:moveTo>
                  <a:lnTo>
                    <a:pt x="10826" y="4443"/>
                  </a:lnTo>
                  <a:lnTo>
                    <a:pt x="9480" y="5775"/>
                  </a:lnTo>
                  <a:lnTo>
                    <a:pt x="8147" y="4443"/>
                  </a:lnTo>
                  <a:lnTo>
                    <a:pt x="9480" y="3110"/>
                  </a:lnTo>
                  <a:close/>
                  <a:moveTo>
                    <a:pt x="11011" y="5391"/>
                  </a:moveTo>
                  <a:lnTo>
                    <a:pt x="12439" y="6827"/>
                  </a:lnTo>
                  <a:cubicBezTo>
                    <a:pt x="13093" y="7470"/>
                    <a:pt x="13267" y="8418"/>
                    <a:pt x="12975" y="9223"/>
                  </a:cubicBezTo>
                  <a:cubicBezTo>
                    <a:pt x="12790" y="8570"/>
                    <a:pt x="12439" y="7961"/>
                    <a:pt x="11934" y="7459"/>
                  </a:cubicBezTo>
                  <a:lnTo>
                    <a:pt x="10439" y="5963"/>
                  </a:lnTo>
                  <a:lnTo>
                    <a:pt x="11011" y="5391"/>
                  </a:lnTo>
                  <a:close/>
                  <a:moveTo>
                    <a:pt x="7962" y="5391"/>
                  </a:moveTo>
                  <a:lnTo>
                    <a:pt x="8534" y="5963"/>
                  </a:lnTo>
                  <a:lnTo>
                    <a:pt x="3614" y="10884"/>
                  </a:lnTo>
                  <a:lnTo>
                    <a:pt x="3042" y="10312"/>
                  </a:lnTo>
                  <a:lnTo>
                    <a:pt x="7962" y="5391"/>
                  </a:lnTo>
                  <a:close/>
                  <a:moveTo>
                    <a:pt x="2466" y="10884"/>
                  </a:moveTo>
                  <a:lnTo>
                    <a:pt x="3042" y="11456"/>
                  </a:lnTo>
                  <a:lnTo>
                    <a:pt x="1614" y="12881"/>
                  </a:lnTo>
                  <a:cubicBezTo>
                    <a:pt x="1538" y="12964"/>
                    <a:pt x="1436" y="13005"/>
                    <a:pt x="1332" y="13005"/>
                  </a:cubicBezTo>
                  <a:cubicBezTo>
                    <a:pt x="1228" y="13005"/>
                    <a:pt x="1123" y="12964"/>
                    <a:pt x="1041" y="12881"/>
                  </a:cubicBezTo>
                  <a:cubicBezTo>
                    <a:pt x="890" y="12730"/>
                    <a:pt x="890" y="12475"/>
                    <a:pt x="1041" y="12309"/>
                  </a:cubicBezTo>
                  <a:lnTo>
                    <a:pt x="2466" y="10884"/>
                  </a:lnTo>
                  <a:close/>
                  <a:moveTo>
                    <a:pt x="5481" y="1"/>
                  </a:moveTo>
                  <a:cubicBezTo>
                    <a:pt x="4688" y="1"/>
                    <a:pt x="3893" y="305"/>
                    <a:pt x="3286" y="914"/>
                  </a:cubicBezTo>
                  <a:cubicBezTo>
                    <a:pt x="3042" y="1169"/>
                    <a:pt x="3215" y="1604"/>
                    <a:pt x="3577" y="1604"/>
                  </a:cubicBezTo>
                  <a:cubicBezTo>
                    <a:pt x="4455" y="1604"/>
                    <a:pt x="5272" y="1941"/>
                    <a:pt x="5892" y="2561"/>
                  </a:cubicBezTo>
                  <a:lnTo>
                    <a:pt x="7390" y="4059"/>
                  </a:lnTo>
                  <a:lnTo>
                    <a:pt x="7294" y="4151"/>
                  </a:lnTo>
                  <a:cubicBezTo>
                    <a:pt x="7132" y="4314"/>
                    <a:pt x="7132" y="4572"/>
                    <a:pt x="7294" y="4723"/>
                  </a:cubicBezTo>
                  <a:lnTo>
                    <a:pt x="7390" y="4816"/>
                  </a:lnTo>
                  <a:lnTo>
                    <a:pt x="469" y="11737"/>
                  </a:lnTo>
                  <a:cubicBezTo>
                    <a:pt x="1" y="12216"/>
                    <a:pt x="1" y="12977"/>
                    <a:pt x="469" y="13456"/>
                  </a:cubicBezTo>
                  <a:cubicBezTo>
                    <a:pt x="709" y="13689"/>
                    <a:pt x="1022" y="13806"/>
                    <a:pt x="1333" y="13806"/>
                  </a:cubicBezTo>
                  <a:cubicBezTo>
                    <a:pt x="1644" y="13806"/>
                    <a:pt x="1953" y="13689"/>
                    <a:pt x="2186" y="13456"/>
                  </a:cubicBezTo>
                  <a:lnTo>
                    <a:pt x="9107" y="6536"/>
                  </a:lnTo>
                  <a:lnTo>
                    <a:pt x="9199" y="6628"/>
                  </a:lnTo>
                  <a:cubicBezTo>
                    <a:pt x="9276" y="6711"/>
                    <a:pt x="9379" y="6752"/>
                    <a:pt x="9483" y="6752"/>
                  </a:cubicBezTo>
                  <a:cubicBezTo>
                    <a:pt x="9586" y="6752"/>
                    <a:pt x="9692" y="6711"/>
                    <a:pt x="9774" y="6628"/>
                  </a:cubicBezTo>
                  <a:lnTo>
                    <a:pt x="9867" y="6536"/>
                  </a:lnTo>
                  <a:lnTo>
                    <a:pt x="11362" y="8031"/>
                  </a:lnTo>
                  <a:cubicBezTo>
                    <a:pt x="11982" y="8651"/>
                    <a:pt x="12322" y="9470"/>
                    <a:pt x="12322" y="10345"/>
                  </a:cubicBezTo>
                  <a:cubicBezTo>
                    <a:pt x="12322" y="10591"/>
                    <a:pt x="12521" y="10757"/>
                    <a:pt x="12730" y="10757"/>
                  </a:cubicBezTo>
                  <a:cubicBezTo>
                    <a:pt x="12828" y="10757"/>
                    <a:pt x="12929" y="10720"/>
                    <a:pt x="13012" y="10637"/>
                  </a:cubicBezTo>
                  <a:cubicBezTo>
                    <a:pt x="14226" y="9422"/>
                    <a:pt x="14226" y="7459"/>
                    <a:pt x="13012" y="6255"/>
                  </a:cubicBezTo>
                  <a:lnTo>
                    <a:pt x="11584" y="4816"/>
                  </a:lnTo>
                  <a:lnTo>
                    <a:pt x="11679" y="4723"/>
                  </a:lnTo>
                  <a:cubicBezTo>
                    <a:pt x="11831" y="4572"/>
                    <a:pt x="11831" y="4314"/>
                    <a:pt x="11679" y="4151"/>
                  </a:cubicBezTo>
                  <a:lnTo>
                    <a:pt x="9774" y="2246"/>
                  </a:lnTo>
                  <a:cubicBezTo>
                    <a:pt x="9692" y="2171"/>
                    <a:pt x="9586" y="2133"/>
                    <a:pt x="9483" y="2133"/>
                  </a:cubicBezTo>
                  <a:cubicBezTo>
                    <a:pt x="9379" y="2133"/>
                    <a:pt x="9276" y="2171"/>
                    <a:pt x="9199" y="2246"/>
                  </a:cubicBezTo>
                  <a:lnTo>
                    <a:pt x="9107" y="2339"/>
                  </a:lnTo>
                  <a:lnTo>
                    <a:pt x="7670" y="914"/>
                  </a:lnTo>
                  <a:cubicBezTo>
                    <a:pt x="7067" y="305"/>
                    <a:pt x="6275" y="1"/>
                    <a:pt x="54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7" name="Google Shape;1347;p48">
              <a:extLst>
                <a:ext uri="{FF2B5EF4-FFF2-40B4-BE49-F238E27FC236}">
                  <a16:creationId xmlns:a16="http://schemas.microsoft.com/office/drawing/2014/main" id="{089A7B9E-8C48-9F94-B0C3-6DB2C6B08836}"/>
                </a:ext>
              </a:extLst>
            </p:cNvPr>
            <p:cNvSpPr/>
            <p:nvPr/>
          </p:nvSpPr>
          <p:spPr>
            <a:xfrm>
              <a:off x="7934888" y="3487950"/>
              <a:ext cx="155175" cy="101175"/>
            </a:xfrm>
            <a:custGeom>
              <a:avLst/>
              <a:gdLst/>
              <a:ahLst/>
              <a:cxnLst/>
              <a:rect l="l" t="t" r="r" b="b"/>
              <a:pathLst>
                <a:path w="6207" h="4047" extrusionOk="0">
                  <a:moveTo>
                    <a:pt x="2021" y="820"/>
                  </a:moveTo>
                  <a:cubicBezTo>
                    <a:pt x="2688" y="820"/>
                    <a:pt x="3238" y="1356"/>
                    <a:pt x="3238" y="2023"/>
                  </a:cubicBezTo>
                  <a:cubicBezTo>
                    <a:pt x="3238" y="2700"/>
                    <a:pt x="2688" y="3238"/>
                    <a:pt x="2021" y="3238"/>
                  </a:cubicBezTo>
                  <a:cubicBezTo>
                    <a:pt x="1356" y="3238"/>
                    <a:pt x="806" y="2700"/>
                    <a:pt x="806" y="2023"/>
                  </a:cubicBezTo>
                  <a:cubicBezTo>
                    <a:pt x="806" y="1356"/>
                    <a:pt x="1356" y="820"/>
                    <a:pt x="2021" y="820"/>
                  </a:cubicBezTo>
                  <a:close/>
                  <a:moveTo>
                    <a:pt x="4183" y="820"/>
                  </a:moveTo>
                  <a:cubicBezTo>
                    <a:pt x="4851" y="820"/>
                    <a:pt x="5401" y="1356"/>
                    <a:pt x="5401" y="2023"/>
                  </a:cubicBezTo>
                  <a:cubicBezTo>
                    <a:pt x="5401" y="2700"/>
                    <a:pt x="4851" y="3238"/>
                    <a:pt x="4183" y="3238"/>
                  </a:cubicBezTo>
                  <a:cubicBezTo>
                    <a:pt x="4021" y="3238"/>
                    <a:pt x="3858" y="3204"/>
                    <a:pt x="3704" y="3146"/>
                  </a:cubicBezTo>
                  <a:cubicBezTo>
                    <a:pt x="3928" y="2817"/>
                    <a:pt x="4043" y="2444"/>
                    <a:pt x="4043" y="2023"/>
                  </a:cubicBezTo>
                  <a:cubicBezTo>
                    <a:pt x="4043" y="1614"/>
                    <a:pt x="3928" y="1227"/>
                    <a:pt x="3704" y="913"/>
                  </a:cubicBezTo>
                  <a:cubicBezTo>
                    <a:pt x="3858" y="842"/>
                    <a:pt x="4021" y="820"/>
                    <a:pt x="4183" y="820"/>
                  </a:cubicBezTo>
                  <a:close/>
                  <a:moveTo>
                    <a:pt x="2021" y="1"/>
                  </a:moveTo>
                  <a:cubicBezTo>
                    <a:pt x="912" y="1"/>
                    <a:pt x="1" y="913"/>
                    <a:pt x="1" y="2023"/>
                  </a:cubicBezTo>
                  <a:cubicBezTo>
                    <a:pt x="1" y="3146"/>
                    <a:pt x="912" y="4046"/>
                    <a:pt x="2021" y="4046"/>
                  </a:cubicBezTo>
                  <a:cubicBezTo>
                    <a:pt x="2419" y="4046"/>
                    <a:pt x="2792" y="3928"/>
                    <a:pt x="3109" y="3740"/>
                  </a:cubicBezTo>
                  <a:cubicBezTo>
                    <a:pt x="3423" y="3939"/>
                    <a:pt x="3799" y="4046"/>
                    <a:pt x="4183" y="4046"/>
                  </a:cubicBezTo>
                  <a:cubicBezTo>
                    <a:pt x="5294" y="4046"/>
                    <a:pt x="6206" y="3146"/>
                    <a:pt x="6206" y="2023"/>
                  </a:cubicBezTo>
                  <a:cubicBezTo>
                    <a:pt x="6206" y="913"/>
                    <a:pt x="5294" y="1"/>
                    <a:pt x="4183" y="1"/>
                  </a:cubicBezTo>
                  <a:cubicBezTo>
                    <a:pt x="3799" y="1"/>
                    <a:pt x="3423" y="119"/>
                    <a:pt x="3109" y="315"/>
                  </a:cubicBezTo>
                  <a:cubicBezTo>
                    <a:pt x="2792" y="119"/>
                    <a:pt x="2419" y="1"/>
                    <a:pt x="20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8" name="Google Shape;1348;p48">
              <a:extLst>
                <a:ext uri="{FF2B5EF4-FFF2-40B4-BE49-F238E27FC236}">
                  <a16:creationId xmlns:a16="http://schemas.microsoft.com/office/drawing/2014/main" id="{ECC120D2-26FE-DA03-24EC-0054A2A69C0A}"/>
                </a:ext>
              </a:extLst>
            </p:cNvPr>
            <p:cNvSpPr/>
            <p:nvPr/>
          </p:nvSpPr>
          <p:spPr>
            <a:xfrm>
              <a:off x="7975513" y="3528575"/>
              <a:ext cx="20150" cy="20225"/>
            </a:xfrm>
            <a:custGeom>
              <a:avLst/>
              <a:gdLst/>
              <a:ahLst/>
              <a:cxnLst/>
              <a:rect l="l" t="t" r="r" b="b"/>
              <a:pathLst>
                <a:path w="806" h="809" extrusionOk="0">
                  <a:moveTo>
                    <a:pt x="396" y="0"/>
                  </a:moveTo>
                  <a:cubicBezTo>
                    <a:pt x="174" y="0"/>
                    <a:pt x="0" y="177"/>
                    <a:pt x="0" y="398"/>
                  </a:cubicBezTo>
                  <a:cubicBezTo>
                    <a:pt x="0" y="620"/>
                    <a:pt x="174" y="808"/>
                    <a:pt x="396" y="808"/>
                  </a:cubicBezTo>
                  <a:cubicBezTo>
                    <a:pt x="620" y="808"/>
                    <a:pt x="805" y="620"/>
                    <a:pt x="805" y="398"/>
                  </a:cubicBezTo>
                  <a:cubicBezTo>
                    <a:pt x="805" y="177"/>
                    <a:pt x="620" y="0"/>
                    <a:pt x="3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19" name="Google Shape;11187;p67">
            <a:extLst>
              <a:ext uri="{FF2B5EF4-FFF2-40B4-BE49-F238E27FC236}">
                <a16:creationId xmlns:a16="http://schemas.microsoft.com/office/drawing/2014/main" id="{4C7EED94-AFE1-C86D-3C79-2229F8EB8D72}"/>
              </a:ext>
            </a:extLst>
          </p:cNvPr>
          <p:cNvSpPr/>
          <p:nvPr/>
        </p:nvSpPr>
        <p:spPr>
          <a:xfrm>
            <a:off x="5327828" y="1229558"/>
            <a:ext cx="421914" cy="422095"/>
          </a:xfrm>
          <a:custGeom>
            <a:avLst/>
            <a:gdLst/>
            <a:ahLst/>
            <a:cxnLst/>
            <a:rect l="l" t="t" r="r" b="b"/>
            <a:pathLst>
              <a:path w="11689" h="11694" extrusionOk="0">
                <a:moveTo>
                  <a:pt x="5829" y="2048"/>
                </a:moveTo>
                <a:cubicBezTo>
                  <a:pt x="6018" y="2048"/>
                  <a:pt x="6175" y="2206"/>
                  <a:pt x="6175" y="2395"/>
                </a:cubicBezTo>
                <a:cubicBezTo>
                  <a:pt x="6175" y="2615"/>
                  <a:pt x="6018" y="2804"/>
                  <a:pt x="5829" y="2804"/>
                </a:cubicBezTo>
                <a:cubicBezTo>
                  <a:pt x="5640" y="2804"/>
                  <a:pt x="5482" y="2615"/>
                  <a:pt x="5482" y="2395"/>
                </a:cubicBezTo>
                <a:cubicBezTo>
                  <a:pt x="5482" y="2206"/>
                  <a:pt x="5640" y="2048"/>
                  <a:pt x="5829" y="2048"/>
                </a:cubicBezTo>
                <a:close/>
                <a:moveTo>
                  <a:pt x="5829" y="725"/>
                </a:moveTo>
                <a:cubicBezTo>
                  <a:pt x="6774" y="725"/>
                  <a:pt x="7530" y="1449"/>
                  <a:pt x="7530" y="2395"/>
                </a:cubicBezTo>
                <a:cubicBezTo>
                  <a:pt x="7530" y="2521"/>
                  <a:pt x="7530" y="2678"/>
                  <a:pt x="7467" y="2804"/>
                </a:cubicBezTo>
                <a:lnTo>
                  <a:pt x="6774" y="2804"/>
                </a:lnTo>
                <a:cubicBezTo>
                  <a:pt x="6806" y="2678"/>
                  <a:pt x="6837" y="2552"/>
                  <a:pt x="6837" y="2395"/>
                </a:cubicBezTo>
                <a:cubicBezTo>
                  <a:pt x="6837" y="1859"/>
                  <a:pt x="6364" y="1386"/>
                  <a:pt x="5829" y="1386"/>
                </a:cubicBezTo>
                <a:cubicBezTo>
                  <a:pt x="5262" y="1386"/>
                  <a:pt x="4789" y="1859"/>
                  <a:pt x="4789" y="2395"/>
                </a:cubicBezTo>
                <a:cubicBezTo>
                  <a:pt x="4789" y="2521"/>
                  <a:pt x="4852" y="2678"/>
                  <a:pt x="4884" y="2804"/>
                </a:cubicBezTo>
                <a:lnTo>
                  <a:pt x="4159" y="2804"/>
                </a:lnTo>
                <a:cubicBezTo>
                  <a:pt x="4128" y="2678"/>
                  <a:pt x="4128" y="2521"/>
                  <a:pt x="4128" y="2395"/>
                </a:cubicBezTo>
                <a:cubicBezTo>
                  <a:pt x="4128" y="1449"/>
                  <a:pt x="4884" y="725"/>
                  <a:pt x="5829" y="725"/>
                </a:cubicBezTo>
                <a:close/>
                <a:moveTo>
                  <a:pt x="10681" y="3466"/>
                </a:moveTo>
                <a:cubicBezTo>
                  <a:pt x="10870" y="3466"/>
                  <a:pt x="11027" y="3623"/>
                  <a:pt x="11027" y="3812"/>
                </a:cubicBezTo>
                <a:cubicBezTo>
                  <a:pt x="11027" y="4033"/>
                  <a:pt x="10870" y="4190"/>
                  <a:pt x="10681" y="4190"/>
                </a:cubicBezTo>
                <a:lnTo>
                  <a:pt x="1009" y="4190"/>
                </a:lnTo>
                <a:cubicBezTo>
                  <a:pt x="820" y="4190"/>
                  <a:pt x="662" y="4033"/>
                  <a:pt x="662" y="3812"/>
                </a:cubicBezTo>
                <a:cubicBezTo>
                  <a:pt x="662" y="3623"/>
                  <a:pt x="851" y="3466"/>
                  <a:pt x="1009" y="3466"/>
                </a:cubicBezTo>
                <a:close/>
                <a:moveTo>
                  <a:pt x="9799" y="4852"/>
                </a:moveTo>
                <a:lnTo>
                  <a:pt x="7058" y="7593"/>
                </a:lnTo>
                <a:lnTo>
                  <a:pt x="4600" y="7593"/>
                </a:lnTo>
                <a:lnTo>
                  <a:pt x="1859" y="4852"/>
                </a:lnTo>
                <a:close/>
                <a:moveTo>
                  <a:pt x="6869" y="8255"/>
                </a:moveTo>
                <a:lnTo>
                  <a:pt x="6869" y="9767"/>
                </a:lnTo>
                <a:lnTo>
                  <a:pt x="4789" y="10775"/>
                </a:lnTo>
                <a:lnTo>
                  <a:pt x="4789" y="8255"/>
                </a:lnTo>
                <a:close/>
                <a:moveTo>
                  <a:pt x="5829" y="0"/>
                </a:moveTo>
                <a:cubicBezTo>
                  <a:pt x="4474" y="0"/>
                  <a:pt x="3435" y="1071"/>
                  <a:pt x="3435" y="2395"/>
                </a:cubicBezTo>
                <a:cubicBezTo>
                  <a:pt x="3435" y="2521"/>
                  <a:pt x="3435" y="2678"/>
                  <a:pt x="3466" y="2804"/>
                </a:cubicBezTo>
                <a:lnTo>
                  <a:pt x="1009" y="2804"/>
                </a:lnTo>
                <a:cubicBezTo>
                  <a:pt x="473" y="2804"/>
                  <a:pt x="0" y="3277"/>
                  <a:pt x="0" y="3812"/>
                </a:cubicBezTo>
                <a:cubicBezTo>
                  <a:pt x="0" y="4348"/>
                  <a:pt x="379" y="4757"/>
                  <a:pt x="851" y="4852"/>
                </a:cubicBezTo>
                <a:lnTo>
                  <a:pt x="4096" y="8065"/>
                </a:lnTo>
                <a:lnTo>
                  <a:pt x="4096" y="11342"/>
                </a:lnTo>
                <a:cubicBezTo>
                  <a:pt x="4096" y="11518"/>
                  <a:pt x="4277" y="11694"/>
                  <a:pt x="4462" y="11694"/>
                </a:cubicBezTo>
                <a:cubicBezTo>
                  <a:pt x="4508" y="11694"/>
                  <a:pt x="4556" y="11683"/>
                  <a:pt x="4600" y="11657"/>
                </a:cubicBezTo>
                <a:lnTo>
                  <a:pt x="7373" y="10271"/>
                </a:lnTo>
                <a:cubicBezTo>
                  <a:pt x="7467" y="10239"/>
                  <a:pt x="7562" y="10113"/>
                  <a:pt x="7562" y="9956"/>
                </a:cubicBezTo>
                <a:lnTo>
                  <a:pt x="7562" y="8034"/>
                </a:lnTo>
                <a:lnTo>
                  <a:pt x="10838" y="4820"/>
                </a:lnTo>
                <a:cubicBezTo>
                  <a:pt x="11311" y="4757"/>
                  <a:pt x="11689" y="4348"/>
                  <a:pt x="11689" y="3812"/>
                </a:cubicBezTo>
                <a:cubicBezTo>
                  <a:pt x="11689" y="3277"/>
                  <a:pt x="11216" y="2804"/>
                  <a:pt x="10681" y="2804"/>
                </a:cubicBezTo>
                <a:lnTo>
                  <a:pt x="8192" y="2804"/>
                </a:lnTo>
                <a:cubicBezTo>
                  <a:pt x="8192" y="2678"/>
                  <a:pt x="8223" y="2521"/>
                  <a:pt x="8223" y="2395"/>
                </a:cubicBezTo>
                <a:cubicBezTo>
                  <a:pt x="8223" y="1071"/>
                  <a:pt x="7152" y="0"/>
                  <a:pt x="58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" name="Google Shape;10214;p64">
            <a:extLst>
              <a:ext uri="{FF2B5EF4-FFF2-40B4-BE49-F238E27FC236}">
                <a16:creationId xmlns:a16="http://schemas.microsoft.com/office/drawing/2014/main" id="{78522726-4582-8E1D-FA23-876C987C9198}"/>
              </a:ext>
            </a:extLst>
          </p:cNvPr>
          <p:cNvGrpSpPr/>
          <p:nvPr/>
        </p:nvGrpSpPr>
        <p:grpSpPr>
          <a:xfrm>
            <a:off x="7355241" y="1208690"/>
            <a:ext cx="355468" cy="353587"/>
            <a:chOff x="-35854750" y="2272675"/>
            <a:chExt cx="293000" cy="291450"/>
          </a:xfrm>
          <a:solidFill>
            <a:schemeClr val="bg1"/>
          </a:solidFill>
        </p:grpSpPr>
        <p:sp>
          <p:nvSpPr>
            <p:cNvPr id="21" name="Google Shape;10215;p64">
              <a:extLst>
                <a:ext uri="{FF2B5EF4-FFF2-40B4-BE49-F238E27FC236}">
                  <a16:creationId xmlns:a16="http://schemas.microsoft.com/office/drawing/2014/main" id="{6ACC4D4F-EB87-F05E-6F4F-30FA9C044A98}"/>
                </a:ext>
              </a:extLst>
            </p:cNvPr>
            <p:cNvSpPr/>
            <p:nvPr/>
          </p:nvSpPr>
          <p:spPr>
            <a:xfrm>
              <a:off x="-35854750" y="2272675"/>
              <a:ext cx="293000" cy="291450"/>
            </a:xfrm>
            <a:custGeom>
              <a:avLst/>
              <a:gdLst/>
              <a:ahLst/>
              <a:cxnLst/>
              <a:rect l="l" t="t" r="r" b="b"/>
              <a:pathLst>
                <a:path w="11720" h="11658" extrusionOk="0">
                  <a:moveTo>
                    <a:pt x="5844" y="654"/>
                  </a:moveTo>
                  <a:cubicBezTo>
                    <a:pt x="6144" y="654"/>
                    <a:pt x="6443" y="773"/>
                    <a:pt x="6679" y="1009"/>
                  </a:cubicBezTo>
                  <a:lnTo>
                    <a:pt x="7057" y="1355"/>
                  </a:lnTo>
                  <a:lnTo>
                    <a:pt x="4600" y="1355"/>
                  </a:lnTo>
                  <a:lnTo>
                    <a:pt x="5009" y="1009"/>
                  </a:lnTo>
                  <a:cubicBezTo>
                    <a:pt x="5246" y="773"/>
                    <a:pt x="5545" y="654"/>
                    <a:pt x="5844" y="654"/>
                  </a:cubicBezTo>
                  <a:close/>
                  <a:moveTo>
                    <a:pt x="2080" y="3939"/>
                  </a:moveTo>
                  <a:lnTo>
                    <a:pt x="2080" y="6365"/>
                  </a:lnTo>
                  <a:lnTo>
                    <a:pt x="819" y="5136"/>
                  </a:lnTo>
                  <a:lnTo>
                    <a:pt x="2080" y="3939"/>
                  </a:lnTo>
                  <a:close/>
                  <a:moveTo>
                    <a:pt x="9609" y="3876"/>
                  </a:moveTo>
                  <a:lnTo>
                    <a:pt x="10869" y="5136"/>
                  </a:lnTo>
                  <a:lnTo>
                    <a:pt x="9609" y="6365"/>
                  </a:lnTo>
                  <a:lnTo>
                    <a:pt x="9609" y="3876"/>
                  </a:lnTo>
                  <a:close/>
                  <a:moveTo>
                    <a:pt x="8570" y="2080"/>
                  </a:moveTo>
                  <a:cubicBezTo>
                    <a:pt x="8790" y="2080"/>
                    <a:pt x="8948" y="2238"/>
                    <a:pt x="8948" y="2427"/>
                  </a:cubicBezTo>
                  <a:lnTo>
                    <a:pt x="8948" y="7089"/>
                  </a:lnTo>
                  <a:lnTo>
                    <a:pt x="8286" y="7751"/>
                  </a:lnTo>
                  <a:cubicBezTo>
                    <a:pt x="7593" y="7152"/>
                    <a:pt x="6774" y="6837"/>
                    <a:pt x="5860" y="6837"/>
                  </a:cubicBezTo>
                  <a:cubicBezTo>
                    <a:pt x="4978" y="6837"/>
                    <a:pt x="4127" y="7152"/>
                    <a:pt x="3466" y="7751"/>
                  </a:cubicBezTo>
                  <a:lnTo>
                    <a:pt x="2804" y="7089"/>
                  </a:lnTo>
                  <a:lnTo>
                    <a:pt x="2804" y="2427"/>
                  </a:lnTo>
                  <a:cubicBezTo>
                    <a:pt x="2804" y="2238"/>
                    <a:pt x="2962" y="2080"/>
                    <a:pt x="3119" y="2080"/>
                  </a:cubicBezTo>
                  <a:close/>
                  <a:moveTo>
                    <a:pt x="693" y="5987"/>
                  </a:moveTo>
                  <a:lnTo>
                    <a:pt x="2993" y="8223"/>
                  </a:lnTo>
                  <a:lnTo>
                    <a:pt x="693" y="10492"/>
                  </a:lnTo>
                  <a:lnTo>
                    <a:pt x="693" y="5987"/>
                  </a:lnTo>
                  <a:close/>
                  <a:moveTo>
                    <a:pt x="11027" y="5987"/>
                  </a:moveTo>
                  <a:lnTo>
                    <a:pt x="11027" y="10492"/>
                  </a:lnTo>
                  <a:lnTo>
                    <a:pt x="8727" y="8223"/>
                  </a:lnTo>
                  <a:lnTo>
                    <a:pt x="11027" y="5987"/>
                  </a:lnTo>
                  <a:close/>
                  <a:moveTo>
                    <a:pt x="5829" y="7499"/>
                  </a:moveTo>
                  <a:cubicBezTo>
                    <a:pt x="6616" y="7499"/>
                    <a:pt x="7309" y="7814"/>
                    <a:pt x="7876" y="8381"/>
                  </a:cubicBezTo>
                  <a:lnTo>
                    <a:pt x="10523" y="10964"/>
                  </a:lnTo>
                  <a:lnTo>
                    <a:pt x="1166" y="10964"/>
                  </a:lnTo>
                  <a:lnTo>
                    <a:pt x="3781" y="8381"/>
                  </a:lnTo>
                  <a:cubicBezTo>
                    <a:pt x="4316" y="7814"/>
                    <a:pt x="5041" y="7499"/>
                    <a:pt x="5829" y="7499"/>
                  </a:cubicBezTo>
                  <a:close/>
                  <a:moveTo>
                    <a:pt x="5864" y="1"/>
                  </a:moveTo>
                  <a:cubicBezTo>
                    <a:pt x="5380" y="1"/>
                    <a:pt x="4899" y="190"/>
                    <a:pt x="4537" y="568"/>
                  </a:cubicBezTo>
                  <a:lnTo>
                    <a:pt x="3655" y="1387"/>
                  </a:lnTo>
                  <a:lnTo>
                    <a:pt x="3119" y="1387"/>
                  </a:lnTo>
                  <a:cubicBezTo>
                    <a:pt x="2552" y="1387"/>
                    <a:pt x="2080" y="1859"/>
                    <a:pt x="2080" y="2427"/>
                  </a:cubicBezTo>
                  <a:lnTo>
                    <a:pt x="2080" y="2962"/>
                  </a:lnTo>
                  <a:lnTo>
                    <a:pt x="315" y="4726"/>
                  </a:lnTo>
                  <a:cubicBezTo>
                    <a:pt x="126" y="4915"/>
                    <a:pt x="0" y="5136"/>
                    <a:pt x="0" y="5420"/>
                  </a:cubicBezTo>
                  <a:lnTo>
                    <a:pt x="0" y="10618"/>
                  </a:lnTo>
                  <a:cubicBezTo>
                    <a:pt x="32" y="11216"/>
                    <a:pt x="473" y="11657"/>
                    <a:pt x="1071" y="11657"/>
                  </a:cubicBezTo>
                  <a:lnTo>
                    <a:pt x="10680" y="11657"/>
                  </a:lnTo>
                  <a:cubicBezTo>
                    <a:pt x="11216" y="11657"/>
                    <a:pt x="11720" y="11185"/>
                    <a:pt x="11720" y="10618"/>
                  </a:cubicBezTo>
                  <a:lnTo>
                    <a:pt x="11720" y="5420"/>
                  </a:lnTo>
                  <a:cubicBezTo>
                    <a:pt x="11720" y="5136"/>
                    <a:pt x="11626" y="4915"/>
                    <a:pt x="11405" y="4726"/>
                  </a:cubicBezTo>
                  <a:lnTo>
                    <a:pt x="9641" y="2962"/>
                  </a:lnTo>
                  <a:lnTo>
                    <a:pt x="9641" y="2427"/>
                  </a:lnTo>
                  <a:cubicBezTo>
                    <a:pt x="9641" y="1859"/>
                    <a:pt x="9168" y="1387"/>
                    <a:pt x="8633" y="1387"/>
                  </a:cubicBezTo>
                  <a:lnTo>
                    <a:pt x="8065" y="1387"/>
                  </a:lnTo>
                  <a:lnTo>
                    <a:pt x="7215" y="568"/>
                  </a:lnTo>
                  <a:cubicBezTo>
                    <a:pt x="6837" y="190"/>
                    <a:pt x="6348" y="1"/>
                    <a:pt x="58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216;p64">
              <a:extLst>
                <a:ext uri="{FF2B5EF4-FFF2-40B4-BE49-F238E27FC236}">
                  <a16:creationId xmlns:a16="http://schemas.microsoft.com/office/drawing/2014/main" id="{BA473BAC-4304-3170-D01B-188C87C5AB0B}"/>
                </a:ext>
              </a:extLst>
            </p:cNvPr>
            <p:cNvSpPr/>
            <p:nvPr/>
          </p:nvSpPr>
          <p:spPr>
            <a:xfrm>
              <a:off x="-35733475" y="2340425"/>
              <a:ext cx="51225" cy="68550"/>
            </a:xfrm>
            <a:custGeom>
              <a:avLst/>
              <a:gdLst/>
              <a:ahLst/>
              <a:cxnLst/>
              <a:rect l="l" t="t" r="r" b="b"/>
              <a:pathLst>
                <a:path w="2049" h="2742" extrusionOk="0">
                  <a:moveTo>
                    <a:pt x="1009" y="0"/>
                  </a:moveTo>
                  <a:cubicBezTo>
                    <a:pt x="474" y="0"/>
                    <a:pt x="1" y="473"/>
                    <a:pt x="1" y="1008"/>
                  </a:cubicBezTo>
                  <a:cubicBezTo>
                    <a:pt x="1" y="1260"/>
                    <a:pt x="158" y="1418"/>
                    <a:pt x="316" y="1418"/>
                  </a:cubicBezTo>
                  <a:cubicBezTo>
                    <a:pt x="505" y="1418"/>
                    <a:pt x="663" y="1260"/>
                    <a:pt x="663" y="1040"/>
                  </a:cubicBezTo>
                  <a:cubicBezTo>
                    <a:pt x="663" y="851"/>
                    <a:pt x="820" y="693"/>
                    <a:pt x="1009" y="693"/>
                  </a:cubicBezTo>
                  <a:cubicBezTo>
                    <a:pt x="1198" y="693"/>
                    <a:pt x="1356" y="851"/>
                    <a:pt x="1356" y="1040"/>
                  </a:cubicBezTo>
                  <a:cubicBezTo>
                    <a:pt x="1356" y="1229"/>
                    <a:pt x="1293" y="1323"/>
                    <a:pt x="1135" y="1386"/>
                  </a:cubicBezTo>
                  <a:cubicBezTo>
                    <a:pt x="852" y="1449"/>
                    <a:pt x="663" y="1733"/>
                    <a:pt x="663" y="2016"/>
                  </a:cubicBezTo>
                  <a:lnTo>
                    <a:pt x="663" y="2394"/>
                  </a:lnTo>
                  <a:cubicBezTo>
                    <a:pt x="663" y="2583"/>
                    <a:pt x="820" y="2741"/>
                    <a:pt x="1009" y="2741"/>
                  </a:cubicBezTo>
                  <a:cubicBezTo>
                    <a:pt x="1230" y="2741"/>
                    <a:pt x="1387" y="2583"/>
                    <a:pt x="1387" y="2394"/>
                  </a:cubicBezTo>
                  <a:lnTo>
                    <a:pt x="1387" y="2016"/>
                  </a:lnTo>
                  <a:cubicBezTo>
                    <a:pt x="1765" y="1827"/>
                    <a:pt x="2049" y="1449"/>
                    <a:pt x="2049" y="1008"/>
                  </a:cubicBezTo>
                  <a:cubicBezTo>
                    <a:pt x="2049" y="473"/>
                    <a:pt x="1576" y="0"/>
                    <a:pt x="10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217;p64">
              <a:extLst>
                <a:ext uri="{FF2B5EF4-FFF2-40B4-BE49-F238E27FC236}">
                  <a16:creationId xmlns:a16="http://schemas.microsoft.com/office/drawing/2014/main" id="{01626656-BF55-0EE4-BB86-65D810C1C1BF}"/>
                </a:ext>
              </a:extLst>
            </p:cNvPr>
            <p:cNvSpPr/>
            <p:nvPr/>
          </p:nvSpPr>
          <p:spPr>
            <a:xfrm>
              <a:off x="-35716925" y="24184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62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11282;p67">
            <a:extLst>
              <a:ext uri="{FF2B5EF4-FFF2-40B4-BE49-F238E27FC236}">
                <a16:creationId xmlns:a16="http://schemas.microsoft.com/office/drawing/2014/main" id="{AB2EBB17-1C88-B0ED-A450-8B405F7ECDD8}"/>
              </a:ext>
            </a:extLst>
          </p:cNvPr>
          <p:cNvGrpSpPr/>
          <p:nvPr/>
        </p:nvGrpSpPr>
        <p:grpSpPr>
          <a:xfrm>
            <a:off x="1428515" y="3075354"/>
            <a:ext cx="420796" cy="423033"/>
            <a:chOff x="-3852025" y="2764950"/>
            <a:chExt cx="291450" cy="293000"/>
          </a:xfrm>
          <a:solidFill>
            <a:schemeClr val="bg1"/>
          </a:solidFill>
        </p:grpSpPr>
        <p:sp>
          <p:nvSpPr>
            <p:cNvPr id="26" name="Google Shape;11283;p67">
              <a:extLst>
                <a:ext uri="{FF2B5EF4-FFF2-40B4-BE49-F238E27FC236}">
                  <a16:creationId xmlns:a16="http://schemas.microsoft.com/office/drawing/2014/main" id="{EF2FF962-DEB3-20B4-81AE-8CC58595F1B6}"/>
                </a:ext>
              </a:extLst>
            </p:cNvPr>
            <p:cNvSpPr/>
            <p:nvPr/>
          </p:nvSpPr>
          <p:spPr>
            <a:xfrm>
              <a:off x="-3852025" y="2764950"/>
              <a:ext cx="291450" cy="293000"/>
            </a:xfrm>
            <a:custGeom>
              <a:avLst/>
              <a:gdLst/>
              <a:ahLst/>
              <a:cxnLst/>
              <a:rect l="l" t="t" r="r" b="b"/>
              <a:pathLst>
                <a:path w="11658" h="11720" extrusionOk="0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1284;p67">
              <a:extLst>
                <a:ext uri="{FF2B5EF4-FFF2-40B4-BE49-F238E27FC236}">
                  <a16:creationId xmlns:a16="http://schemas.microsoft.com/office/drawing/2014/main" id="{5FA55D1D-2E99-5CA2-DF41-2C2899A2F828}"/>
                </a:ext>
              </a:extLst>
            </p:cNvPr>
            <p:cNvSpPr/>
            <p:nvPr/>
          </p:nvSpPr>
          <p:spPr>
            <a:xfrm>
              <a:off x="-3707100" y="2937425"/>
              <a:ext cx="103200" cy="67775"/>
            </a:xfrm>
            <a:custGeom>
              <a:avLst/>
              <a:gdLst/>
              <a:ahLst/>
              <a:cxnLst/>
              <a:rect l="l" t="t" r="r" b="b"/>
              <a:pathLst>
                <a:path w="4128" h="2711" extrusionOk="0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1100;p42">
            <a:extLst>
              <a:ext uri="{FF2B5EF4-FFF2-40B4-BE49-F238E27FC236}">
                <a16:creationId xmlns:a16="http://schemas.microsoft.com/office/drawing/2014/main" id="{03E31112-B071-3969-2A0E-56E7D74E8A96}"/>
              </a:ext>
            </a:extLst>
          </p:cNvPr>
          <p:cNvSpPr/>
          <p:nvPr/>
        </p:nvSpPr>
        <p:spPr>
          <a:xfrm>
            <a:off x="3402387" y="3144421"/>
            <a:ext cx="345075" cy="344800"/>
          </a:xfrm>
          <a:custGeom>
            <a:avLst/>
            <a:gdLst/>
            <a:ahLst/>
            <a:cxnLst/>
            <a:rect l="l" t="t" r="r" b="b"/>
            <a:pathLst>
              <a:path w="13803" h="13792" extrusionOk="0">
                <a:moveTo>
                  <a:pt x="11337" y="1344"/>
                </a:moveTo>
                <a:lnTo>
                  <a:pt x="11454" y="1998"/>
                </a:lnTo>
                <a:cubicBezTo>
                  <a:pt x="11488" y="2163"/>
                  <a:pt x="11617" y="2290"/>
                  <a:pt x="11783" y="2326"/>
                </a:cubicBezTo>
                <a:lnTo>
                  <a:pt x="12425" y="2444"/>
                </a:lnTo>
                <a:lnTo>
                  <a:pt x="11314" y="3566"/>
                </a:lnTo>
                <a:lnTo>
                  <a:pt x="10391" y="3389"/>
                </a:lnTo>
                <a:lnTo>
                  <a:pt x="10214" y="2466"/>
                </a:lnTo>
                <a:lnTo>
                  <a:pt x="11337" y="1344"/>
                </a:lnTo>
                <a:close/>
                <a:moveTo>
                  <a:pt x="6896" y="5670"/>
                </a:moveTo>
                <a:cubicBezTo>
                  <a:pt x="7084" y="5670"/>
                  <a:pt x="7258" y="5715"/>
                  <a:pt x="7420" y="5785"/>
                </a:cubicBezTo>
                <a:lnTo>
                  <a:pt x="6615" y="6593"/>
                </a:lnTo>
                <a:cubicBezTo>
                  <a:pt x="6452" y="6756"/>
                  <a:pt x="6452" y="7014"/>
                  <a:pt x="6615" y="7165"/>
                </a:cubicBezTo>
                <a:cubicBezTo>
                  <a:pt x="6691" y="7247"/>
                  <a:pt x="6793" y="7287"/>
                  <a:pt x="6896" y="7287"/>
                </a:cubicBezTo>
                <a:cubicBezTo>
                  <a:pt x="6998" y="7287"/>
                  <a:pt x="7100" y="7247"/>
                  <a:pt x="7176" y="7165"/>
                </a:cubicBezTo>
                <a:lnTo>
                  <a:pt x="7995" y="6357"/>
                </a:lnTo>
                <a:cubicBezTo>
                  <a:pt x="8066" y="6523"/>
                  <a:pt x="8110" y="6697"/>
                  <a:pt x="8110" y="6885"/>
                </a:cubicBezTo>
                <a:cubicBezTo>
                  <a:pt x="8110" y="7550"/>
                  <a:pt x="7561" y="8099"/>
                  <a:pt x="6896" y="8099"/>
                </a:cubicBezTo>
                <a:cubicBezTo>
                  <a:pt x="6228" y="8099"/>
                  <a:pt x="5681" y="7550"/>
                  <a:pt x="5681" y="6885"/>
                </a:cubicBezTo>
                <a:cubicBezTo>
                  <a:pt x="5681" y="6217"/>
                  <a:pt x="6228" y="5670"/>
                  <a:pt x="6896" y="5670"/>
                </a:cubicBezTo>
                <a:close/>
                <a:moveTo>
                  <a:pt x="6896" y="3788"/>
                </a:moveTo>
                <a:cubicBezTo>
                  <a:pt x="7608" y="3788"/>
                  <a:pt x="8262" y="4021"/>
                  <a:pt x="8778" y="4430"/>
                </a:cubicBezTo>
                <a:lnTo>
                  <a:pt x="8007" y="5202"/>
                </a:lnTo>
                <a:cubicBezTo>
                  <a:pt x="7690" y="4980"/>
                  <a:pt x="7305" y="4862"/>
                  <a:pt x="6896" y="4862"/>
                </a:cubicBezTo>
                <a:cubicBezTo>
                  <a:pt x="5785" y="4862"/>
                  <a:pt x="4873" y="5763"/>
                  <a:pt x="4873" y="6885"/>
                </a:cubicBezTo>
                <a:cubicBezTo>
                  <a:pt x="4873" y="7996"/>
                  <a:pt x="5785" y="8907"/>
                  <a:pt x="6896" y="8907"/>
                </a:cubicBezTo>
                <a:cubicBezTo>
                  <a:pt x="8007" y="8907"/>
                  <a:pt x="8918" y="7996"/>
                  <a:pt x="8918" y="6885"/>
                </a:cubicBezTo>
                <a:cubicBezTo>
                  <a:pt x="8918" y="6475"/>
                  <a:pt x="8789" y="6091"/>
                  <a:pt x="8579" y="5774"/>
                </a:cubicBezTo>
                <a:lnTo>
                  <a:pt x="9350" y="4991"/>
                </a:lnTo>
                <a:cubicBezTo>
                  <a:pt x="9760" y="5516"/>
                  <a:pt x="9993" y="6172"/>
                  <a:pt x="9993" y="6885"/>
                </a:cubicBezTo>
                <a:cubicBezTo>
                  <a:pt x="9993" y="8590"/>
                  <a:pt x="8601" y="9982"/>
                  <a:pt x="6896" y="9982"/>
                </a:cubicBezTo>
                <a:cubicBezTo>
                  <a:pt x="5190" y="9982"/>
                  <a:pt x="3799" y="8590"/>
                  <a:pt x="3799" y="6885"/>
                </a:cubicBezTo>
                <a:cubicBezTo>
                  <a:pt x="3799" y="5179"/>
                  <a:pt x="5190" y="3788"/>
                  <a:pt x="6896" y="3788"/>
                </a:cubicBezTo>
                <a:close/>
                <a:moveTo>
                  <a:pt x="7608" y="806"/>
                </a:moveTo>
                <a:lnTo>
                  <a:pt x="7678" y="1673"/>
                </a:lnTo>
                <a:cubicBezTo>
                  <a:pt x="7690" y="1846"/>
                  <a:pt x="7819" y="1987"/>
                  <a:pt x="7995" y="2034"/>
                </a:cubicBezTo>
                <a:cubicBezTo>
                  <a:pt x="8498" y="2138"/>
                  <a:pt x="8977" y="2326"/>
                  <a:pt x="9420" y="2595"/>
                </a:cubicBezTo>
                <a:lnTo>
                  <a:pt x="9608" y="3611"/>
                </a:lnTo>
                <a:lnTo>
                  <a:pt x="9362" y="3858"/>
                </a:lnTo>
                <a:cubicBezTo>
                  <a:pt x="8693" y="3312"/>
                  <a:pt x="7834" y="2989"/>
                  <a:pt x="6895" y="2989"/>
                </a:cubicBezTo>
                <a:cubicBezTo>
                  <a:pt x="6848" y="2989"/>
                  <a:pt x="6802" y="2989"/>
                  <a:pt x="6755" y="2991"/>
                </a:cubicBezTo>
                <a:cubicBezTo>
                  <a:pt x="4699" y="3061"/>
                  <a:pt x="3038" y="4744"/>
                  <a:pt x="2991" y="6803"/>
                </a:cubicBezTo>
                <a:cubicBezTo>
                  <a:pt x="2947" y="9001"/>
                  <a:pt x="4712" y="10802"/>
                  <a:pt x="6884" y="10802"/>
                </a:cubicBezTo>
                <a:cubicBezTo>
                  <a:pt x="6918" y="10802"/>
                  <a:pt x="6953" y="10802"/>
                  <a:pt x="6988" y="10801"/>
                </a:cubicBezTo>
                <a:cubicBezTo>
                  <a:pt x="9047" y="10765"/>
                  <a:pt x="10731" y="9107"/>
                  <a:pt x="10812" y="7047"/>
                </a:cubicBezTo>
                <a:cubicBezTo>
                  <a:pt x="10846" y="6054"/>
                  <a:pt x="10506" y="5143"/>
                  <a:pt x="9934" y="4430"/>
                </a:cubicBezTo>
                <a:lnTo>
                  <a:pt x="10181" y="4183"/>
                </a:lnTo>
                <a:lnTo>
                  <a:pt x="11207" y="4371"/>
                </a:lnTo>
                <a:cubicBezTo>
                  <a:pt x="11466" y="4814"/>
                  <a:pt x="11654" y="5294"/>
                  <a:pt x="11769" y="5810"/>
                </a:cubicBezTo>
                <a:cubicBezTo>
                  <a:pt x="11805" y="5973"/>
                  <a:pt x="11956" y="6102"/>
                  <a:pt x="12133" y="6125"/>
                </a:cubicBezTo>
                <a:lnTo>
                  <a:pt x="12997" y="6195"/>
                </a:lnTo>
                <a:lnTo>
                  <a:pt x="12997" y="7597"/>
                </a:lnTo>
                <a:lnTo>
                  <a:pt x="12133" y="7667"/>
                </a:lnTo>
                <a:cubicBezTo>
                  <a:pt x="11956" y="7690"/>
                  <a:pt x="11805" y="7819"/>
                  <a:pt x="11769" y="7996"/>
                </a:cubicBezTo>
                <a:cubicBezTo>
                  <a:pt x="11642" y="8557"/>
                  <a:pt x="11418" y="9081"/>
                  <a:pt x="11115" y="9561"/>
                </a:cubicBezTo>
                <a:cubicBezTo>
                  <a:pt x="11022" y="9713"/>
                  <a:pt x="11034" y="9912"/>
                  <a:pt x="11151" y="10041"/>
                </a:cubicBezTo>
                <a:lnTo>
                  <a:pt x="11712" y="10706"/>
                </a:lnTo>
                <a:lnTo>
                  <a:pt x="10705" y="11701"/>
                </a:lnTo>
                <a:lnTo>
                  <a:pt x="10052" y="11140"/>
                </a:lnTo>
                <a:cubicBezTo>
                  <a:pt x="9974" y="11075"/>
                  <a:pt x="9881" y="11042"/>
                  <a:pt x="9788" y="11042"/>
                </a:cubicBezTo>
                <a:cubicBezTo>
                  <a:pt x="9713" y="11042"/>
                  <a:pt x="9639" y="11063"/>
                  <a:pt x="9572" y="11104"/>
                </a:cubicBezTo>
                <a:cubicBezTo>
                  <a:pt x="9081" y="11421"/>
                  <a:pt x="8556" y="11643"/>
                  <a:pt x="7995" y="11758"/>
                </a:cubicBezTo>
                <a:cubicBezTo>
                  <a:pt x="7819" y="11805"/>
                  <a:pt x="7690" y="11946"/>
                  <a:pt x="7678" y="12122"/>
                </a:cubicBezTo>
                <a:lnTo>
                  <a:pt x="7608" y="12986"/>
                </a:lnTo>
                <a:lnTo>
                  <a:pt x="6194" y="12986"/>
                </a:lnTo>
                <a:lnTo>
                  <a:pt x="6124" y="12122"/>
                </a:lnTo>
                <a:cubicBezTo>
                  <a:pt x="6113" y="11946"/>
                  <a:pt x="5984" y="11805"/>
                  <a:pt x="5807" y="11758"/>
                </a:cubicBezTo>
                <a:cubicBezTo>
                  <a:pt x="5246" y="11643"/>
                  <a:pt x="4722" y="11421"/>
                  <a:pt x="4231" y="11104"/>
                </a:cubicBezTo>
                <a:cubicBezTo>
                  <a:pt x="4163" y="11063"/>
                  <a:pt x="4089" y="11042"/>
                  <a:pt x="4015" y="11042"/>
                </a:cubicBezTo>
                <a:cubicBezTo>
                  <a:pt x="3922" y="11042"/>
                  <a:pt x="3829" y="11075"/>
                  <a:pt x="3751" y="11140"/>
                </a:cubicBezTo>
                <a:lnTo>
                  <a:pt x="3097" y="11701"/>
                </a:lnTo>
                <a:lnTo>
                  <a:pt x="2090" y="10706"/>
                </a:lnTo>
                <a:lnTo>
                  <a:pt x="2651" y="10041"/>
                </a:lnTo>
                <a:cubicBezTo>
                  <a:pt x="2769" y="9912"/>
                  <a:pt x="2780" y="9713"/>
                  <a:pt x="2688" y="9561"/>
                </a:cubicBezTo>
                <a:cubicBezTo>
                  <a:pt x="2385" y="9081"/>
                  <a:pt x="2160" y="8546"/>
                  <a:pt x="2034" y="7984"/>
                </a:cubicBezTo>
                <a:cubicBezTo>
                  <a:pt x="1998" y="7819"/>
                  <a:pt x="1846" y="7690"/>
                  <a:pt x="1669" y="7667"/>
                </a:cubicBezTo>
                <a:lnTo>
                  <a:pt x="805" y="7597"/>
                </a:lnTo>
                <a:lnTo>
                  <a:pt x="805" y="6195"/>
                </a:lnTo>
                <a:lnTo>
                  <a:pt x="1669" y="6125"/>
                </a:lnTo>
                <a:cubicBezTo>
                  <a:pt x="1846" y="6102"/>
                  <a:pt x="1998" y="5984"/>
                  <a:pt x="2034" y="5810"/>
                </a:cubicBezTo>
                <a:cubicBezTo>
                  <a:pt x="2160" y="5249"/>
                  <a:pt x="2385" y="4711"/>
                  <a:pt x="2688" y="4220"/>
                </a:cubicBezTo>
                <a:cubicBezTo>
                  <a:pt x="2780" y="4079"/>
                  <a:pt x="2769" y="3880"/>
                  <a:pt x="2651" y="3751"/>
                </a:cubicBezTo>
                <a:lnTo>
                  <a:pt x="2090" y="3086"/>
                </a:lnTo>
                <a:lnTo>
                  <a:pt x="3097" y="2093"/>
                </a:lnTo>
                <a:lnTo>
                  <a:pt x="3751" y="2654"/>
                </a:lnTo>
                <a:cubicBezTo>
                  <a:pt x="3829" y="2718"/>
                  <a:pt x="3921" y="2750"/>
                  <a:pt x="4014" y="2750"/>
                </a:cubicBezTo>
                <a:cubicBezTo>
                  <a:pt x="4088" y="2750"/>
                  <a:pt x="4163" y="2729"/>
                  <a:pt x="4231" y="2688"/>
                </a:cubicBezTo>
                <a:cubicBezTo>
                  <a:pt x="4722" y="2374"/>
                  <a:pt x="5246" y="2149"/>
                  <a:pt x="5807" y="2034"/>
                </a:cubicBezTo>
                <a:cubicBezTo>
                  <a:pt x="5984" y="1987"/>
                  <a:pt x="6113" y="1846"/>
                  <a:pt x="6124" y="1673"/>
                </a:cubicBezTo>
                <a:lnTo>
                  <a:pt x="6194" y="806"/>
                </a:lnTo>
                <a:close/>
                <a:moveTo>
                  <a:pt x="5821" y="1"/>
                </a:moveTo>
                <a:cubicBezTo>
                  <a:pt x="5611" y="1"/>
                  <a:pt x="5434" y="152"/>
                  <a:pt x="5423" y="362"/>
                </a:cubicBezTo>
                <a:lnTo>
                  <a:pt x="5342" y="1308"/>
                </a:lnTo>
                <a:cubicBezTo>
                  <a:pt x="4895" y="1437"/>
                  <a:pt x="4463" y="1614"/>
                  <a:pt x="4054" y="1846"/>
                </a:cubicBezTo>
                <a:lnTo>
                  <a:pt x="3330" y="1226"/>
                </a:lnTo>
                <a:cubicBezTo>
                  <a:pt x="3252" y="1165"/>
                  <a:pt x="3158" y="1133"/>
                  <a:pt x="3064" y="1133"/>
                </a:cubicBezTo>
                <a:cubicBezTo>
                  <a:pt x="2961" y="1133"/>
                  <a:pt x="2859" y="1171"/>
                  <a:pt x="2780" y="1252"/>
                </a:cubicBezTo>
                <a:lnTo>
                  <a:pt x="1263" y="2781"/>
                </a:lnTo>
                <a:cubicBezTo>
                  <a:pt x="1108" y="2921"/>
                  <a:pt x="1097" y="3168"/>
                  <a:pt x="1237" y="3330"/>
                </a:cubicBezTo>
                <a:lnTo>
                  <a:pt x="1846" y="4057"/>
                </a:lnTo>
                <a:cubicBezTo>
                  <a:pt x="1624" y="4453"/>
                  <a:pt x="1437" y="4885"/>
                  <a:pt x="1319" y="5342"/>
                </a:cubicBezTo>
                <a:lnTo>
                  <a:pt x="373" y="5412"/>
                </a:lnTo>
                <a:cubicBezTo>
                  <a:pt x="163" y="5434"/>
                  <a:pt x="0" y="5611"/>
                  <a:pt x="0" y="5822"/>
                </a:cubicBezTo>
                <a:lnTo>
                  <a:pt x="0" y="7970"/>
                </a:lnTo>
                <a:cubicBezTo>
                  <a:pt x="0" y="8181"/>
                  <a:pt x="163" y="8358"/>
                  <a:pt x="373" y="8380"/>
                </a:cubicBezTo>
                <a:lnTo>
                  <a:pt x="1319" y="8450"/>
                </a:lnTo>
                <a:cubicBezTo>
                  <a:pt x="1437" y="8907"/>
                  <a:pt x="1624" y="9339"/>
                  <a:pt x="1846" y="9749"/>
                </a:cubicBezTo>
                <a:lnTo>
                  <a:pt x="1237" y="10462"/>
                </a:lnTo>
                <a:cubicBezTo>
                  <a:pt x="1097" y="10624"/>
                  <a:pt x="1108" y="10871"/>
                  <a:pt x="1263" y="11011"/>
                </a:cubicBezTo>
                <a:lnTo>
                  <a:pt x="2780" y="12543"/>
                </a:lnTo>
                <a:cubicBezTo>
                  <a:pt x="2859" y="12622"/>
                  <a:pt x="2961" y="12660"/>
                  <a:pt x="3063" y="12660"/>
                </a:cubicBezTo>
                <a:cubicBezTo>
                  <a:pt x="3157" y="12660"/>
                  <a:pt x="3252" y="12627"/>
                  <a:pt x="3330" y="12566"/>
                </a:cubicBezTo>
                <a:lnTo>
                  <a:pt x="4054" y="11946"/>
                </a:lnTo>
                <a:cubicBezTo>
                  <a:pt x="4463" y="12178"/>
                  <a:pt x="4895" y="12355"/>
                  <a:pt x="5342" y="12484"/>
                </a:cubicBezTo>
                <a:lnTo>
                  <a:pt x="5423" y="13430"/>
                </a:lnTo>
                <a:cubicBezTo>
                  <a:pt x="5434" y="13640"/>
                  <a:pt x="5611" y="13791"/>
                  <a:pt x="5821" y="13791"/>
                </a:cubicBezTo>
                <a:lnTo>
                  <a:pt x="7981" y="13791"/>
                </a:lnTo>
                <a:cubicBezTo>
                  <a:pt x="8192" y="13791"/>
                  <a:pt x="8368" y="13640"/>
                  <a:pt x="8380" y="13430"/>
                </a:cubicBezTo>
                <a:lnTo>
                  <a:pt x="8461" y="12484"/>
                </a:lnTo>
                <a:cubicBezTo>
                  <a:pt x="8907" y="12355"/>
                  <a:pt x="9339" y="12178"/>
                  <a:pt x="9749" y="11946"/>
                </a:cubicBezTo>
                <a:lnTo>
                  <a:pt x="10472" y="12566"/>
                </a:lnTo>
                <a:cubicBezTo>
                  <a:pt x="10551" y="12627"/>
                  <a:pt x="10645" y="12660"/>
                  <a:pt x="10740" y="12660"/>
                </a:cubicBezTo>
                <a:cubicBezTo>
                  <a:pt x="10842" y="12660"/>
                  <a:pt x="10944" y="12622"/>
                  <a:pt x="11022" y="12543"/>
                </a:cubicBezTo>
                <a:lnTo>
                  <a:pt x="12540" y="11011"/>
                </a:lnTo>
                <a:cubicBezTo>
                  <a:pt x="12694" y="10871"/>
                  <a:pt x="12706" y="10624"/>
                  <a:pt x="12565" y="10462"/>
                </a:cubicBezTo>
                <a:lnTo>
                  <a:pt x="11956" y="9749"/>
                </a:lnTo>
                <a:cubicBezTo>
                  <a:pt x="12178" y="9339"/>
                  <a:pt x="12366" y="8907"/>
                  <a:pt x="12484" y="8450"/>
                </a:cubicBezTo>
                <a:lnTo>
                  <a:pt x="13429" y="8380"/>
                </a:lnTo>
                <a:cubicBezTo>
                  <a:pt x="13640" y="8358"/>
                  <a:pt x="13802" y="8181"/>
                  <a:pt x="13802" y="7970"/>
                </a:cubicBezTo>
                <a:lnTo>
                  <a:pt x="13802" y="5822"/>
                </a:lnTo>
                <a:cubicBezTo>
                  <a:pt x="13802" y="5611"/>
                  <a:pt x="13640" y="5434"/>
                  <a:pt x="13429" y="5412"/>
                </a:cubicBezTo>
                <a:lnTo>
                  <a:pt x="12484" y="5342"/>
                </a:lnTo>
                <a:cubicBezTo>
                  <a:pt x="12366" y="4899"/>
                  <a:pt x="12189" y="4478"/>
                  <a:pt x="11968" y="4068"/>
                </a:cubicBezTo>
                <a:lnTo>
                  <a:pt x="13547" y="2489"/>
                </a:lnTo>
                <a:cubicBezTo>
                  <a:pt x="13780" y="2256"/>
                  <a:pt x="13662" y="1858"/>
                  <a:pt x="13337" y="1799"/>
                </a:cubicBezTo>
                <a:lnTo>
                  <a:pt x="12203" y="1588"/>
                </a:lnTo>
                <a:lnTo>
                  <a:pt x="11993" y="455"/>
                </a:lnTo>
                <a:cubicBezTo>
                  <a:pt x="11955" y="252"/>
                  <a:pt x="11774" y="131"/>
                  <a:pt x="11592" y="131"/>
                </a:cubicBezTo>
                <a:cubicBezTo>
                  <a:pt x="11492" y="131"/>
                  <a:pt x="11392" y="166"/>
                  <a:pt x="11314" y="245"/>
                </a:cubicBezTo>
                <a:lnTo>
                  <a:pt x="9723" y="1835"/>
                </a:lnTo>
                <a:cubicBezTo>
                  <a:pt x="9328" y="1614"/>
                  <a:pt x="8907" y="1437"/>
                  <a:pt x="8461" y="1308"/>
                </a:cubicBezTo>
                <a:lnTo>
                  <a:pt x="8380" y="362"/>
                </a:lnTo>
                <a:cubicBezTo>
                  <a:pt x="8368" y="152"/>
                  <a:pt x="8192" y="1"/>
                  <a:pt x="798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58C4D315-8180-0B35-67D9-3C427A350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AC8F5AED-E75D-EAED-CEE9-F4835F41D8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DATA SOURCES</a:t>
            </a:r>
            <a:endParaRPr lang="en">
              <a:solidFill>
                <a:srgbClr val="000000"/>
              </a:solidFill>
            </a:endParaRPr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9D15F4BD-9F8D-48A9-C7AE-03D0E5549B8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877974" y="1599357"/>
            <a:ext cx="3398752" cy="19447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</a:pPr>
            <a:r>
              <a:rPr lang="en-US" sz="2400" b="1">
                <a:solidFill>
                  <a:schemeClr val="tx1"/>
                </a:solidFill>
                <a:latin typeface="Aptos"/>
              </a:rPr>
              <a:t>Phishing Datasets</a:t>
            </a: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latin typeface="Aptos"/>
              </a:rPr>
              <a:t>Nazario Phishing Corpus</a:t>
            </a: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latin typeface="Aptos"/>
              </a:rPr>
              <a:t>Kaggle Phishing Email</a:t>
            </a: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800" b="1" err="1">
                <a:solidFill>
                  <a:schemeClr val="tx1"/>
                </a:solidFill>
                <a:latin typeface="Aptos"/>
              </a:rPr>
              <a:t>Figshare</a:t>
            </a:r>
            <a:r>
              <a:rPr lang="en-US" sz="1800" b="1">
                <a:solidFill>
                  <a:schemeClr val="tx1"/>
                </a:solidFill>
                <a:latin typeface="Aptos"/>
              </a:rPr>
              <a:t> curated phishing</a:t>
            </a:r>
          </a:p>
          <a:p>
            <a:pPr marL="152400" indent="0"/>
            <a:endParaRPr lang="en" sz="1800" b="1">
              <a:solidFill>
                <a:schemeClr val="tx1"/>
              </a:solidFill>
            </a:endParaRPr>
          </a:p>
        </p:txBody>
      </p:sp>
      <p:sp>
        <p:nvSpPr>
          <p:cNvPr id="2" name="Google Shape;763;p33">
            <a:extLst>
              <a:ext uri="{FF2B5EF4-FFF2-40B4-BE49-F238E27FC236}">
                <a16:creationId xmlns:a16="http://schemas.microsoft.com/office/drawing/2014/main" id="{1819E5BA-777C-D61A-AD8F-934209DCA685}"/>
              </a:ext>
            </a:extLst>
          </p:cNvPr>
          <p:cNvSpPr txBox="1">
            <a:spLocks/>
          </p:cNvSpPr>
          <p:nvPr/>
        </p:nvSpPr>
        <p:spPr>
          <a:xfrm>
            <a:off x="5025248" y="1599357"/>
            <a:ext cx="3398752" cy="194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1000"/>
              </a:spcBef>
            </a:pPr>
            <a:r>
              <a:rPr lang="en-US" sz="2400" b="1">
                <a:solidFill>
                  <a:schemeClr val="tx1"/>
                </a:solidFill>
                <a:latin typeface="Aptos"/>
              </a:rPr>
              <a:t>Legitimate datasets</a:t>
            </a: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latin typeface="Aptos"/>
              </a:rPr>
              <a:t>Eron Email Dataset</a:t>
            </a:r>
          </a:p>
          <a:p>
            <a:pPr marL="152400" indent="0"/>
            <a:endParaRPr lang="en" sz="1800" b="1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DA27273-DDC7-0A26-F711-5A14E0FBE0C7}"/>
              </a:ext>
            </a:extLst>
          </p:cNvPr>
          <p:cNvCxnSpPr/>
          <p:nvPr/>
        </p:nvCxnSpPr>
        <p:spPr>
          <a:xfrm>
            <a:off x="4562475" y="1751757"/>
            <a:ext cx="0" cy="2400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062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>
          <a:extLst>
            <a:ext uri="{FF2B5EF4-FFF2-40B4-BE49-F238E27FC236}">
              <a16:creationId xmlns:a16="http://schemas.microsoft.com/office/drawing/2014/main" id="{BAB5C425-8A8C-950F-3491-6B444A4A0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1">
            <a:extLst>
              <a:ext uri="{FF2B5EF4-FFF2-40B4-BE49-F238E27FC236}">
                <a16:creationId xmlns:a16="http://schemas.microsoft.com/office/drawing/2014/main" id="{1F4C1976-7A93-EFC7-A3CD-035FEEAA38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7340" y="1277987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FEATURES</a:t>
            </a:r>
            <a:endParaRPr/>
          </a:p>
        </p:txBody>
      </p:sp>
      <p:sp>
        <p:nvSpPr>
          <p:cNvPr id="731" name="Google Shape;731;p31">
            <a:extLst>
              <a:ext uri="{FF2B5EF4-FFF2-40B4-BE49-F238E27FC236}">
                <a16:creationId xmlns:a16="http://schemas.microsoft.com/office/drawing/2014/main" id="{CBC7FC97-D0D3-63E3-D367-A0BC8E1E11E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87340" y="2119454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Textual data: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b="1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Hanken Grotesk Light"/>
              <a:buChar char="●"/>
            </a:pPr>
            <a:r>
              <a:rPr lang="en-US" sz="1600" b="1"/>
              <a:t>Email subject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Hanken Grotesk Light"/>
              <a:buChar char="●"/>
            </a:pPr>
            <a:r>
              <a:rPr lang="en-US" sz="1600" b="1"/>
              <a:t>Email body</a:t>
            </a:r>
          </a:p>
        </p:txBody>
      </p:sp>
      <p:sp>
        <p:nvSpPr>
          <p:cNvPr id="733" name="Google Shape;733;p31">
            <a:extLst>
              <a:ext uri="{FF2B5EF4-FFF2-40B4-BE49-F238E27FC236}">
                <a16:creationId xmlns:a16="http://schemas.microsoft.com/office/drawing/2014/main" id="{CFE94435-7241-5B66-1FF2-BDC9A7BB0FC0}"/>
              </a:ext>
            </a:extLst>
          </p:cNvPr>
          <p:cNvSpPr/>
          <p:nvPr/>
        </p:nvSpPr>
        <p:spPr>
          <a:xfrm>
            <a:off x="4752038" y="4203688"/>
            <a:ext cx="2787000" cy="17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31">
            <a:extLst>
              <a:ext uri="{FF2B5EF4-FFF2-40B4-BE49-F238E27FC236}">
                <a16:creationId xmlns:a16="http://schemas.microsoft.com/office/drawing/2014/main" id="{6A47C62C-2F71-F128-FD40-2FA4D0225E09}"/>
              </a:ext>
            </a:extLst>
          </p:cNvPr>
          <p:cNvSpPr/>
          <p:nvPr/>
        </p:nvSpPr>
        <p:spPr>
          <a:xfrm rot="-5400000">
            <a:off x="1074678" y="1745649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13565C-4A47-61A8-5CEC-A54BEF2FC29C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5CA710-8EF7-2FB1-5724-7242FB044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850" y="623887"/>
            <a:ext cx="4038321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20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>
          <a:extLst>
            <a:ext uri="{FF2B5EF4-FFF2-40B4-BE49-F238E27FC236}">
              <a16:creationId xmlns:a16="http://schemas.microsoft.com/office/drawing/2014/main" id="{FFEBB6B4-4A97-75D0-D5BC-CE5271081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1">
            <a:extLst>
              <a:ext uri="{FF2B5EF4-FFF2-40B4-BE49-F238E27FC236}">
                <a16:creationId xmlns:a16="http://schemas.microsoft.com/office/drawing/2014/main" id="{C117028D-4AFD-2989-9F9B-88B4100D62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7340" y="1214954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FEATURES</a:t>
            </a:r>
            <a:endParaRPr/>
          </a:p>
        </p:txBody>
      </p:sp>
      <p:sp>
        <p:nvSpPr>
          <p:cNvPr id="731" name="Google Shape;731;p31">
            <a:extLst>
              <a:ext uri="{FF2B5EF4-FFF2-40B4-BE49-F238E27FC236}">
                <a16:creationId xmlns:a16="http://schemas.microsoft.com/office/drawing/2014/main" id="{D048D3A4-BCC1-A128-EFA1-DF0D1B7C0ED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87340" y="2119454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Metadata: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b="1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Hanken Grotesk Light"/>
              <a:buChar char="●"/>
            </a:pPr>
            <a:r>
              <a:rPr lang="en-US" sz="1600" b="1"/>
              <a:t>Sender domain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Hanken Grotesk Light"/>
              <a:buChar char="●"/>
            </a:pPr>
            <a:r>
              <a:rPr lang="en-US" sz="1600" b="1"/>
              <a:t>Link domains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Hanken Grotesk Light"/>
              <a:buChar char="●"/>
            </a:pPr>
            <a:r>
              <a:rPr lang="en-US" sz="1600" b="1"/>
              <a:t>Attachment indicators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734" name="Google Shape;734;p31">
            <a:extLst>
              <a:ext uri="{FF2B5EF4-FFF2-40B4-BE49-F238E27FC236}">
                <a16:creationId xmlns:a16="http://schemas.microsoft.com/office/drawing/2014/main" id="{C3EA3634-5E8E-4734-EE45-03D0F127B77D}"/>
              </a:ext>
            </a:extLst>
          </p:cNvPr>
          <p:cNvSpPr/>
          <p:nvPr/>
        </p:nvSpPr>
        <p:spPr>
          <a:xfrm rot="-5400000">
            <a:off x="1036584" y="1682616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0" name="Picture 2" descr="What is Email Metadata? Boost Your Deliverability Today">
            <a:extLst>
              <a:ext uri="{FF2B5EF4-FFF2-40B4-BE49-F238E27FC236}">
                <a16:creationId xmlns:a16="http://schemas.microsoft.com/office/drawing/2014/main" id="{E1490D87-A547-3F6C-102A-6007E1771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208613"/>
            <a:ext cx="4089410" cy="2726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0065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>
          <a:extLst>
            <a:ext uri="{FF2B5EF4-FFF2-40B4-BE49-F238E27FC236}">
              <a16:creationId xmlns:a16="http://schemas.microsoft.com/office/drawing/2014/main" id="{59D94210-DB12-9E28-C491-BECE55B40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1">
            <a:extLst>
              <a:ext uri="{FF2B5EF4-FFF2-40B4-BE49-F238E27FC236}">
                <a16:creationId xmlns:a16="http://schemas.microsoft.com/office/drawing/2014/main" id="{B32E645C-C3E3-CCA3-D3AB-0F0A803D1A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7340" y="1214954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FEATURES</a:t>
            </a:r>
            <a:endParaRPr/>
          </a:p>
        </p:txBody>
      </p:sp>
      <p:sp>
        <p:nvSpPr>
          <p:cNvPr id="731" name="Google Shape;731;p31">
            <a:extLst>
              <a:ext uri="{FF2B5EF4-FFF2-40B4-BE49-F238E27FC236}">
                <a16:creationId xmlns:a16="http://schemas.microsoft.com/office/drawing/2014/main" id="{3B42624F-0BF6-0008-4A48-007DC4CDAAB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87340" y="2119454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Derived features: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b="1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Hanken Grotesk Light"/>
              <a:buChar char="●"/>
            </a:pPr>
            <a:r>
              <a:rPr lang="en-US" sz="1600" b="1"/>
              <a:t>Linguistic patterns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Hanken Grotesk Light"/>
              <a:buChar char="●"/>
            </a:pPr>
            <a:r>
              <a:rPr lang="en-US" sz="1600" b="1"/>
              <a:t>URL characteristics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Hanken Grotesk Light"/>
              <a:buChar char="●"/>
            </a:pPr>
            <a:r>
              <a:rPr lang="en-US" sz="1600" b="1"/>
              <a:t>Security indicators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734" name="Google Shape;734;p31">
            <a:extLst>
              <a:ext uri="{FF2B5EF4-FFF2-40B4-BE49-F238E27FC236}">
                <a16:creationId xmlns:a16="http://schemas.microsoft.com/office/drawing/2014/main" id="{A15F5F81-3B48-C631-8C2E-34E605658D9C}"/>
              </a:ext>
            </a:extLst>
          </p:cNvPr>
          <p:cNvSpPr/>
          <p:nvPr/>
        </p:nvSpPr>
        <p:spPr>
          <a:xfrm rot="-5400000">
            <a:off x="1036584" y="1682616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27C09D9-3C1C-B673-E2CF-0B721B279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679" y="1290453"/>
            <a:ext cx="3828421" cy="2557646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9066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EE2C10E3-D31E-F5A8-0D92-0C9591243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5">
            <a:extLst>
              <a:ext uri="{FF2B5EF4-FFF2-40B4-BE49-F238E27FC236}">
                <a16:creationId xmlns:a16="http://schemas.microsoft.com/office/drawing/2014/main" id="{A5345E08-CC73-1EBA-7D56-CC5F1F151E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DESIGN &amp; IMPLEMENTATION</a:t>
            </a:r>
            <a:endParaRPr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01B087B8-0039-FA96-75DC-8B62A173F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981855"/>
              </p:ext>
            </p:extLst>
          </p:nvPr>
        </p:nvGraphicFramePr>
        <p:xfrm>
          <a:off x="519975" y="1552574"/>
          <a:ext cx="7704000" cy="2962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6822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9A091AB1-F740-0DF0-10A8-C187D84FF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2C0A1545-CFB1-9A09-4468-275B0EE912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Feasibility </a:t>
            </a:r>
            <a:endParaRPr lang="en-US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AA200435-46AD-30E1-00A6-D0BA770D70B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44598" y="903189"/>
            <a:ext cx="7542127" cy="40765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1000"/>
              </a:spcBef>
            </a:pPr>
            <a:r>
              <a:rPr lang="en-US" sz="2400" b="1">
                <a:solidFill>
                  <a:schemeClr val="tx1"/>
                </a:solidFill>
                <a:latin typeface="Aptos"/>
              </a:rPr>
              <a:t>Experimental Verification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latin typeface="Aptos"/>
              </a:rPr>
              <a:t>Model Comparison</a:t>
            </a:r>
          </a:p>
          <a:p>
            <a:pPr marL="1200150" lvl="1" indent="-285750" algn="l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latin typeface="Aptos"/>
              </a:rPr>
              <a:t>Baseline phishing detection model</a:t>
            </a:r>
          </a:p>
          <a:p>
            <a:pPr marL="1200150" lvl="1" indent="-285750" algn="l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latin typeface="Aptos"/>
              </a:rPr>
              <a:t>Explainable model with our solution</a:t>
            </a:r>
          </a:p>
          <a:p>
            <a:pPr marL="1200150" lvl="1" indent="-285750" algn="l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latin typeface="Aptos"/>
              </a:rPr>
              <a:t>Other comparison approaches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latin typeface="Aptos"/>
              </a:rPr>
              <a:t>Evaluation Metrics</a:t>
            </a:r>
          </a:p>
          <a:p>
            <a:pPr marL="1200150" lvl="1" indent="-285750" algn="l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latin typeface="Aptos"/>
              </a:rPr>
              <a:t>Accuracy</a:t>
            </a:r>
          </a:p>
          <a:p>
            <a:pPr marL="1200150" lvl="1" indent="-285750" algn="l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latin typeface="Aptos"/>
              </a:rPr>
              <a:t>Precision / Recall</a:t>
            </a:r>
          </a:p>
          <a:p>
            <a:pPr marL="1200150" lvl="1" indent="-285750" algn="l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latin typeface="Aptos"/>
              </a:rPr>
              <a:t>F1-score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latin typeface="Aptos"/>
              </a:rPr>
              <a:t>Explainability Evaluation</a:t>
            </a:r>
          </a:p>
          <a:p>
            <a:pPr marL="1200150" lvl="1" indent="-285750" algn="l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latin typeface="Aptos"/>
              </a:rPr>
              <a:t>Explanation fidelity</a:t>
            </a:r>
          </a:p>
          <a:p>
            <a:pPr marL="1200150" lvl="1" indent="-285750" algn="l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latin typeface="Aptos"/>
              </a:rPr>
              <a:t>Interpretability metrics</a:t>
            </a:r>
            <a:endParaRPr lang="en" sz="1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10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A81267A3-578E-ED6F-939E-1489AF974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454B6277-0F7D-3656-66F2-F6B8378C06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Feasibility </a:t>
            </a:r>
            <a:endParaRPr lang="en">
              <a:solidFill>
                <a:srgbClr val="000000"/>
              </a:solidFill>
            </a:endParaRPr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6E0AA8F1-59D2-389B-C3A6-FD770A0D55F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44598" y="1017489"/>
            <a:ext cx="7542127" cy="32709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1000"/>
              </a:spcBef>
            </a:pPr>
            <a:r>
              <a:rPr lang="en-US" sz="2400" b="1">
                <a:solidFill>
                  <a:schemeClr val="tx1"/>
                </a:solidFill>
                <a:latin typeface="Aptos"/>
              </a:rPr>
              <a:t>Ethical Consideration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latin typeface="Aptos"/>
              </a:rPr>
              <a:t>Data Privacy</a:t>
            </a:r>
          </a:p>
          <a:p>
            <a:pPr marL="1200150" lvl="1" indent="-285750" algn="l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latin typeface="Aptos"/>
              </a:rPr>
              <a:t>Publicly available datasets</a:t>
            </a:r>
          </a:p>
          <a:p>
            <a:pPr marL="1200150" lvl="1" indent="-285750" algn="l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latin typeface="Aptos"/>
              </a:rPr>
              <a:t>Remove identifiable information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latin typeface="Aptos"/>
              </a:rPr>
              <a:t>Data Security</a:t>
            </a:r>
          </a:p>
          <a:p>
            <a:pPr marL="1200150" lvl="1" indent="-285750" algn="l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latin typeface="Aptos"/>
              </a:rPr>
              <a:t>Secure dataset storage</a:t>
            </a:r>
          </a:p>
          <a:p>
            <a:pPr marL="1200150" lvl="1" indent="-285750" algn="l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latin typeface="Aptos"/>
              </a:rPr>
              <a:t>Used only for academic research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latin typeface="Aptos"/>
              </a:rPr>
              <a:t>Responsible Research</a:t>
            </a:r>
          </a:p>
          <a:p>
            <a:pPr marL="1200150" lvl="1" indent="-285750" algn="l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latin typeface="Aptos"/>
              </a:rPr>
              <a:t>Avoid releasing sensitive details</a:t>
            </a:r>
          </a:p>
          <a:p>
            <a:pPr marL="1200150" lvl="1" indent="-285750" algn="l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latin typeface="Aptos"/>
              </a:rPr>
              <a:t>Prevent misuse by phishing attackers</a:t>
            </a:r>
          </a:p>
          <a:p>
            <a:pPr marL="152400" indent="0"/>
            <a:endParaRPr lang="en" sz="1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9862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7778A263-4D64-6A30-0BCC-5F639605D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58D79A4B-265E-3C87-52B0-2737845E78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5071" y="-12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ea typeface="Calibri"/>
                <a:cs typeface="Calibri"/>
              </a:rPr>
              <a:t>Timeline &amp; Milestone</a:t>
            </a: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84723E-233F-6F2F-E744-0F01C5CED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357483"/>
              </p:ext>
            </p:extLst>
          </p:nvPr>
        </p:nvGraphicFramePr>
        <p:xfrm>
          <a:off x="174171" y="571500"/>
          <a:ext cx="8796254" cy="4368992"/>
        </p:xfrm>
        <a:graphic>
          <a:graphicData uri="http://schemas.openxmlformats.org/drawingml/2006/table">
            <a:tbl>
              <a:tblPr bandRow="1">
                <a:tableStyleId>{277C646A-9E43-4021-A620-957DBF18076D}</a:tableStyleId>
              </a:tblPr>
              <a:tblGrid>
                <a:gridCol w="2199064">
                  <a:extLst>
                    <a:ext uri="{9D8B030D-6E8A-4147-A177-3AD203B41FA5}">
                      <a16:colId xmlns:a16="http://schemas.microsoft.com/office/drawing/2014/main" val="3209187959"/>
                    </a:ext>
                  </a:extLst>
                </a:gridCol>
                <a:gridCol w="3463626">
                  <a:extLst>
                    <a:ext uri="{9D8B030D-6E8A-4147-A177-3AD203B41FA5}">
                      <a16:colId xmlns:a16="http://schemas.microsoft.com/office/drawing/2014/main" val="3179652337"/>
                    </a:ext>
                  </a:extLst>
                </a:gridCol>
                <a:gridCol w="934500">
                  <a:extLst>
                    <a:ext uri="{9D8B030D-6E8A-4147-A177-3AD203B41FA5}">
                      <a16:colId xmlns:a16="http://schemas.microsoft.com/office/drawing/2014/main" val="1977561255"/>
                    </a:ext>
                  </a:extLst>
                </a:gridCol>
                <a:gridCol w="2199064">
                  <a:extLst>
                    <a:ext uri="{9D8B030D-6E8A-4147-A177-3AD203B41FA5}">
                      <a16:colId xmlns:a16="http://schemas.microsoft.com/office/drawing/2014/main" val="1002063314"/>
                    </a:ext>
                  </a:extLst>
                </a:gridCol>
              </a:tblGrid>
              <a:tr h="40837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Phase</a:t>
                      </a:r>
                      <a:endParaRPr lang="en-GB" sz="1600" b="1" i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Activities</a:t>
                      </a:r>
                      <a:endParaRPr lang="en-GB" sz="1600" b="1" i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Duration</a:t>
                      </a:r>
                      <a:endParaRPr lang="en-GB" sz="1600" b="1" i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Key Milestone</a:t>
                      </a:r>
                      <a:endParaRPr lang="en-GB" sz="1600" b="1" i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21661"/>
                  </a:ext>
                </a:extLst>
              </a:tr>
              <a:tr h="58214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Phase 1: Project Initiation &amp; Planning</a:t>
                      </a:r>
                      <a:endParaRPr lang="en-GB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Finalise research design, ethics approval, dataset access confirmation</a:t>
                      </a:r>
                      <a:endParaRPr lang="en-GB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Week 1-3</a:t>
                      </a:r>
                      <a:endParaRPr lang="en-GB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Research proposal approved</a:t>
                      </a:r>
                      <a:endParaRPr lang="en-GB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759295"/>
                  </a:ext>
                </a:extLst>
              </a:tr>
              <a:tr h="58214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Phase 2: Data Collection &amp; Integration</a:t>
                      </a:r>
                      <a:endParaRPr lang="en-GB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Collect phishing datasets, extract legitimate emails, filtering the emails</a:t>
                      </a:r>
                      <a:endParaRPr lang="en-GB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Week 4</a:t>
                      </a:r>
                      <a:endParaRPr lang="en-GB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40k-80k email dataset consolidated</a:t>
                      </a:r>
                      <a:endParaRPr lang="en-GB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420632"/>
                  </a:ext>
                </a:extLst>
              </a:tr>
              <a:tr h="106002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Phase 3: Solution Implementation</a:t>
                      </a:r>
                      <a:endParaRPr lang="en-GB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Implement the research methodology by applying selected machine learning techniques to the datasets.</a:t>
                      </a:r>
                      <a:endParaRPr lang="en-GB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Week 5-9</a:t>
                      </a:r>
                      <a:endParaRPr lang="en-GB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Detection models and solution implementation completed</a:t>
                      </a:r>
                      <a:endParaRPr lang="en-GB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199031"/>
                  </a:ext>
                </a:extLst>
              </a:tr>
              <a:tr h="56476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Phase 4: Evaluation &amp; Validation</a:t>
                      </a:r>
                      <a:endParaRPr lang="en-GB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Performance testing </a:t>
                      </a:r>
                      <a:endParaRPr lang="en-GB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Week 10</a:t>
                      </a:r>
                      <a:endParaRPr lang="en-GB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Model benchmark report completed</a:t>
                      </a:r>
                      <a:endParaRPr lang="en-GB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276303"/>
                  </a:ext>
                </a:extLst>
              </a:tr>
              <a:tr h="58214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Phase 5: Analysis &amp; Write-up</a:t>
                      </a:r>
                      <a:endParaRPr lang="en-GB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Results interpretation, theoretical positioning, policy implications</a:t>
                      </a:r>
                      <a:endParaRPr lang="en-GB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Week 11</a:t>
                      </a:r>
                      <a:endParaRPr lang="en-GB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Draft paper completed</a:t>
                      </a:r>
                      <a:endParaRPr lang="en-GB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598546"/>
                  </a:ext>
                </a:extLst>
              </a:tr>
              <a:tr h="58214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Phase 6: Final Review &amp; Submission</a:t>
                      </a:r>
                      <a:endParaRPr lang="en-GB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Editing, formatting, submission preparation</a:t>
                      </a:r>
                      <a:endParaRPr lang="en-GB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Week 12</a:t>
                      </a:r>
                      <a:endParaRPr lang="en-GB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Final submission</a:t>
                      </a:r>
                      <a:endParaRPr lang="en-GB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494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89969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AEB7B05F-AEDE-4F81-F74B-9F031EDF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5D55EBD3-E5E6-D9A2-C63A-DF49E155DE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Roles &amp; Responsibilities 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764968-833F-9119-319C-0D7D2E650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254022"/>
              </p:ext>
            </p:extLst>
          </p:nvPr>
        </p:nvGraphicFramePr>
        <p:xfrm>
          <a:off x="457200" y="1083127"/>
          <a:ext cx="8233860" cy="3785412"/>
        </p:xfrm>
        <a:graphic>
          <a:graphicData uri="http://schemas.openxmlformats.org/drawingml/2006/table">
            <a:tbl>
              <a:tblPr bandRow="1">
                <a:tableStyleId>{277C646A-9E43-4021-A620-957DBF18076D}</a:tableStyleId>
              </a:tblPr>
              <a:tblGrid>
                <a:gridCol w="2744620">
                  <a:extLst>
                    <a:ext uri="{9D8B030D-6E8A-4147-A177-3AD203B41FA5}">
                      <a16:colId xmlns:a16="http://schemas.microsoft.com/office/drawing/2014/main" val="824239331"/>
                    </a:ext>
                  </a:extLst>
                </a:gridCol>
                <a:gridCol w="2744620">
                  <a:extLst>
                    <a:ext uri="{9D8B030D-6E8A-4147-A177-3AD203B41FA5}">
                      <a16:colId xmlns:a16="http://schemas.microsoft.com/office/drawing/2014/main" val="298540424"/>
                    </a:ext>
                  </a:extLst>
                </a:gridCol>
                <a:gridCol w="2744620">
                  <a:extLst>
                    <a:ext uri="{9D8B030D-6E8A-4147-A177-3AD203B41FA5}">
                      <a16:colId xmlns:a16="http://schemas.microsoft.com/office/drawing/2014/main" val="4055197957"/>
                    </a:ext>
                  </a:extLst>
                </a:gridCol>
              </a:tblGrid>
              <a:tr h="363524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GB" sz="1800" b="1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Name</a:t>
                      </a:r>
                      <a:endParaRPr lang="en-GB" sz="18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GB" sz="1800" b="1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Role</a:t>
                      </a:r>
                      <a:endParaRPr lang="en-GB" sz="18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GB" sz="1800" b="1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Responsibilities</a:t>
                      </a:r>
                      <a:endParaRPr lang="en-GB" sz="18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583145"/>
                  </a:ext>
                </a:extLst>
              </a:tr>
              <a:tr h="363524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GB" sz="1800">
                          <a:effectLst/>
                          <a:latin typeface="Aptos" panose="020B0004020202020204" pitchFamily="34" charset="0"/>
                        </a:rPr>
                        <a:t>Thien Bao Minh Dang</a:t>
                      </a:r>
                      <a:endParaRPr lang="en-GB" sz="1800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GB" sz="1800">
                          <a:effectLst/>
                          <a:latin typeface="Aptos" panose="020B0004020202020204" pitchFamily="34" charset="0"/>
                        </a:rPr>
                        <a:t>Data Collector</a:t>
                      </a:r>
                      <a:endParaRPr lang="en-GB" sz="1800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GB" sz="1800">
                          <a:effectLst/>
                          <a:latin typeface="Calibri" panose="020F0502020204030204" pitchFamily="34" charset="0"/>
                        </a:rPr>
                        <a:t>Collecting data from public sources</a:t>
                      </a:r>
                      <a:endParaRPr lang="en-GB" sz="1800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563504"/>
                  </a:ext>
                </a:extLst>
              </a:tr>
              <a:tr h="363524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GB" sz="1800" err="1">
                          <a:effectLst/>
                          <a:latin typeface="Aptos"/>
                        </a:rPr>
                        <a:t>Hooward</a:t>
                      </a:r>
                      <a:r>
                        <a:rPr lang="en-GB" sz="1800">
                          <a:effectLst/>
                          <a:latin typeface="Aptos"/>
                        </a:rPr>
                        <a:t> </a:t>
                      </a:r>
                      <a:r>
                        <a:rPr lang="en-GB" sz="1800" err="1">
                          <a:effectLst/>
                          <a:latin typeface="Aptos"/>
                        </a:rPr>
                        <a:t>Kangdrew</a:t>
                      </a: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GB" sz="1800">
                          <a:effectLst/>
                          <a:latin typeface="Aptos" panose="020B0004020202020204" pitchFamily="34" charset="0"/>
                        </a:rPr>
                        <a:t>Note Taker</a:t>
                      </a:r>
                      <a:endParaRPr lang="en-GB" sz="1800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GB" sz="1800">
                          <a:effectLst/>
                          <a:latin typeface="Calibri" panose="020F0502020204030204" pitchFamily="34" charset="0"/>
                        </a:rPr>
                        <a:t>Recording timelines and milestones</a:t>
                      </a:r>
                      <a:endParaRPr lang="en-GB" sz="1800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938765"/>
                  </a:ext>
                </a:extLst>
              </a:tr>
              <a:tr h="647250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GB" sz="1800">
                          <a:effectLst/>
                          <a:latin typeface="Aptos" panose="020B0004020202020204" pitchFamily="34" charset="0"/>
                        </a:rPr>
                        <a:t>Viet Anh Pham</a:t>
                      </a:r>
                      <a:endParaRPr lang="en-GB" sz="1800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GB" sz="1800">
                          <a:effectLst/>
                          <a:latin typeface="Aptos" panose="020B0004020202020204" pitchFamily="34" charset="0"/>
                        </a:rPr>
                        <a:t>Researchers</a:t>
                      </a:r>
                      <a:endParaRPr lang="en-GB" sz="1800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GB" sz="1800">
                          <a:effectLst/>
                          <a:latin typeface="Aptos" panose="020B0004020202020204" pitchFamily="34" charset="0"/>
                        </a:rPr>
                        <a:t>Collecting relevant papers for the project, conduct experiment</a:t>
                      </a:r>
                      <a:endParaRPr lang="en-GB" sz="1800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5159"/>
                  </a:ext>
                </a:extLst>
              </a:tr>
              <a:tr h="638383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GB" sz="1800" err="1">
                          <a:effectLst/>
                          <a:latin typeface="Aptos"/>
                        </a:rPr>
                        <a:t>Xuxian</a:t>
                      </a:r>
                      <a:r>
                        <a:rPr lang="en-GB" sz="1800">
                          <a:effectLst/>
                          <a:latin typeface="Aptos"/>
                        </a:rPr>
                        <a:t> Lu</a:t>
                      </a: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GB" sz="1800">
                          <a:effectLst/>
                          <a:latin typeface="Aptos" panose="020B0004020202020204" pitchFamily="34" charset="0"/>
                        </a:rPr>
                        <a:t>Researchers</a:t>
                      </a:r>
                      <a:endParaRPr lang="en-GB" sz="1800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GB" sz="1800">
                          <a:effectLst/>
                          <a:latin typeface="Aptos" panose="020B0004020202020204" pitchFamily="34" charset="0"/>
                        </a:rPr>
                        <a:t>Collecting relevant papers for the project, conduct experiment</a:t>
                      </a:r>
                      <a:endParaRPr lang="en-GB" sz="1800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652515"/>
                  </a:ext>
                </a:extLst>
              </a:tr>
              <a:tr h="913245"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GB" sz="1800">
                          <a:effectLst/>
                          <a:latin typeface="Aptos" panose="020B0004020202020204" pitchFamily="34" charset="0"/>
                        </a:rPr>
                        <a:t>Luu Minh Thong Tran</a:t>
                      </a:r>
                      <a:endParaRPr lang="en-GB" sz="1800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GB" sz="1800">
                          <a:effectLst/>
                          <a:latin typeface="Aptos" panose="020B0004020202020204" pitchFamily="34" charset="0"/>
                        </a:rPr>
                        <a:t>Leader</a:t>
                      </a:r>
                      <a:endParaRPr lang="en-GB" sz="1800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725"/>
                        </a:lnSpc>
                        <a:buNone/>
                      </a:pPr>
                      <a:r>
                        <a:rPr lang="en-GB" sz="1800">
                          <a:effectLst/>
                          <a:latin typeface="Aptos" panose="020B0004020202020204" pitchFamily="34" charset="0"/>
                        </a:rPr>
                        <a:t>Lead the team and ensure team members are on track, conduct experiment</a:t>
                      </a:r>
                      <a:endParaRPr lang="en-GB" sz="1800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649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10739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2D7D136D-FF86-8B40-A921-4821A6255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B8084A79-60A8-2850-DFB4-AAB67ED737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Budget &amp; Resources </a:t>
            </a:r>
            <a:endParaRPr lang="en-US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3269C658-C04D-7BE8-45C2-E945529BC8F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48012" y="1284190"/>
            <a:ext cx="7542127" cy="32709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1000"/>
              </a:spcBef>
            </a:pPr>
            <a:r>
              <a:rPr lang="en-GB" sz="2000" b="1">
                <a:solidFill>
                  <a:schemeClr val="tx1"/>
                </a:solidFill>
              </a:rPr>
              <a:t>Technical Resources:</a:t>
            </a:r>
            <a:endParaRPr lang="en-US" sz="2000" b="1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Calibri,Sans-Serif"/>
              <a:buChar char="-"/>
            </a:pPr>
            <a:r>
              <a:rPr lang="en-GB" sz="2000" b="1">
                <a:solidFill>
                  <a:schemeClr val="tx1"/>
                </a:solidFill>
              </a:rPr>
              <a:t>Python</a:t>
            </a:r>
            <a:endParaRPr lang="en-US" sz="2000" b="1">
              <a:solidFill>
                <a:schemeClr val="tx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Calibri,Sans-Serif"/>
              <a:buChar char="-"/>
            </a:pPr>
            <a:r>
              <a:rPr lang="en-GB" sz="2000" b="1">
                <a:solidFill>
                  <a:schemeClr val="tx1"/>
                </a:solidFill>
              </a:rPr>
              <a:t>High-performance workstation/GPU</a:t>
            </a:r>
            <a:endParaRPr lang="en-US" sz="2000" b="1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</a:pPr>
            <a:endParaRPr lang="vi-VN" sz="2000" b="1">
              <a:solidFill>
                <a:schemeClr val="tx1"/>
              </a:solidFill>
              <a:cs typeface="Arial"/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</a:pPr>
            <a:r>
              <a:rPr lang="vi-VN" sz="2000" b="1">
                <a:solidFill>
                  <a:schemeClr val="tx1"/>
                </a:solidFill>
                <a:cs typeface="Arial"/>
              </a:rPr>
              <a:t>Budget:</a:t>
            </a:r>
            <a:endParaRPr lang="en-US" sz="2000" b="1">
              <a:solidFill>
                <a:schemeClr val="tx1"/>
              </a:solidFill>
              <a:cs typeface="Arial"/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</a:pPr>
            <a:r>
              <a:rPr lang="vi-VN" sz="2000" b="1">
                <a:solidFill>
                  <a:schemeClr val="tx1"/>
                </a:solidFill>
                <a:cs typeface="Arial"/>
              </a:rPr>
              <a:t>- Do not cost due to computation is perform locally </a:t>
            </a:r>
            <a:r>
              <a:rPr lang="en-GB" sz="2000" b="1">
                <a:solidFill>
                  <a:schemeClr val="tx1"/>
                </a:solidFill>
              </a:rPr>
              <a:t> </a:t>
            </a:r>
            <a:endParaRPr lang="en" sz="2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5117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D0E6D4AE-3181-5516-C881-D7EF2E79B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5975F7CE-E2CF-D531-404B-4088D71BAE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Risk Management Plan </a:t>
            </a: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18E9D44-AA2B-01B4-4237-269E2347E3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207722"/>
              </p:ext>
            </p:extLst>
          </p:nvPr>
        </p:nvGraphicFramePr>
        <p:xfrm>
          <a:off x="261257" y="1284514"/>
          <a:ext cx="8617406" cy="2897474"/>
        </p:xfrm>
        <a:graphic>
          <a:graphicData uri="http://schemas.openxmlformats.org/drawingml/2006/table">
            <a:tbl>
              <a:tblPr bandRow="1">
                <a:tableStyleId>{277C646A-9E43-4021-A620-957DBF18076D}</a:tableStyleId>
              </a:tblPr>
              <a:tblGrid>
                <a:gridCol w="2548037">
                  <a:extLst>
                    <a:ext uri="{9D8B030D-6E8A-4147-A177-3AD203B41FA5}">
                      <a16:colId xmlns:a16="http://schemas.microsoft.com/office/drawing/2014/main" val="1151794574"/>
                    </a:ext>
                  </a:extLst>
                </a:gridCol>
                <a:gridCol w="1632784">
                  <a:extLst>
                    <a:ext uri="{9D8B030D-6E8A-4147-A177-3AD203B41FA5}">
                      <a16:colId xmlns:a16="http://schemas.microsoft.com/office/drawing/2014/main" val="1622513493"/>
                    </a:ext>
                  </a:extLst>
                </a:gridCol>
                <a:gridCol w="954463">
                  <a:extLst>
                    <a:ext uri="{9D8B030D-6E8A-4147-A177-3AD203B41FA5}">
                      <a16:colId xmlns:a16="http://schemas.microsoft.com/office/drawing/2014/main" val="3062014454"/>
                    </a:ext>
                  </a:extLst>
                </a:gridCol>
                <a:gridCol w="3482122">
                  <a:extLst>
                    <a:ext uri="{9D8B030D-6E8A-4147-A177-3AD203B41FA5}">
                      <a16:colId xmlns:a16="http://schemas.microsoft.com/office/drawing/2014/main" val="406853796"/>
                    </a:ext>
                  </a:extLst>
                </a:gridCol>
              </a:tblGrid>
              <a:tr h="37297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Risk</a:t>
                      </a: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Probability</a:t>
                      </a: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Impact</a:t>
                      </a: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Mitigation Strategy</a:t>
                      </a: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332988"/>
                  </a:ext>
                </a:extLst>
              </a:tr>
              <a:tr h="65780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Data imbalance (phishing vs legit)</a:t>
                      </a: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Medium</a:t>
                      </a:r>
                      <a:endParaRPr lang="en-GB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High</a:t>
                      </a:r>
                      <a:endParaRPr lang="en-GB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Use stratified sampling, SMOTE</a:t>
                      </a:r>
                      <a:endParaRPr lang="en-GB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826777"/>
                  </a:ext>
                </a:extLst>
              </a:tr>
              <a:tr h="65780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Poor performance of solution implementation</a:t>
                      </a:r>
                      <a:endParaRPr lang="en-GB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Medium</a:t>
                      </a:r>
                      <a:endParaRPr lang="en-GB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High</a:t>
                      </a:r>
                      <a:endParaRPr lang="en-GB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Brainstorm and conduct feasibility test prior</a:t>
                      </a:r>
                      <a:endParaRPr lang="en-GB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835650"/>
                  </a:ext>
                </a:extLst>
              </a:tr>
              <a:tr h="65780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Computation resource limitation</a:t>
                      </a:r>
                      <a:endParaRPr lang="en-GB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Medium</a:t>
                      </a:r>
                      <a:endParaRPr lang="en-GB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Medium</a:t>
                      </a:r>
                      <a:endParaRPr lang="en-GB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Schedule training, migrate to cloud computing for higher computation power</a:t>
                      </a:r>
                      <a:endParaRPr lang="en-GB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758797"/>
                  </a:ext>
                </a:extLst>
              </a:tr>
              <a:tr h="37297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Data privacy concerns</a:t>
                      </a:r>
                      <a:endParaRPr lang="en-GB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Low</a:t>
                      </a: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High</a:t>
                      </a:r>
                      <a:endParaRPr lang="en-GB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Use only public datasets</a:t>
                      </a:r>
                      <a:endParaRPr lang="en-GB" sz="18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551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97314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29410BC8-72E9-6C7F-101A-FAFC13AE3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C4B76772-25BA-67D6-628C-31F79A7404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Communication Plan 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8651620-B773-5E00-2511-D402E7AE3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267949"/>
              </p:ext>
            </p:extLst>
          </p:nvPr>
        </p:nvGraphicFramePr>
        <p:xfrm>
          <a:off x="337457" y="1404257"/>
          <a:ext cx="8469516" cy="3056998"/>
        </p:xfrm>
        <a:graphic>
          <a:graphicData uri="http://schemas.openxmlformats.org/drawingml/2006/table">
            <a:tbl>
              <a:tblPr bandRow="1">
                <a:tableStyleId>{277C646A-9E43-4021-A620-957DBF18076D}</a:tableStyleId>
              </a:tblPr>
              <a:tblGrid>
                <a:gridCol w="2596243">
                  <a:extLst>
                    <a:ext uri="{9D8B030D-6E8A-4147-A177-3AD203B41FA5}">
                      <a16:colId xmlns:a16="http://schemas.microsoft.com/office/drawing/2014/main" val="3491376741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196565793"/>
                    </a:ext>
                  </a:extLst>
                </a:gridCol>
                <a:gridCol w="1876294">
                  <a:extLst>
                    <a:ext uri="{9D8B030D-6E8A-4147-A177-3AD203B41FA5}">
                      <a16:colId xmlns:a16="http://schemas.microsoft.com/office/drawing/2014/main" val="3995900098"/>
                    </a:ext>
                  </a:extLst>
                </a:gridCol>
                <a:gridCol w="2117379">
                  <a:extLst>
                    <a:ext uri="{9D8B030D-6E8A-4147-A177-3AD203B41FA5}">
                      <a16:colId xmlns:a16="http://schemas.microsoft.com/office/drawing/2014/main" val="1080140366"/>
                    </a:ext>
                  </a:extLst>
                </a:gridCol>
              </a:tblGrid>
              <a:tr h="698172">
                <a:tc>
                  <a:txBody>
                    <a:bodyPr/>
                    <a:lstStyle/>
                    <a:p>
                      <a:pPr rtl="0" fontAlgn="base">
                        <a:lnSpc>
                          <a:spcPts val="2325"/>
                        </a:lnSpc>
                        <a:buNone/>
                      </a:pPr>
                      <a:r>
                        <a:rPr lang="en-GB" sz="2400" b="1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Communication Type</a:t>
                      </a:r>
                      <a:endParaRPr lang="en-GB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325"/>
                        </a:lnSpc>
                        <a:buNone/>
                      </a:pPr>
                      <a:r>
                        <a:rPr lang="en-GB" sz="2400" b="1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Frequency </a:t>
                      </a:r>
                      <a:endParaRPr lang="en-GB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325"/>
                        </a:lnSpc>
                        <a:buNone/>
                      </a:pPr>
                      <a:r>
                        <a:rPr lang="en-GB" sz="2400" b="1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Medium </a:t>
                      </a:r>
                      <a:endParaRPr lang="en-GB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325"/>
                        </a:lnSpc>
                        <a:buNone/>
                      </a:pPr>
                      <a:r>
                        <a:rPr lang="en-GB" sz="2400" b="1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Purpose</a:t>
                      </a:r>
                      <a:endParaRPr lang="en-GB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789586"/>
                  </a:ext>
                </a:extLst>
              </a:tr>
              <a:tr h="701766">
                <a:tc>
                  <a:txBody>
                    <a:bodyPr/>
                    <a:lstStyle/>
                    <a:p>
                      <a:pPr rtl="0" fontAlgn="base">
                        <a:lnSpc>
                          <a:spcPts val="2325"/>
                        </a:lnSpc>
                        <a:buNone/>
                      </a:pPr>
                      <a:r>
                        <a:rPr lang="en-GB" sz="2400">
                          <a:effectLst/>
                          <a:latin typeface="Calibri" panose="020F0502020204030204" pitchFamily="34" charset="0"/>
                        </a:rPr>
                        <a:t>Offline/class meet up</a:t>
                      </a:r>
                      <a:endParaRPr lang="en-GB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325"/>
                        </a:lnSpc>
                        <a:buNone/>
                      </a:pPr>
                      <a:r>
                        <a:rPr lang="en-GB" sz="2400">
                          <a:effectLst/>
                          <a:latin typeface="Calibri" panose="020F0502020204030204" pitchFamily="34" charset="0"/>
                        </a:rPr>
                        <a:t>Weekly</a:t>
                      </a:r>
                      <a:endParaRPr lang="en-GB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325"/>
                        </a:lnSpc>
                        <a:buNone/>
                      </a:pPr>
                      <a:r>
                        <a:rPr lang="en-GB" sz="2400">
                          <a:effectLst/>
                          <a:latin typeface="Calibri" panose="020F0502020204030204" pitchFamily="34" charset="0"/>
                        </a:rPr>
                        <a:t>In-person</a:t>
                      </a:r>
                      <a:endParaRPr lang="en-GB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325"/>
                        </a:lnSpc>
                        <a:buNone/>
                      </a:pPr>
                      <a:r>
                        <a:rPr lang="en-GB" sz="2400">
                          <a:effectLst/>
                          <a:latin typeface="Calibri" panose="020F0502020204030204" pitchFamily="34" charset="0"/>
                        </a:rPr>
                        <a:t>Progress review</a:t>
                      </a:r>
                      <a:endParaRPr lang="en-GB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7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944181"/>
                  </a:ext>
                </a:extLst>
              </a:tr>
              <a:tr h="701766">
                <a:tc>
                  <a:txBody>
                    <a:bodyPr/>
                    <a:lstStyle/>
                    <a:p>
                      <a:pPr rtl="0" fontAlgn="base">
                        <a:lnSpc>
                          <a:spcPts val="2325"/>
                        </a:lnSpc>
                        <a:buNone/>
                      </a:pPr>
                      <a:r>
                        <a:rPr lang="en-GB" sz="2400">
                          <a:effectLst/>
                          <a:latin typeface="Calibri" panose="020F0502020204030204" pitchFamily="34" charset="0"/>
                        </a:rPr>
                        <a:t>Online meet up</a:t>
                      </a:r>
                      <a:endParaRPr lang="en-GB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325"/>
                        </a:lnSpc>
                        <a:buNone/>
                      </a:pPr>
                      <a:r>
                        <a:rPr lang="en-GB" sz="2400">
                          <a:effectLst/>
                          <a:latin typeface="Calibri" panose="020F0502020204030204" pitchFamily="34" charset="0"/>
                        </a:rPr>
                        <a:t>Weekly/</a:t>
                      </a:r>
                    </a:p>
                    <a:p>
                      <a:pPr rtl="0" fontAlgn="base">
                        <a:lnSpc>
                          <a:spcPts val="2325"/>
                        </a:lnSpc>
                        <a:buNone/>
                      </a:pPr>
                      <a:r>
                        <a:rPr lang="en-GB" sz="2400">
                          <a:effectLst/>
                          <a:latin typeface="Calibri" panose="020F0502020204030204" pitchFamily="34" charset="0"/>
                        </a:rPr>
                        <a:t>fortnightly</a:t>
                      </a:r>
                      <a:endParaRPr lang="en-GB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325"/>
                        </a:lnSpc>
                        <a:buNone/>
                      </a:pPr>
                      <a:r>
                        <a:rPr lang="en-GB" sz="2400">
                          <a:effectLst/>
                          <a:latin typeface="Calibri" panose="020F0502020204030204" pitchFamily="34" charset="0"/>
                        </a:rPr>
                        <a:t>Zoom Meeting</a:t>
                      </a:r>
                      <a:endParaRPr lang="en-GB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325"/>
                        </a:lnSpc>
                        <a:buNone/>
                      </a:pPr>
                      <a:r>
                        <a:rPr lang="en-GB" sz="2400">
                          <a:effectLst/>
                          <a:latin typeface="Calibri" panose="020F0502020204030204" pitchFamily="34" charset="0"/>
                        </a:rPr>
                        <a:t>Progress review and continuation</a:t>
                      </a:r>
                      <a:endParaRPr lang="en-GB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409811"/>
                  </a:ext>
                </a:extLst>
              </a:tr>
              <a:tr h="701766">
                <a:tc>
                  <a:txBody>
                    <a:bodyPr/>
                    <a:lstStyle/>
                    <a:p>
                      <a:pPr rtl="0" fontAlgn="base">
                        <a:lnSpc>
                          <a:spcPts val="2325"/>
                        </a:lnSpc>
                        <a:buNone/>
                      </a:pPr>
                      <a:r>
                        <a:rPr lang="en-GB" sz="2400">
                          <a:effectLst/>
                          <a:latin typeface="Calibri" panose="020F0502020204030204" pitchFamily="34" charset="0"/>
                        </a:rPr>
                        <a:t>Text Message</a:t>
                      </a:r>
                      <a:endParaRPr lang="en-GB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325"/>
                        </a:lnSpc>
                        <a:buNone/>
                      </a:pPr>
                      <a:r>
                        <a:rPr lang="en-GB" sz="2400">
                          <a:effectLst/>
                          <a:latin typeface="Calibri" panose="020F0502020204030204" pitchFamily="34" charset="0"/>
                        </a:rPr>
                        <a:t>Anytime</a:t>
                      </a:r>
                      <a:endParaRPr lang="en-GB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325"/>
                        </a:lnSpc>
                        <a:buNone/>
                      </a:pPr>
                      <a:r>
                        <a:rPr lang="en-GB" sz="2400">
                          <a:effectLst/>
                          <a:latin typeface="Calibri" panose="020F0502020204030204" pitchFamily="34" charset="0"/>
                        </a:rPr>
                        <a:t>Discord/Email</a:t>
                      </a:r>
                      <a:endParaRPr lang="en-GB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325"/>
                        </a:lnSpc>
                        <a:buNone/>
                      </a:pPr>
                      <a:r>
                        <a:rPr lang="en-GB" sz="2400">
                          <a:effectLst/>
                          <a:latin typeface="Calibri" panose="020F0502020204030204" pitchFamily="34" charset="0"/>
                        </a:rPr>
                        <a:t>Basic communication</a:t>
                      </a:r>
                      <a:endParaRPr lang="en-GB">
                        <a:effectLst/>
                      </a:endParaRPr>
                    </a:p>
                  </a:txBody>
                  <a:tcPr marL="73914" marR="73914" marT="36957" marB="36957">
                    <a:lnL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5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068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02384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DE0C4-FAFF-DBF8-C9CC-E9C216FB69A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5814" y="324757"/>
            <a:ext cx="7702550" cy="573088"/>
          </a:xfrm>
        </p:spPr>
        <p:txBody>
          <a:bodyPr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>
                <a:solidFill>
                  <a:schemeClr val="bg2"/>
                </a:solidFill>
              </a:rPr>
              <a:t>References</a:t>
            </a:r>
            <a:endParaRPr lang="en-AU" sz="2400">
              <a:solidFill>
                <a:schemeClr val="bg2"/>
              </a:solidFill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0C5043-DC52-9279-E9D8-99070350F8D5}"/>
              </a:ext>
            </a:extLst>
          </p:cNvPr>
          <p:cNvSpPr txBox="1"/>
          <p:nvPr/>
        </p:nvSpPr>
        <p:spPr>
          <a:xfrm>
            <a:off x="127676" y="1032311"/>
            <a:ext cx="8888649" cy="38779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685" lvl="0" indent="-40068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Abdulla Al-</a:t>
            </a:r>
            <a:r>
              <a:rPr lang="en-US" altLang="en-US" sz="900" err="1">
                <a:solidFill>
                  <a:srgbClr val="000000"/>
                </a:solidFill>
                <a:latin typeface="Time s New Roman"/>
                <a:cs typeface="Times New Roman"/>
              </a:rPr>
              <a:t>Subaiey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, Al-Thani, M., Naser Abdullah Alam, Kaniz Fatema </a:t>
            </a:r>
            <a:r>
              <a:rPr lang="en-US" altLang="en-US" sz="900" err="1">
                <a:solidFill>
                  <a:srgbClr val="000000"/>
                </a:solidFill>
                <a:latin typeface="Time s New Roman"/>
                <a:cs typeface="Times New Roman"/>
              </a:rPr>
              <a:t>Antora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, Amith Khandakar, &amp; SM. (2024). Novel interpretable and robust web-based AI platform for phishing email detection. </a:t>
            </a:r>
            <a:r>
              <a:rPr lang="en-US" altLang="en-US" sz="900" i="1">
                <a:solidFill>
                  <a:srgbClr val="000000"/>
                </a:solidFill>
                <a:latin typeface="Time s New Roman"/>
                <a:cs typeface="Times New Roman"/>
              </a:rPr>
              <a:t>Computers &amp; Electrical Engineering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, </a:t>
            </a:r>
            <a:r>
              <a:rPr lang="en-US" altLang="en-US" sz="900" i="1">
                <a:solidFill>
                  <a:srgbClr val="000000"/>
                </a:solidFill>
                <a:latin typeface="Time s New Roman"/>
                <a:cs typeface="Times New Roman"/>
              </a:rPr>
              <a:t>120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, 109625–109625. 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https://doi.org/10.1016/j.compeleceng.2024.109625</a:t>
            </a:r>
            <a:endParaRPr lang="en-US" altLang="en-US" sz="900">
              <a:solidFill>
                <a:srgbClr val="000000"/>
              </a:solidFill>
              <a:latin typeface="Time s New Roman"/>
              <a:cs typeface="Times New Roman"/>
            </a:endParaRPr>
          </a:p>
          <a:p>
            <a:pPr marL="400685" lvl="0" indent="-400685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00">
              <a:solidFill>
                <a:srgbClr val="000000"/>
              </a:solidFill>
              <a:latin typeface="Time s New Roman"/>
              <a:cs typeface="Arial"/>
            </a:endParaRPr>
          </a:p>
          <a:p>
            <a:pPr marL="400685" lvl="0" indent="-40068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Al-</a:t>
            </a:r>
            <a:r>
              <a:rPr lang="en-US" altLang="en-US" sz="900" err="1">
                <a:solidFill>
                  <a:srgbClr val="000000"/>
                </a:solidFill>
                <a:latin typeface="Time s New Roman"/>
                <a:cs typeface="Times New Roman"/>
              </a:rPr>
              <a:t>E’Mari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, S., </a:t>
            </a:r>
            <a:r>
              <a:rPr lang="en-US" altLang="en-US" sz="900" err="1">
                <a:solidFill>
                  <a:srgbClr val="000000"/>
                </a:solidFill>
                <a:latin typeface="Time s New Roman"/>
                <a:cs typeface="Times New Roman"/>
              </a:rPr>
              <a:t>Sanjalawe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, Y., </a:t>
            </a:r>
            <a:r>
              <a:rPr lang="en-US" altLang="en-US" sz="900" err="1">
                <a:solidFill>
                  <a:srgbClr val="000000"/>
                </a:solidFill>
                <a:latin typeface="Time s New Roman"/>
                <a:cs typeface="Times New Roman"/>
              </a:rPr>
              <a:t>Fraihat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, S., Kurdi, G., &amp; </a:t>
            </a:r>
            <a:r>
              <a:rPr lang="en-US" altLang="en-US" sz="900" err="1">
                <a:solidFill>
                  <a:srgbClr val="000000"/>
                </a:solidFill>
                <a:latin typeface="Time s New Roman"/>
                <a:cs typeface="Times New Roman"/>
              </a:rPr>
              <a:t>Allehyani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, B. (2025). A Cognitive BDI–</a:t>
            </a:r>
            <a:r>
              <a:rPr lang="en-US" altLang="en-US" sz="900" err="1">
                <a:solidFill>
                  <a:srgbClr val="000000"/>
                </a:solidFill>
                <a:latin typeface="Time s New Roman"/>
                <a:cs typeface="Times New Roman"/>
              </a:rPr>
              <a:t>BiLSTM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 Hybrid Framework for Interpretable Email Threat Detection. </a:t>
            </a:r>
            <a:r>
              <a:rPr lang="en-US" altLang="en-US" sz="900" i="1">
                <a:solidFill>
                  <a:srgbClr val="000000"/>
                </a:solidFill>
                <a:latin typeface="Time s New Roman"/>
                <a:cs typeface="Times New Roman"/>
              </a:rPr>
              <a:t>IEEE Access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, 1–1. 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https://doi.org/10.1109/access.2025.3641123</a:t>
            </a:r>
            <a:endParaRPr lang="vi-VN" altLang="en-US" sz="900">
              <a:solidFill>
                <a:srgbClr val="000000"/>
              </a:solidFill>
              <a:latin typeface="Time s New Roman"/>
              <a:cs typeface="Times New Roman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400685" lvl="0" indent="-400685"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 altLang="en-US" sz="900">
              <a:solidFill>
                <a:srgbClr val="000000"/>
              </a:solidFill>
              <a:latin typeface="Time s New Roman"/>
              <a:cs typeface="Times New Roman"/>
            </a:endParaRPr>
          </a:p>
          <a:p>
            <a:pPr marL="400685" lvl="0" indent="-40068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Apley, D. W., &amp; Zhu, J. (2020). Visualizing the effects of predictor variables in black box supervised learning models. Journal of the Royal Statistical Society. Series B (Statistical Methodology), 82(4), 1059–1086. JSTOR. </a:t>
            </a:r>
            <a:r>
              <a:rPr lang="en-GB" altLang="en-US" sz="900">
                <a:solidFill>
                  <a:srgbClr val="000000"/>
                </a:solidFill>
                <a:latin typeface="Time s New Roman"/>
                <a:cs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https://doi.org/10.2307/26937906</a:t>
            </a:r>
            <a:endParaRPr lang="vi-VN" altLang="en-US" sz="900">
              <a:solidFill>
                <a:srgbClr val="000000"/>
              </a:solidFill>
              <a:latin typeface="Time s New Roman"/>
              <a:cs typeface="Times New Roman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400685" lvl="0" indent="-400685"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 altLang="en-US" sz="900">
              <a:solidFill>
                <a:srgbClr val="000000"/>
              </a:solidFill>
              <a:latin typeface="Time s New Roman"/>
              <a:cs typeface="Times New Roman"/>
            </a:endParaRPr>
          </a:p>
          <a:p>
            <a:pPr marL="400685" lvl="0" indent="-40068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900">
                <a:solidFill>
                  <a:srgbClr val="000000"/>
                </a:solidFill>
                <a:latin typeface="Time s New Roman"/>
                <a:cs typeface="Arial"/>
              </a:rPr>
              <a:t>Friedman, J. H., &amp; Popescu, B. E. (2008). Predictive learning via rule ensembles. The Annals of Applied Statistics, 2(3), 916–954. </a:t>
            </a:r>
            <a:r>
              <a:rPr lang="en-GB" altLang="en-US" sz="900">
                <a:solidFill>
                  <a:srgbClr val="000000"/>
                </a:solidFill>
                <a:latin typeface="Time s New Roman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https://doi.org/10.1214/07-aoas148</a:t>
            </a:r>
            <a:endParaRPr lang="vi-VN" altLang="en-US" sz="900">
              <a:solidFill>
                <a:srgbClr val="000000"/>
              </a:solidFill>
              <a:latin typeface="Time s New Roman"/>
              <a:cs typeface="Arial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400685" lvl="0" indent="-400685" eaLnBrk="0" fontAlgn="base" hangingPunct="0">
              <a:spcBef>
                <a:spcPct val="0"/>
              </a:spcBef>
              <a:spcAft>
                <a:spcPct val="0"/>
              </a:spcAft>
            </a:pPr>
            <a:endParaRPr lang="vi-VN" altLang="en-US" sz="900">
              <a:solidFill>
                <a:srgbClr val="000000"/>
              </a:solidFill>
              <a:latin typeface="Time s New Roman"/>
              <a:cs typeface="Arial"/>
            </a:endParaRPr>
          </a:p>
          <a:p>
            <a:pPr marL="400685" lvl="0" indent="-40068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Greco, F., </a:t>
            </a:r>
            <a:r>
              <a:rPr lang="en-US" altLang="en-US" sz="900" err="1">
                <a:solidFill>
                  <a:srgbClr val="000000"/>
                </a:solidFill>
                <a:latin typeface="Time s New Roman"/>
                <a:cs typeface="Times New Roman"/>
              </a:rPr>
              <a:t>Desolda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, G., &amp; Esposito, A. (2023). </a:t>
            </a:r>
            <a:r>
              <a:rPr lang="en-US" altLang="en-US" sz="900" i="1">
                <a:solidFill>
                  <a:srgbClr val="000000"/>
                </a:solidFill>
                <a:latin typeface="Time s New Roman"/>
                <a:cs typeface="Times New Roman"/>
              </a:rPr>
              <a:t>Explaining Phishing Attacks: An XAI Approach to Enhance User Awareness and Trust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. 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https://ceur-ws.org/Vol-3488/paper22.pdf</a:t>
            </a:r>
            <a:endParaRPr lang="en-US" altLang="en-US" sz="900">
              <a:solidFill>
                <a:srgbClr val="000000"/>
              </a:solidFill>
              <a:latin typeface="Time s New Roman"/>
              <a:cs typeface="Times New Roman"/>
            </a:endParaRPr>
          </a:p>
          <a:p>
            <a:pPr marL="400685" lvl="0" indent="-400685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00">
              <a:solidFill>
                <a:srgbClr val="000000"/>
              </a:solidFill>
              <a:latin typeface="Time s New Roman"/>
              <a:cs typeface="Arial"/>
            </a:endParaRPr>
          </a:p>
          <a:p>
            <a:pPr marL="400685" lvl="0" indent="-40068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err="1">
                <a:solidFill>
                  <a:srgbClr val="000000"/>
                </a:solidFill>
                <a:latin typeface="Time s New Roman"/>
                <a:cs typeface="Times New Roman"/>
              </a:rPr>
              <a:t>Hassija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, V., </a:t>
            </a:r>
            <a:r>
              <a:rPr lang="en-US" altLang="en-US" sz="900" err="1">
                <a:solidFill>
                  <a:srgbClr val="000000"/>
                </a:solidFill>
                <a:latin typeface="Time s New Roman"/>
                <a:cs typeface="Times New Roman"/>
              </a:rPr>
              <a:t>Chamola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, V., Mahapatra, A., Singal, A., Goel, D., Huang, K., </a:t>
            </a:r>
            <a:r>
              <a:rPr lang="en-US" altLang="en-US" sz="900" err="1">
                <a:solidFill>
                  <a:srgbClr val="000000"/>
                </a:solidFill>
                <a:latin typeface="Time s New Roman"/>
                <a:cs typeface="Times New Roman"/>
              </a:rPr>
              <a:t>Scardapane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, S., Spinelli, I., Mahmud, M., &amp; Hussain, A. (2023). Interpreting Black-Box Models: a Review on Explainable Artificial Intelligence. </a:t>
            </a:r>
            <a:r>
              <a:rPr lang="en-US" altLang="en-US" sz="900" i="1">
                <a:solidFill>
                  <a:srgbClr val="000000"/>
                </a:solidFill>
                <a:latin typeface="Time s New Roman"/>
                <a:cs typeface="Times New Roman"/>
              </a:rPr>
              <a:t>Cognitive Computation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, </a:t>
            </a:r>
            <a:r>
              <a:rPr lang="en-US" altLang="en-US" sz="900" i="1">
                <a:solidFill>
                  <a:srgbClr val="000000"/>
                </a:solidFill>
                <a:latin typeface="Time s New Roman"/>
                <a:cs typeface="Times New Roman"/>
              </a:rPr>
              <a:t>16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(1), 45–74. 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https://doi.org/10.1007/s12559-023-10179-8</a:t>
            </a:r>
            <a:endParaRPr lang="en-US" altLang="en-US" sz="900">
              <a:solidFill>
                <a:srgbClr val="000000"/>
              </a:solidFill>
              <a:latin typeface="Time s New Roman"/>
              <a:cs typeface="Times New Roman"/>
            </a:endParaRPr>
          </a:p>
          <a:p>
            <a:pPr marL="400685" lvl="0" indent="-400685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00">
              <a:solidFill>
                <a:srgbClr val="000000"/>
              </a:solidFill>
              <a:latin typeface="Time s New Roman"/>
              <a:cs typeface="Arial"/>
            </a:endParaRPr>
          </a:p>
          <a:p>
            <a:pPr marL="400685" lvl="0" indent="-40068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Sarker, I. H., Janicke, H., Mohsin, A., Gill, A., &amp; Maglaras, L. (2024). Explainable AI for cybersecurity automation, intelligence and trustworthiness in digital twin: Methods, taxonomy, challenges and prospects. </a:t>
            </a:r>
            <a:r>
              <a:rPr lang="en-US" altLang="en-US" sz="900" i="1">
                <a:solidFill>
                  <a:srgbClr val="000000"/>
                </a:solidFill>
                <a:latin typeface="Time s New Roman"/>
                <a:cs typeface="Times New Roman"/>
              </a:rPr>
              <a:t>ICT Express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, </a:t>
            </a:r>
            <a:r>
              <a:rPr lang="en-US" altLang="en-US" sz="900" i="1">
                <a:solidFill>
                  <a:srgbClr val="000000"/>
                </a:solidFill>
                <a:latin typeface="Time s New Roman"/>
                <a:cs typeface="Times New Roman"/>
              </a:rPr>
              <a:t>10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(4). 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https://doi.org/10.1016/j.icte.2024.05.007</a:t>
            </a:r>
            <a:endParaRPr lang="en-US" altLang="en-US" sz="900">
              <a:solidFill>
                <a:srgbClr val="000000"/>
              </a:solidFill>
              <a:latin typeface="Time s New Roman"/>
              <a:cs typeface="Times New Roman"/>
            </a:endParaRPr>
          </a:p>
          <a:p>
            <a:pPr marL="400685" lvl="0" indent="-400685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00">
              <a:solidFill>
                <a:srgbClr val="000000"/>
              </a:solidFill>
              <a:latin typeface="Time s New Roman"/>
              <a:cs typeface="Arial"/>
            </a:endParaRPr>
          </a:p>
          <a:p>
            <a:pPr marL="400685" lvl="0" indent="-40068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Saves, P., Palar, </a:t>
            </a:r>
            <a:r>
              <a:rPr lang="en-US" altLang="en-US" sz="900" err="1">
                <a:solidFill>
                  <a:srgbClr val="000000"/>
                </a:solidFill>
                <a:latin typeface="Time s New Roman"/>
                <a:cs typeface="Times New Roman"/>
              </a:rPr>
              <a:t>Pramudita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 Satria, </a:t>
            </a:r>
            <a:r>
              <a:rPr lang="en-US" altLang="en-US" sz="900" err="1">
                <a:solidFill>
                  <a:srgbClr val="000000"/>
                </a:solidFill>
                <a:latin typeface="Time s New Roman"/>
                <a:cs typeface="Times New Roman"/>
              </a:rPr>
              <a:t>Robani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, Muhammad Daffa, </a:t>
            </a:r>
            <a:r>
              <a:rPr lang="en-US" altLang="en-US" sz="900" err="1">
                <a:solidFill>
                  <a:srgbClr val="000000"/>
                </a:solidFill>
                <a:latin typeface="Time s New Roman"/>
                <a:cs typeface="Times New Roman"/>
              </a:rPr>
              <a:t>Verstaevel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, N., </a:t>
            </a:r>
            <a:r>
              <a:rPr lang="en-US" altLang="en-US" sz="900" err="1">
                <a:solidFill>
                  <a:srgbClr val="000000"/>
                </a:solidFill>
                <a:latin typeface="Time s New Roman"/>
                <a:cs typeface="Times New Roman"/>
              </a:rPr>
              <a:t>Garouani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, M., </a:t>
            </a:r>
            <a:r>
              <a:rPr lang="en-US" altLang="en-US" sz="900" err="1">
                <a:solidFill>
                  <a:srgbClr val="000000"/>
                </a:solidFill>
                <a:latin typeface="Time s New Roman"/>
                <a:cs typeface="Times New Roman"/>
              </a:rPr>
              <a:t>Aligon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, J., </a:t>
            </a:r>
            <a:r>
              <a:rPr lang="en-US" altLang="en-US" sz="900" err="1">
                <a:solidFill>
                  <a:srgbClr val="000000"/>
                </a:solidFill>
                <a:latin typeface="Time s New Roman"/>
                <a:cs typeface="Times New Roman"/>
              </a:rPr>
              <a:t>Gaudou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, B., Shimoyama, K., &amp; </a:t>
            </a:r>
            <a:r>
              <a:rPr lang="en-US" altLang="en-US" sz="900" err="1">
                <a:solidFill>
                  <a:srgbClr val="000000"/>
                </a:solidFill>
                <a:latin typeface="Time s New Roman"/>
                <a:cs typeface="Times New Roman"/>
              </a:rPr>
              <a:t>Morlier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, J. (2025). </a:t>
            </a:r>
            <a:r>
              <a:rPr lang="en-US" altLang="en-US" sz="900" i="1">
                <a:solidFill>
                  <a:srgbClr val="000000"/>
                </a:solidFill>
                <a:latin typeface="Time s New Roman"/>
                <a:cs typeface="Times New Roman"/>
              </a:rPr>
              <a:t>Surrogate Modeling and Explainable Artificial Intelligence for Complex Systems: A Workflow for Automated Simulation Exploration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. ArXiv.org. 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https://arxiv.org/abs/2510.16742v2</a:t>
            </a:r>
            <a:endParaRPr lang="en-US" altLang="en-US" sz="900">
              <a:solidFill>
                <a:srgbClr val="000000"/>
              </a:solidFill>
              <a:latin typeface="Time s New Roman"/>
              <a:cs typeface="Times New Roman"/>
            </a:endParaRPr>
          </a:p>
          <a:p>
            <a:pPr marL="400685" lvl="0" indent="-400685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00">
              <a:solidFill>
                <a:srgbClr val="000000"/>
              </a:solidFill>
              <a:latin typeface="Time s New Roman"/>
              <a:cs typeface="Arial"/>
            </a:endParaRPr>
          </a:p>
          <a:p>
            <a:pPr marL="400685" lvl="0" indent="-40068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Sharma, A., Rani, S., &amp; Shabaz, M. (2025). A comprehensive review of explainable AI in cybersecurity: Decoding the black box. </a:t>
            </a:r>
            <a:r>
              <a:rPr lang="en-US" altLang="en-US" sz="900" i="1">
                <a:solidFill>
                  <a:srgbClr val="000000"/>
                </a:solidFill>
                <a:latin typeface="Time s New Roman"/>
                <a:cs typeface="Times New Roman"/>
              </a:rPr>
              <a:t>ICT Express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. 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https://doi.org/10.1016/j.icte.2025.10.004</a:t>
            </a:r>
            <a:endParaRPr lang="en-US" altLang="en-US" sz="900">
              <a:solidFill>
                <a:srgbClr val="000000"/>
              </a:solidFill>
              <a:latin typeface="Time s New Roman"/>
              <a:cs typeface="Times New Roman"/>
            </a:endParaRPr>
          </a:p>
          <a:p>
            <a:pPr marL="400685" lvl="0" indent="-400685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00">
              <a:solidFill>
                <a:srgbClr val="000000"/>
              </a:solidFill>
              <a:latin typeface="Time s New Roman"/>
              <a:cs typeface="Arial"/>
            </a:endParaRPr>
          </a:p>
          <a:p>
            <a:pPr marL="400685" lvl="0" indent="-40068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err="1">
                <a:solidFill>
                  <a:srgbClr val="000000"/>
                </a:solidFill>
                <a:latin typeface="Time s New Roman"/>
                <a:cs typeface="Times New Roman"/>
              </a:rPr>
              <a:t>Shendkar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, B. D., Chandre, P. R., Sulochana Sagar </a:t>
            </a:r>
            <a:r>
              <a:rPr lang="en-US" altLang="en-US" sz="900" err="1">
                <a:solidFill>
                  <a:srgbClr val="000000"/>
                </a:solidFill>
                <a:latin typeface="Time s New Roman"/>
                <a:cs typeface="Times New Roman"/>
              </a:rPr>
              <a:t>Madachane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, Kulkarni, N., &amp; Deshmukh, S. (2024). Enhancing Phishing Attack Detection Using Explainable AI: Trends and Innovations. </a:t>
            </a:r>
            <a:r>
              <a:rPr lang="en-US" altLang="en-US" sz="900" i="1">
                <a:solidFill>
                  <a:srgbClr val="000000"/>
                </a:solidFill>
                <a:latin typeface="Time s New Roman"/>
                <a:cs typeface="Times New Roman"/>
              </a:rPr>
              <a:t>ASEAN Journal on Science and Technology for Development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, </a:t>
            </a:r>
            <a:r>
              <a:rPr lang="en-US" altLang="en-US" sz="900" i="1">
                <a:solidFill>
                  <a:srgbClr val="000000"/>
                </a:solidFill>
                <a:latin typeface="Time s New Roman"/>
                <a:cs typeface="Times New Roman"/>
              </a:rPr>
              <a:t>42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(1). 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https://doi.org/10.61931/2224-9028.1604</a:t>
            </a:r>
            <a:endParaRPr lang="en-US" altLang="en-US" sz="900">
              <a:solidFill>
                <a:srgbClr val="000000"/>
              </a:solidFill>
              <a:latin typeface="Time s New Roman"/>
              <a:cs typeface="Times New Roman"/>
            </a:endParaRPr>
          </a:p>
          <a:p>
            <a:pPr marL="400685" lvl="0" indent="-400685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00">
              <a:solidFill>
                <a:srgbClr val="000000"/>
              </a:solidFill>
              <a:latin typeface="Time s New Roman"/>
              <a:cs typeface="Arial"/>
            </a:endParaRPr>
          </a:p>
          <a:p>
            <a:pPr marL="400685" lvl="0" indent="-40068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Tan, H. F. (2019). </a:t>
            </a:r>
            <a:r>
              <a:rPr lang="en-US" altLang="en-US" sz="900" i="1">
                <a:solidFill>
                  <a:srgbClr val="000000"/>
                </a:solidFill>
                <a:latin typeface="Time s New Roman"/>
                <a:cs typeface="Times New Roman"/>
              </a:rPr>
              <a:t>Interpretable Approaches to Opening Up Black-Box Models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</a:rPr>
              <a:t>. </a:t>
            </a:r>
            <a:r>
              <a:rPr lang="en-US" altLang="en-US" sz="900">
                <a:solidFill>
                  <a:srgbClr val="000000"/>
                </a:solidFill>
                <a:latin typeface="Time s New Roman"/>
                <a:cs typeface="Times New Roman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https://doi.org/10.7298/j1fj-qj88</a:t>
            </a:r>
            <a:endParaRPr lang="en-US" altLang="en-US" sz="1000">
              <a:solidFill>
                <a:srgbClr val="000000"/>
              </a:solidFill>
              <a:latin typeface="Time s New Roman"/>
              <a:cs typeface="Times New Roman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400685" indent="-400685"/>
            <a:endParaRPr lang="en-AU" sz="900">
              <a:solidFill>
                <a:srgbClr val="000000"/>
              </a:solidFill>
              <a:latin typeface="Time 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623476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47"/>
          <p:cNvSpPr txBox="1">
            <a:spLocks noGrp="1"/>
          </p:cNvSpPr>
          <p:nvPr>
            <p:ph type="title"/>
          </p:nvPr>
        </p:nvSpPr>
        <p:spPr>
          <a:xfrm>
            <a:off x="1103405" y="1532604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206" name="Google Shape;1206;p47"/>
          <p:cNvSpPr txBox="1">
            <a:spLocks noGrp="1"/>
          </p:cNvSpPr>
          <p:nvPr>
            <p:ph type="subTitle" idx="1"/>
          </p:nvPr>
        </p:nvSpPr>
        <p:spPr>
          <a:xfrm>
            <a:off x="1103355" y="2503104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Do you have any questions?</a:t>
            </a:r>
            <a:endParaRPr sz="1200" b="1"/>
          </a:p>
        </p:txBody>
      </p:sp>
      <p:sp>
        <p:nvSpPr>
          <p:cNvPr id="1208" name="Google Shape;1208;p47"/>
          <p:cNvSpPr/>
          <p:nvPr/>
        </p:nvSpPr>
        <p:spPr>
          <a:xfrm rot="-5400000">
            <a:off x="694005" y="1863338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9" name="Google Shape;1209;p47"/>
          <p:cNvGrpSpPr/>
          <p:nvPr/>
        </p:nvGrpSpPr>
        <p:grpSpPr>
          <a:xfrm rot="10800000">
            <a:off x="7995518" y="3068895"/>
            <a:ext cx="681217" cy="3360485"/>
            <a:chOff x="1337800" y="-2525590"/>
            <a:chExt cx="1498167" cy="7390555"/>
          </a:xfrm>
        </p:grpSpPr>
        <p:cxnSp>
          <p:nvCxnSpPr>
            <p:cNvPr id="1210" name="Google Shape;1210;p47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1" name="Google Shape;1211;p47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12" name="Google Shape;1212;p47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3" name="Google Shape;1213;p47"/>
          <p:cNvGrpSpPr/>
          <p:nvPr/>
        </p:nvGrpSpPr>
        <p:grpSpPr>
          <a:xfrm>
            <a:off x="7679244" y="3634568"/>
            <a:ext cx="247278" cy="1160062"/>
            <a:chOff x="1463894" y="1434556"/>
            <a:chExt cx="247278" cy="1160062"/>
          </a:xfrm>
        </p:grpSpPr>
        <p:sp>
          <p:nvSpPr>
            <p:cNvPr id="1214" name="Google Shape;1214;p47"/>
            <p:cNvSpPr/>
            <p:nvPr/>
          </p:nvSpPr>
          <p:spPr>
            <a:xfrm>
              <a:off x="1463894" y="2119623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7"/>
            <p:cNvSpPr/>
            <p:nvPr/>
          </p:nvSpPr>
          <p:spPr>
            <a:xfrm rot="10800000">
              <a:off x="1636072" y="143455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6" name="Google Shape;1216;p47"/>
          <p:cNvGrpSpPr/>
          <p:nvPr/>
        </p:nvGrpSpPr>
        <p:grpSpPr>
          <a:xfrm rot="5400000" flipH="1">
            <a:off x="5492724" y="3041117"/>
            <a:ext cx="4486819" cy="625122"/>
            <a:chOff x="-78438" y="4073905"/>
            <a:chExt cx="4486819" cy="625122"/>
          </a:xfrm>
        </p:grpSpPr>
        <p:cxnSp>
          <p:nvCxnSpPr>
            <p:cNvPr id="1217" name="Google Shape;1217;p47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8" name="Google Shape;1218;p47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19" name="Google Shape;1219;p47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0" name="Google Shape;1220;p47"/>
          <p:cNvSpPr/>
          <p:nvPr/>
        </p:nvSpPr>
        <p:spPr>
          <a:xfrm>
            <a:off x="7136111" y="3226273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1" name="Google Shape;1221;p47"/>
          <p:cNvGrpSpPr/>
          <p:nvPr/>
        </p:nvGrpSpPr>
        <p:grpSpPr>
          <a:xfrm>
            <a:off x="7423575" y="1976550"/>
            <a:ext cx="3859204" cy="615399"/>
            <a:chOff x="-6675" y="307100"/>
            <a:chExt cx="9140700" cy="4634025"/>
          </a:xfrm>
        </p:grpSpPr>
        <p:cxnSp>
          <p:nvCxnSpPr>
            <p:cNvPr id="1222" name="Google Shape;1222;p47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3" name="Google Shape;1223;p47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4" name="Google Shape;1224;p47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5" name="Google Shape;1225;p47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6" name="Google Shape;1226;p47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7" name="Google Shape;1227;p47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8" name="Google Shape;1228;p47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9" name="Google Shape;1229;p47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0" name="Google Shape;1230;p47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1" name="Google Shape;1231;p47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32" name="Google Shape;1232;p47"/>
          <p:cNvSpPr/>
          <p:nvPr/>
        </p:nvSpPr>
        <p:spPr>
          <a:xfrm>
            <a:off x="7145469" y="2096961"/>
            <a:ext cx="43116" cy="474994"/>
          </a:xfrm>
          <a:custGeom>
            <a:avLst/>
            <a:gdLst/>
            <a:ahLst/>
            <a:cxnLst/>
            <a:rect l="l" t="t" r="r" b="b"/>
            <a:pathLst>
              <a:path w="754" h="8307" fill="none" extrusionOk="0">
                <a:moveTo>
                  <a:pt x="391" y="8307"/>
                </a:moveTo>
                <a:lnTo>
                  <a:pt x="391" y="8307"/>
                </a:lnTo>
                <a:cubicBezTo>
                  <a:pt x="181" y="8307"/>
                  <a:pt x="0" y="8155"/>
                  <a:pt x="0" y="7944"/>
                </a:cubicBezTo>
                <a:lnTo>
                  <a:pt x="0" y="363"/>
                </a:lnTo>
                <a:cubicBezTo>
                  <a:pt x="0" y="182"/>
                  <a:pt x="181" y="1"/>
                  <a:pt x="391" y="1"/>
                </a:cubicBezTo>
                <a:lnTo>
                  <a:pt x="391" y="1"/>
                </a:lnTo>
                <a:cubicBezTo>
                  <a:pt x="573" y="1"/>
                  <a:pt x="754" y="182"/>
                  <a:pt x="754" y="363"/>
                </a:cubicBezTo>
                <a:lnTo>
                  <a:pt x="754" y="7944"/>
                </a:lnTo>
                <a:cubicBezTo>
                  <a:pt x="754" y="8155"/>
                  <a:pt x="573" y="8307"/>
                  <a:pt x="391" y="8307"/>
                </a:cubicBez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72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33" name="Google Shape;1233;p47"/>
          <p:cNvGrpSpPr/>
          <p:nvPr/>
        </p:nvGrpSpPr>
        <p:grpSpPr>
          <a:xfrm>
            <a:off x="2389175" y="-353800"/>
            <a:ext cx="5859225" cy="1631012"/>
            <a:chOff x="2389175" y="-353800"/>
            <a:chExt cx="5859225" cy="1631012"/>
          </a:xfrm>
        </p:grpSpPr>
        <p:sp>
          <p:nvSpPr>
            <p:cNvPr id="1234" name="Google Shape;1234;p47"/>
            <p:cNvSpPr/>
            <p:nvPr/>
          </p:nvSpPr>
          <p:spPr>
            <a:xfrm>
              <a:off x="2389175" y="-353800"/>
              <a:ext cx="5859225" cy="1137700"/>
            </a:xfrm>
            <a:custGeom>
              <a:avLst/>
              <a:gdLst/>
              <a:ahLst/>
              <a:cxnLst/>
              <a:rect l="l" t="t" r="r" b="b"/>
              <a:pathLst>
                <a:path w="234369" h="45508" extrusionOk="0">
                  <a:moveTo>
                    <a:pt x="0" y="1639"/>
                  </a:moveTo>
                  <a:lnTo>
                    <a:pt x="15636" y="28722"/>
                  </a:lnTo>
                  <a:lnTo>
                    <a:pt x="79093" y="28722"/>
                  </a:lnTo>
                  <a:lnTo>
                    <a:pt x="95879" y="45508"/>
                  </a:lnTo>
                  <a:lnTo>
                    <a:pt x="205255" y="45508"/>
                  </a:lnTo>
                  <a:lnTo>
                    <a:pt x="231529" y="0"/>
                  </a:lnTo>
                  <a:lnTo>
                    <a:pt x="234369" y="164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35" name="Google Shape;1235;p47"/>
            <p:cNvGrpSpPr/>
            <p:nvPr/>
          </p:nvGrpSpPr>
          <p:grpSpPr>
            <a:xfrm rot="-5400000">
              <a:off x="5834789" y="851896"/>
              <a:ext cx="493321" cy="357312"/>
              <a:chOff x="1722354" y="229144"/>
              <a:chExt cx="1748744" cy="1266614"/>
            </a:xfrm>
          </p:grpSpPr>
          <p:sp>
            <p:nvSpPr>
              <p:cNvPr id="1236" name="Google Shape;1236;p4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4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4923A1C-BBEF-045F-9829-389E4FF07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39" y="3268451"/>
            <a:ext cx="4893668" cy="9812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2C0A13AB7DD04C8D364666BFEA4906" ma:contentTypeVersion="3" ma:contentTypeDescription="Create a new document." ma:contentTypeScope="" ma:versionID="0ac1c33ae69105c4c851ce0f82d41314">
  <xsd:schema xmlns:xsd="http://www.w3.org/2001/XMLSchema" xmlns:xs="http://www.w3.org/2001/XMLSchema" xmlns:p="http://schemas.microsoft.com/office/2006/metadata/properties" xmlns:ns2="79a39e3a-691a-4105-bd90-0a5a21c79959" targetNamespace="http://schemas.microsoft.com/office/2006/metadata/properties" ma:root="true" ma:fieldsID="e3ff6d5c89c4e0f27982967cd07f43fe" ns2:_="">
    <xsd:import namespace="79a39e3a-691a-4105-bd90-0a5a21c799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a39e3a-691a-4105-bd90-0a5a21c799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EA8B8E8-EA70-41E3-B482-79E93BC5C816}">
  <ds:schemaRefs>
    <ds:schemaRef ds:uri="79a39e3a-691a-4105-bd90-0a5a21c7995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9285991-88E9-4867-AAD1-8B730EC0C0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4AF98C-64D1-4DD3-88F4-20115B4B8499}">
  <ds:schemaRefs>
    <ds:schemaRef ds:uri="79a39e3a-691a-4105-bd90-0a5a21c7995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30</Slides>
  <Notes>29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Technology Market Research Pitch Deck by Slidesgo</vt:lpstr>
      <vt:lpstr>Enhancing global explainability and reducing explanation latency in phishing email detection</vt:lpstr>
      <vt:lpstr>Team members</vt:lpstr>
      <vt:lpstr>Research Aim </vt:lpstr>
      <vt:lpstr>Significance or potential impact of the research</vt:lpstr>
      <vt:lpstr>Literature Review </vt:lpstr>
      <vt:lpstr>Literature Review </vt:lpstr>
      <vt:lpstr>PowerPoint Presentation</vt:lpstr>
      <vt:lpstr>Gaps for further research </vt:lpstr>
      <vt:lpstr>Literature review on Global Post-hoc XAI</vt:lpstr>
      <vt:lpstr>Hypothesis and Initital Proposed Method </vt:lpstr>
      <vt:lpstr>Feasibility of the hypothesis and method  </vt:lpstr>
      <vt:lpstr>Expected outcome </vt:lpstr>
      <vt:lpstr>How this research fill in the gaps </vt:lpstr>
      <vt:lpstr>2020-2026</vt:lpstr>
      <vt:lpstr>DATASET STRUCTURE</vt:lpstr>
      <vt:lpstr>DATA COLLECTION METHOD</vt:lpstr>
      <vt:lpstr>DATA SOURCES</vt:lpstr>
      <vt:lpstr>DATA FEATURES</vt:lpstr>
      <vt:lpstr>DATA FEATURES</vt:lpstr>
      <vt:lpstr>DATA FEATURES</vt:lpstr>
      <vt:lpstr>SOLUTION DESIGN &amp; IMPLEMENTATION</vt:lpstr>
      <vt:lpstr>Feasibility </vt:lpstr>
      <vt:lpstr>Feasibility </vt:lpstr>
      <vt:lpstr>Timeline &amp; Milestone</vt:lpstr>
      <vt:lpstr>Roles &amp; Responsibilities </vt:lpstr>
      <vt:lpstr>Budget &amp; Resources </vt:lpstr>
      <vt:lpstr>Risk Management Plan </vt:lpstr>
      <vt:lpstr>Communication Plan </vt:lpstr>
      <vt:lpstr>References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terms:modified xsi:type="dcterms:W3CDTF">2026-05-15T09:41:46Z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0x0101000C2C0A13AB7DD04C8D364666BFEA4906</vt:lpwstr>
  </property>
</Properties>
</file>